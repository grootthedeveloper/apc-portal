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f9759ac12d4408" /><Relationship Type="http://schemas.openxmlformats.org/officeDocument/2006/relationships/extended-properties" Target="/docProps/app.xml" Id="R4254bc6515b44a30" /><Relationship Type="http://schemas.openxmlformats.org/officeDocument/2006/relationships/officeDocument" Target="/ppt/presentation.xml" Id="R7ef88cb77901424e" /></Relationships>
</file>

<file path=ppt/presentation.xml><?xml version="1.0" encoding="utf-8"?>
<p:presentation xmlns:p="http://schemas.openxmlformats.org/presentationml/2006/main">
  <p:sldMasterIdLst>
    <p:sldMasterId xmlns:r="http://schemas.openxmlformats.org/officeDocument/2006/relationships" id="2147483648" r:id="Rab604b1391ae4445"/>
  </p:sldMasterIdLst>
  <p:notesMasterIdLst>
    <p:notesMasterId xmlns:r="http://schemas.openxmlformats.org/officeDocument/2006/relationships" r:id="Re64bb5a659da4565"/>
  </p:notesMasterIdLst>
  <p:sldIdLst>
    <p:sldId xmlns:r="http://schemas.openxmlformats.org/officeDocument/2006/relationships" id="256" r:id="R5e3aa2aa88d5440f"/>
    <p:sldId xmlns:r="http://schemas.openxmlformats.org/officeDocument/2006/relationships" id="257" r:id="R1407053bfb42454f"/>
    <p:sldId xmlns:r="http://schemas.openxmlformats.org/officeDocument/2006/relationships" id="258" r:id="R5ab8459b211d4460"/>
    <p:sldId xmlns:r="http://schemas.openxmlformats.org/officeDocument/2006/relationships" id="259" r:id="R493abbbf011c4d26"/>
    <p:sldId xmlns:r="http://schemas.openxmlformats.org/officeDocument/2006/relationships" id="260" r:id="Rf03062054dd241b1"/>
    <p:sldId xmlns:r="http://schemas.openxmlformats.org/officeDocument/2006/relationships" id="261" r:id="R4e077b8440e14e4f"/>
    <p:sldId xmlns:r="http://schemas.openxmlformats.org/officeDocument/2006/relationships" id="262" r:id="Rb2424bf0fcf84775"/>
    <p:sldId xmlns:r="http://schemas.openxmlformats.org/officeDocument/2006/relationships" id="263" r:id="R0f544820cfdd4e7d"/>
    <p:sldId xmlns:r="http://schemas.openxmlformats.org/officeDocument/2006/relationships" id="264" r:id="R1eedf901432a481d"/>
    <p:sldId xmlns:r="http://schemas.openxmlformats.org/officeDocument/2006/relationships" id="265" r:id="Rbf94e694158f46dc"/>
    <p:sldId xmlns:r="http://schemas.openxmlformats.org/officeDocument/2006/relationships" id="266" r:id="Rd2442d846c9649f7"/>
    <p:sldId xmlns:r="http://schemas.openxmlformats.org/officeDocument/2006/relationships" id="267" r:id="R13ad1f57f9824a49"/>
    <p:sldId xmlns:r="http://schemas.openxmlformats.org/officeDocument/2006/relationships" id="268" r:id="Rb05aa3ed6d0f4d85"/>
    <p:sldId xmlns:r="http://schemas.openxmlformats.org/officeDocument/2006/relationships" id="269" r:id="R650dde2385774d8b"/>
    <p:sldId xmlns:r="http://schemas.openxmlformats.org/officeDocument/2006/relationships" id="270" r:id="Ra2d46332ef3e4a52"/>
    <p:sldId xmlns:r="http://schemas.openxmlformats.org/officeDocument/2006/relationships" id="271" r:id="R1194afb2d58b4e0d"/>
    <p:sldId xmlns:r="http://schemas.openxmlformats.org/officeDocument/2006/relationships" id="272" r:id="R79df253270d24b18"/>
    <p:sldId xmlns:r="http://schemas.openxmlformats.org/officeDocument/2006/relationships" id="273" r:id="R42790a57ca384c54"/>
    <p:sldId xmlns:r="http://schemas.openxmlformats.org/officeDocument/2006/relationships" id="274" r:id="R5e8a0749ae9c4800"/>
    <p:sldId xmlns:r="http://schemas.openxmlformats.org/officeDocument/2006/relationships" id="275" r:id="R7c8ea82a73ca4372"/>
    <p:sldId xmlns:r="http://schemas.openxmlformats.org/officeDocument/2006/relationships" id="276" r:id="R644883612eb24358"/>
    <p:sldId xmlns:r="http://schemas.openxmlformats.org/officeDocument/2006/relationships" id="277" r:id="R1acdffe5986548d6"/>
    <p:sldId xmlns:r="http://schemas.openxmlformats.org/officeDocument/2006/relationships" id="278" r:id="R2abd7f118201428b"/>
    <p:sldId xmlns:r="http://schemas.openxmlformats.org/officeDocument/2006/relationships" id="279" r:id="R866bbe110533481b"/>
    <p:sldId xmlns:r="http://schemas.openxmlformats.org/officeDocument/2006/relationships" id="280" r:id="Rbe121cf482424707"/>
    <p:sldId xmlns:r="http://schemas.openxmlformats.org/officeDocument/2006/relationships" id="281" r:id="R7bce78e1b8424b60"/>
    <p:sldId xmlns:r="http://schemas.openxmlformats.org/officeDocument/2006/relationships" id="282" r:id="R448f7c5c4c5b4659"/>
    <p:sldId xmlns:r="http://schemas.openxmlformats.org/officeDocument/2006/relationships" id="283" r:id="R5cf748b3b57242f2"/>
    <p:sldId xmlns:r="http://schemas.openxmlformats.org/officeDocument/2006/relationships" id="284" r:id="R50453126f8a14c47"/>
    <p:sldId xmlns:r="http://schemas.openxmlformats.org/officeDocument/2006/relationships" id="285" r:id="R776c665db7464ff4"/>
    <p:sldId xmlns:r="http://schemas.openxmlformats.org/officeDocument/2006/relationships" id="286" r:id="Ra1e5d6e9c383494d"/>
    <p:sldId xmlns:r="http://schemas.openxmlformats.org/officeDocument/2006/relationships" id="287" r:id="R0bcf199e985d4137"/>
    <p:sldId xmlns:r="http://schemas.openxmlformats.org/officeDocument/2006/relationships" id="288" r:id="R8b4502c94d8a4e92"/>
    <p:sldId xmlns:r="http://schemas.openxmlformats.org/officeDocument/2006/relationships" id="289" r:id="R2bd7408de1d84059"/>
    <p:sldId xmlns:r="http://schemas.openxmlformats.org/officeDocument/2006/relationships" id="290" r:id="Rf8055f8e0bfe469d"/>
    <p:sldId xmlns:r="http://schemas.openxmlformats.org/officeDocument/2006/relationships" id="291" r:id="R07e043f0f7d842d4"/>
    <p:sldId xmlns:r="http://schemas.openxmlformats.org/officeDocument/2006/relationships" id="292" r:id="Rb07213cf559d40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f5f32f39e94907" /><Relationship Type="http://schemas.openxmlformats.org/officeDocument/2006/relationships/slideMaster" Target="/ppt/slideMasters/slideMaster1.xml" Id="Rab604b1391ae4445" /><Relationship Type="http://schemas.openxmlformats.org/officeDocument/2006/relationships/notesMaster" Target="/ppt/notesMasters/notesMaster1.xml" Id="Re64bb5a659da4565" /><Relationship Type="http://schemas.openxmlformats.org/officeDocument/2006/relationships/presProps" Target="/ppt/presProps.xml" Id="Rddf0d939980d4c0d" /><Relationship Type="http://schemas.openxmlformats.org/officeDocument/2006/relationships/tableStyles" Target="/ppt/tableStyles.xml" Id="R8fd9f7e20a8543d8" /><Relationship Type="http://schemas.openxmlformats.org/officeDocument/2006/relationships/slide" Target="/ppt/slides/slide1.xml" Id="R5e3aa2aa88d5440f" /><Relationship Type="http://schemas.openxmlformats.org/officeDocument/2006/relationships/slide" Target="/ppt/slides/slide2.xml" Id="R1407053bfb42454f" /><Relationship Type="http://schemas.openxmlformats.org/officeDocument/2006/relationships/slide" Target="/ppt/slides/slide3.xml" Id="R5ab8459b211d4460" /><Relationship Type="http://schemas.openxmlformats.org/officeDocument/2006/relationships/slide" Target="/ppt/slides/slide4.xml" Id="R493abbbf011c4d26" /><Relationship Type="http://schemas.openxmlformats.org/officeDocument/2006/relationships/slide" Target="/ppt/slides/slide5.xml" Id="Rf03062054dd241b1" /><Relationship Type="http://schemas.openxmlformats.org/officeDocument/2006/relationships/slide" Target="/ppt/slides/slide6.xml" Id="R4e077b8440e14e4f" /><Relationship Type="http://schemas.openxmlformats.org/officeDocument/2006/relationships/slide" Target="/ppt/slides/slide7.xml" Id="Rb2424bf0fcf84775" /><Relationship Type="http://schemas.openxmlformats.org/officeDocument/2006/relationships/slide" Target="/ppt/slides/slide8.xml" Id="R0f544820cfdd4e7d" /><Relationship Type="http://schemas.openxmlformats.org/officeDocument/2006/relationships/slide" Target="/ppt/slides/slide9.xml" Id="R1eedf901432a481d" /><Relationship Type="http://schemas.openxmlformats.org/officeDocument/2006/relationships/slide" Target="/ppt/slides/slide10.xml" Id="Rbf94e694158f46dc" /><Relationship Type="http://schemas.openxmlformats.org/officeDocument/2006/relationships/slide" Target="/ppt/slides/slide11.xml" Id="Rd2442d846c9649f7" /><Relationship Type="http://schemas.openxmlformats.org/officeDocument/2006/relationships/slide" Target="/ppt/slides/slide12.xml" Id="R13ad1f57f9824a49" /><Relationship Type="http://schemas.openxmlformats.org/officeDocument/2006/relationships/slide" Target="/ppt/slides/slide13.xml" Id="Rb05aa3ed6d0f4d85" /><Relationship Type="http://schemas.openxmlformats.org/officeDocument/2006/relationships/slide" Target="/ppt/slides/slide14.xml" Id="R650dde2385774d8b" /><Relationship Type="http://schemas.openxmlformats.org/officeDocument/2006/relationships/slide" Target="/ppt/slides/slide15.xml" Id="Ra2d46332ef3e4a52" /><Relationship Type="http://schemas.openxmlformats.org/officeDocument/2006/relationships/slide" Target="/ppt/slides/slide16.xml" Id="R1194afb2d58b4e0d" /><Relationship Type="http://schemas.openxmlformats.org/officeDocument/2006/relationships/slide" Target="/ppt/slides/slide17.xml" Id="R79df253270d24b18" /><Relationship Type="http://schemas.openxmlformats.org/officeDocument/2006/relationships/slide" Target="/ppt/slides/slide18.xml" Id="R42790a57ca384c54" /><Relationship Type="http://schemas.openxmlformats.org/officeDocument/2006/relationships/slide" Target="/ppt/slides/slide19.xml" Id="R5e8a0749ae9c4800" /><Relationship Type="http://schemas.openxmlformats.org/officeDocument/2006/relationships/slide" Target="/ppt/slides/slide20.xml" Id="R7c8ea82a73ca4372" /><Relationship Type="http://schemas.openxmlformats.org/officeDocument/2006/relationships/slide" Target="/ppt/slides/slide21.xml" Id="R644883612eb24358" /><Relationship Type="http://schemas.openxmlformats.org/officeDocument/2006/relationships/slide" Target="/ppt/slides/slide22.xml" Id="R1acdffe5986548d6" /><Relationship Type="http://schemas.openxmlformats.org/officeDocument/2006/relationships/slide" Target="/ppt/slides/slide23.xml" Id="R2abd7f118201428b" /><Relationship Type="http://schemas.openxmlformats.org/officeDocument/2006/relationships/slide" Target="/ppt/slides/slide24.xml" Id="R866bbe110533481b" /><Relationship Type="http://schemas.openxmlformats.org/officeDocument/2006/relationships/slide" Target="/ppt/slides/slide25.xml" Id="Rbe121cf482424707" /><Relationship Type="http://schemas.openxmlformats.org/officeDocument/2006/relationships/slide" Target="/ppt/slides/slide26.xml" Id="R7bce78e1b8424b60" /><Relationship Type="http://schemas.openxmlformats.org/officeDocument/2006/relationships/slide" Target="/ppt/slides/slide27.xml" Id="R448f7c5c4c5b4659" /><Relationship Type="http://schemas.openxmlformats.org/officeDocument/2006/relationships/slide" Target="/ppt/slides/slide28.xml" Id="R5cf748b3b57242f2" /><Relationship Type="http://schemas.openxmlformats.org/officeDocument/2006/relationships/slide" Target="/ppt/slides/slide29.xml" Id="R50453126f8a14c47" /><Relationship Type="http://schemas.openxmlformats.org/officeDocument/2006/relationships/slide" Target="/ppt/slides/slide30.xml" Id="R776c665db7464ff4" /><Relationship Type="http://schemas.openxmlformats.org/officeDocument/2006/relationships/slide" Target="/ppt/slides/slide31.xml" Id="Ra1e5d6e9c383494d" /><Relationship Type="http://schemas.openxmlformats.org/officeDocument/2006/relationships/slide" Target="/ppt/slides/slide32.xml" Id="R0bcf199e985d4137" /><Relationship Type="http://schemas.openxmlformats.org/officeDocument/2006/relationships/slide" Target="/ppt/slides/slide33.xml" Id="R8b4502c94d8a4e92" /><Relationship Type="http://schemas.openxmlformats.org/officeDocument/2006/relationships/slide" Target="/ppt/slides/slide34.xml" Id="R2bd7408de1d84059" /><Relationship Type="http://schemas.openxmlformats.org/officeDocument/2006/relationships/slide" Target="/ppt/slides/slide35.xml" Id="Rf8055f8e0bfe469d" /><Relationship Type="http://schemas.openxmlformats.org/officeDocument/2006/relationships/slide" Target="/ppt/slides/slide36.xml" Id="R07e043f0f7d842d4" /><Relationship Type="http://schemas.openxmlformats.org/officeDocument/2006/relationships/slide" Target="/ppt/slides/slide37.xml" Id="Rb07213cf559d40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35376deb574f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6b8bb1aef488b" /><Relationship Type="http://schemas.openxmlformats.org/officeDocument/2006/relationships/notesMaster" Target="/ppt/notesMasters/notesMaster1.xml" Id="Rfe81e4919e0e4b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cb1a0761d74ba5" /><Relationship Type="http://schemas.openxmlformats.org/officeDocument/2006/relationships/notesMaster" Target="/ppt/notesMasters/notesMaster1.xml" Id="R118d3088b1b744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5c9bd68d1a48ac" /><Relationship Type="http://schemas.openxmlformats.org/officeDocument/2006/relationships/notesMaster" Target="/ppt/notesMasters/notesMaster1.xml" Id="Ra03d3d956ef648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4f7f1115aa4818" /><Relationship Type="http://schemas.openxmlformats.org/officeDocument/2006/relationships/notesMaster" Target="/ppt/notesMasters/notesMaster1.xml" Id="R5bce001bf85b4d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1ed95f1b24413d" /><Relationship Type="http://schemas.openxmlformats.org/officeDocument/2006/relationships/notesMaster" Target="/ppt/notesMasters/notesMaster1.xml" Id="Rf6548b27687843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6952c7b55d44a5" /><Relationship Type="http://schemas.openxmlformats.org/officeDocument/2006/relationships/notesMaster" Target="/ppt/notesMasters/notesMaster1.xml" Id="Ref69225c13bc4b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ccec18e0fb4565" /><Relationship Type="http://schemas.openxmlformats.org/officeDocument/2006/relationships/notesMaster" Target="/ppt/notesMasters/notesMaster1.xml" Id="R8dd0ed6dcf73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eb8d9c314a495e" /><Relationship Type="http://schemas.openxmlformats.org/officeDocument/2006/relationships/notesMaster" Target="/ppt/notesMasters/notesMaster1.xml" Id="R425e63a5086147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8221c588704047" /><Relationship Type="http://schemas.openxmlformats.org/officeDocument/2006/relationships/notesMaster" Target="/ppt/notesMasters/notesMaster1.xml" Id="Rf361823b3d6d4f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eb25e3f01b408a" /><Relationship Type="http://schemas.openxmlformats.org/officeDocument/2006/relationships/notesMaster" Target="/ppt/notesMasters/notesMaster1.xml" Id="R97ec1859702e4a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3a0dc04710415c" /><Relationship Type="http://schemas.openxmlformats.org/officeDocument/2006/relationships/notesMaster" Target="/ppt/notesMasters/notesMaster1.xml" Id="Rae0919b9952f4d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7dbd47dcdc46e8" /><Relationship Type="http://schemas.openxmlformats.org/officeDocument/2006/relationships/notesMaster" Target="/ppt/notesMasters/notesMaster1.xml" Id="R06bdce48bc2944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9c2a10cd0747c8" /><Relationship Type="http://schemas.openxmlformats.org/officeDocument/2006/relationships/notesMaster" Target="/ppt/notesMasters/notesMaster1.xml" Id="R03f1e106d30647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11364b61844933" /><Relationship Type="http://schemas.openxmlformats.org/officeDocument/2006/relationships/notesMaster" Target="/ppt/notesMasters/notesMaster1.xml" Id="R715a308c2df949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4536c4bdb64bf8" /><Relationship Type="http://schemas.openxmlformats.org/officeDocument/2006/relationships/notesMaster" Target="/ppt/notesMasters/notesMaster1.xml" Id="R8075b2930cce4b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ab40cc00154378" /><Relationship Type="http://schemas.openxmlformats.org/officeDocument/2006/relationships/notesMaster" Target="/ppt/notesMasters/notesMaster1.xml" Id="R6bbac371e4b442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c6477513774e43" /><Relationship Type="http://schemas.openxmlformats.org/officeDocument/2006/relationships/notesMaster" Target="/ppt/notesMasters/notesMaster1.xml" Id="R792528145e8d4f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af56e7b2bd472c" /><Relationship Type="http://schemas.openxmlformats.org/officeDocument/2006/relationships/notesMaster" Target="/ppt/notesMasters/notesMaster1.xml" Id="Ra3766dd29fcc40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fc1b18a315459d" /><Relationship Type="http://schemas.openxmlformats.org/officeDocument/2006/relationships/notesMaster" Target="/ppt/notesMasters/notesMaster1.xml" Id="Rc9fd1187358b4c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3d68bbb74a432c" /><Relationship Type="http://schemas.openxmlformats.org/officeDocument/2006/relationships/notesMaster" Target="/ppt/notesMasters/notesMaster1.xml" Id="R768b003d783a4c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e7e1d0748d4611" /><Relationship Type="http://schemas.openxmlformats.org/officeDocument/2006/relationships/notesMaster" Target="/ppt/notesMasters/notesMaster1.xml" Id="Rc74c42ebd91746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ff6acc0ef44eeb" /><Relationship Type="http://schemas.openxmlformats.org/officeDocument/2006/relationships/notesMaster" Target="/ppt/notesMasters/notesMaster1.xml" Id="R2146ded9ae3047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51770bf54e432e" /><Relationship Type="http://schemas.openxmlformats.org/officeDocument/2006/relationships/notesMaster" Target="/ppt/notesMasters/notesMaster1.xml" Id="Re89520c7d593479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08786a9c3014eb9" /><Relationship Type="http://schemas.openxmlformats.org/officeDocument/2006/relationships/notesMaster" Target="/ppt/notesMasters/notesMaster1.xml" Id="R66cb04a400c346f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5b1a6f43f842ca" /><Relationship Type="http://schemas.openxmlformats.org/officeDocument/2006/relationships/notesMaster" Target="/ppt/notesMasters/notesMaster1.xml" Id="R5908d1d0567944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d034a0b82742b7" /><Relationship Type="http://schemas.openxmlformats.org/officeDocument/2006/relationships/notesMaster" Target="/ppt/notesMasters/notesMaster1.xml" Id="R59271791f72546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105fa02bd54a99" /><Relationship Type="http://schemas.openxmlformats.org/officeDocument/2006/relationships/notesMaster" Target="/ppt/notesMasters/notesMaster1.xml" Id="Re1933fd8eb9243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362b02869b46f3" /><Relationship Type="http://schemas.openxmlformats.org/officeDocument/2006/relationships/notesMaster" Target="/ppt/notesMasters/notesMaster1.xml" Id="R47badd85f8b344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c12bacc534e4aa7" /><Relationship Type="http://schemas.openxmlformats.org/officeDocument/2006/relationships/notesMaster" Target="/ppt/notesMasters/notesMaster1.xml" Id="R1fb60684ce4c4d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d4608d6233f4f72" /><Relationship Type="http://schemas.openxmlformats.org/officeDocument/2006/relationships/notesMaster" Target="/ppt/notesMasters/notesMaster1.xml" Id="R9022a636739b4c9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ef9bb78ebc403b" /><Relationship Type="http://schemas.openxmlformats.org/officeDocument/2006/relationships/notesMaster" Target="/ppt/notesMasters/notesMaster1.xml" Id="R7b50a30c3bfc4cb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3cf166709b747d7" /><Relationship Type="http://schemas.openxmlformats.org/officeDocument/2006/relationships/notesMaster" Target="/ppt/notesMasters/notesMaster1.xml" Id="R86be949d21cb4b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a8e9df4fec4e16" /><Relationship Type="http://schemas.openxmlformats.org/officeDocument/2006/relationships/notesMaster" Target="/ppt/notesMasters/notesMaster1.xml" Id="Rcef8724597d349d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f06ba25ea564937" /><Relationship Type="http://schemas.openxmlformats.org/officeDocument/2006/relationships/notesMaster" Target="/ppt/notesMasters/notesMaster1.xml" Id="Rdf2dc350dd7b4e4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60f4c9430404a63" /><Relationship Type="http://schemas.openxmlformats.org/officeDocument/2006/relationships/notesMaster" Target="/ppt/notesMasters/notesMaster1.xml" Id="R7c057fe7b027410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2924bd2ddd44c8c" /><Relationship Type="http://schemas.openxmlformats.org/officeDocument/2006/relationships/notesMaster" Target="/ppt/notesMasters/notesMaster1.xml" Id="R2ea466301b414a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e6aa852c6fd456d" /><Relationship Type="http://schemas.openxmlformats.org/officeDocument/2006/relationships/notesMaster" Target="/ppt/notesMasters/notesMaster1.xml" Id="R5cbfc571979041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ngắn: hôm nay chúng ta không học toàn bộ kỹ thuật. Mục tiêu là để mỗi người hiểu sản phẩm, phần mình sở hữu và cách phối hợp với người tiếp theo.</a:t>
            </a:r>
          </a:p>
          <a:p xmlns:a="http://schemas.openxmlformats.org/drawingml/2006/main">
            <a:r>
              <a:t/>
            </a:r>
          </a:p>
          <a:p xmlns:a="http://schemas.openxmlformats.org/drawingml/2006/main">
            <a:r>
              <a:t>[Sources]</a:t>
            </a:r>
          </a:p>
          <a:p xmlns:a="http://schemas.openxmlformats.org/drawingml/2006/main">
            <a:r>
              <a:t>- imgs/hero-isometric-concept.png</a:t>
            </a:r>
          </a:p>
          <a:p xmlns:a="http://schemas.openxmlformats.org/drawingml/2006/main">
            <a:r>
              <a:t>- apps/web/public/assets/home/00-apc-logo.png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kỳ vọng của buổi kickoff. Nếu cuối buổi ai vẫn chưa biết mình làm gì hoặc phải hỏi ai, deck chưa hoàn thành nhiệm vụ.</a:t>
            </a:r>
          </a:p>
          <a:p xmlns:a="http://schemas.openxmlformats.org/drawingml/2006/main">
            <a:r>
              <a:t/>
            </a:r>
          </a:p>
          <a:p xmlns:a="http://schemas.openxmlformats.org/drawingml/2006/main">
            <a:r>
              <a:t>[Sources]</a:t>
            </a:r>
          </a:p>
          <a:p xmlns:a="http://schemas.openxmlformats.org/drawingml/2006/main">
            <a:r>
              <a:t>- Nội dung do nhóm dự án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Portal không thay thế fanpage hay email. Những kênh đó vẫn dùng để phân phối thông tin, nhưng sẽ dẫn người dùng về một nguồn dữ liệu chính thức.</a:t>
            </a:r>
          </a:p>
          <a:p xmlns:a="http://schemas.openxmlformats.org/drawingml/2006/main">
            <a:r>
              <a:t/>
            </a:r>
          </a:p>
          <a:p xmlns:a="http://schemas.openxmlformats.org/drawingml/2006/main">
            <a:r>
              <a:t>[Sources]</a:t>
            </a:r>
          </a:p>
          <a:p xmlns:a="http://schemas.openxmlformats.org/drawingml/2006/main">
            <a:r>
              <a:t>- docs/00-project-charter.md — Bối cảnh và tuyên bố vấn đề</a:t>
            </a:r>
          </a:p>
          <a:p xmlns:a="http://schemas.openxmlformats.org/drawingml/2006/main">
            <a:r>
              <a:t>- apps/web/public/assets/home/02-apc-students-working.png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đây là ba khu vực của cùng một sản phẩm, không phải ba dự án độc lập. Giai đoạn hiện tại chưa làm hết mọi chức năng của khu vực thành viên.</a:t>
            </a:r>
          </a:p>
          <a:p xmlns:a="http://schemas.openxmlformats.org/drawingml/2006/main">
            <a:r>
              <a:t/>
            </a:r>
          </a:p>
          <a:p xmlns:a="http://schemas.openxmlformats.org/drawingml/2006/main">
            <a:r>
              <a:t>[Sources]</a:t>
            </a:r>
          </a:p>
          <a:p xmlns:a="http://schemas.openxmlformats.org/drawingml/2006/main">
            <a:r>
              <a:t>- docs/01-prd.md — Tổng quan sản phẩm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PRD là tầm nhìn sản phẩm, còn Excel là phạm vi thực thi hiện tại. Không được hiểu rằng nhóm phải hoàn thành toàn bộ 29 user flow trước 15/10.</a:t>
            </a:r>
          </a:p>
          <a:p xmlns:a="http://schemas.openxmlformats.org/drawingml/2006/main">
            <a:r>
              <a:t/>
            </a:r>
          </a:p>
          <a:p xmlns:a="http://schemas.openxmlformats.org/drawingml/2006/main">
            <a:r>
              <a:t>[Sources]</a:t>
            </a:r>
          </a:p>
          <a:p xmlns:a="http://schemas.openxmlformats.org/drawingml/2006/main">
            <a:r>
              <a:t>- docs/01-prd.md</a:t>
            </a:r>
          </a:p>
          <a:p xmlns:a="http://schemas.openxmlformats.org/drawingml/2006/main">
            <a:r>
              <a:t>- docs/05-feature-catalog.md</a:t>
            </a:r>
          </a:p>
          <a:p xmlns:a="http://schemas.openxmlformats.org/drawingml/2006/main">
            <a:r>
              <a:t>- APC-Portal-Ke-hoach-cong-viec.xlsx — Bảng nhiệm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 cả đội cảm giác dự án đã có nền. Trang chủ và môi trường local đã sẵn; phần việc còn lại là biến giao diện tĩnh thành sản phẩm có dữ liệu và nghiệp vụ.</a:t>
            </a:r>
          </a:p>
          <a:p xmlns:a="http://schemas.openxmlformats.org/drawingml/2006/main">
            <a:r>
              <a:t/>
            </a:r>
          </a:p>
          <a:p xmlns:a="http://schemas.openxmlformats.org/drawingml/2006/main">
            <a:r>
              <a:t>[Sources]</a:t>
            </a:r>
          </a:p>
          <a:p xmlns:a="http://schemas.openxmlformats.org/drawingml/2006/main">
            <a:r>
              <a:t>- README.md — Trạng thái hiện tại</a:t>
            </a:r>
          </a:p>
          <a:p xmlns:a="http://schemas.openxmlformats.org/drawingml/2006/main">
            <a:r>
              <a:t>- design-reference/homepage/preview-full.png</a:t>
            </a:r>
          </a:p>
          <a:p xmlns:a="http://schemas.openxmlformats.org/drawingml/2006/main">
            <a:r>
              <a:t>- docs/06-architecture.md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nhanh vị trí code. Thành viên Frontend làm chủ yếu trong apps/web, Backend trong apps/api; trước khi làm nghiệp vụ phải đọc tài liệu liên quan trong docs.</a:t>
            </a:r>
          </a:p>
          <a:p xmlns:a="http://schemas.openxmlformats.org/drawingml/2006/main">
            <a:r>
              <a:t/>
            </a:r>
          </a:p>
          <a:p xmlns:a="http://schemas.openxmlformats.org/drawingml/2006/main">
            <a:r>
              <a:t>[Sources]</a:t>
            </a:r>
          </a:p>
          <a:p xmlns:a="http://schemas.openxmlformats.org/drawingml/2006/main">
            <a:r>
              <a:t>- docs/06-architecture.md — Ranh giới mã nguồn</a:t>
            </a:r>
          </a:p>
          <a:p xmlns:a="http://schemas.openxmlformats.org/drawingml/2006/main">
            <a:r>
              <a:t>- pnpm-workspace.yaml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từ danh sách chức năng sang kết quả người dùng. Đây là cách để mọi thành viên hiểu vì sao phần việc của mình tồn tại.</a:t>
            </a:r>
          </a:p>
          <a:p xmlns:a="http://schemas.openxmlformats.org/drawingml/2006/main">
            <a:r>
              <a:t/>
            </a:r>
          </a:p>
          <a:p xmlns:a="http://schemas.openxmlformats.org/drawingml/2006/main">
            <a:r>
              <a:t>[Sources]</a:t>
            </a:r>
          </a:p>
          <a:p xmlns:a="http://schemas.openxmlformats.org/drawingml/2006/main">
            <a:r>
              <a:t>- APC-Portal-Ke-hoach-cong-viec.xlsx — Bảng nhiệm vụ</a:t>
            </a:r>
          </a:p>
          <a:p xmlns:a="http://schemas.openxmlformats.org/drawingml/2006/main">
            <a:r>
              <a:t>- docs/08-handover.md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slide này làm điểm nghỉ. Phần tiếp theo không cố dạy công nghệ từ đầu, mà giải thích mỗi công nghệ nằm ở đâu trong luồng sản phẩm.</a:t>
            </a:r>
          </a:p>
          <a:p xmlns:a="http://schemas.openxmlformats.org/drawingml/2006/main">
            <a:r>
              <a:t/>
            </a:r>
          </a:p>
          <a:p xmlns:a="http://schemas.openxmlformats.org/drawingml/2006/main">
            <a:r>
              <a:t>[Sources]</a:t>
            </a:r>
          </a:p>
          <a:p xmlns:a="http://schemas.openxmlformats.org/drawingml/2006/main">
            <a:r>
              <a:t>- outputs/apc-portal-kickoff/assets/apc-portal-tech-illustration.png — generated with built-in image_gen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từ trái sang phải. Frontend nhận thao tác, Backend kiểm tra quy tắc, Database lưu dữ liệu. File và email là hai nhánh hỗ trợ.</a:t>
            </a:r>
          </a:p>
          <a:p xmlns:a="http://schemas.openxmlformats.org/drawingml/2006/main">
            <a:r>
              <a:t/>
            </a:r>
          </a:p>
          <a:p xmlns:a="http://schemas.openxmlformats.org/drawingml/2006/main">
            <a:r>
              <a:t>[Sources]</a:t>
            </a:r>
          </a:p>
          <a:p xmlns:a="http://schemas.openxmlformats.org/drawingml/2006/main">
            <a:r>
              <a:t>- docs/06-architecture.md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danh sách theo package.json và compose hiện tại. Phân biệt rõ công nghệ đã cài với công nghệ nằm trong kế hoạch Sprint 1.</a:t>
            </a:r>
          </a:p>
          <a:p xmlns:a="http://schemas.openxmlformats.org/drawingml/2006/main">
            <a:r>
              <a:t/>
            </a:r>
          </a:p>
          <a:p xmlns:a="http://schemas.openxmlformats.org/drawingml/2006/main">
            <a:r>
              <a:t>[Sources]</a:t>
            </a:r>
          </a:p>
          <a:p xmlns:a="http://schemas.openxmlformats.org/drawingml/2006/main">
            <a:r>
              <a:t>- package.json</a:t>
            </a:r>
          </a:p>
          <a:p xmlns:a="http://schemas.openxmlformats.org/drawingml/2006/main">
            <a:r>
              <a:t>- apps/web/package.json</a:t>
            </a:r>
          </a:p>
          <a:p xmlns:a="http://schemas.openxmlformats.org/drawingml/2006/main">
            <a:r>
              <a:t>- apps/api/package.json</a:t>
            </a:r>
          </a:p>
          <a:p xmlns:a="http://schemas.openxmlformats.org/drawingml/2006/main">
            <a:r>
              <a:t>-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cần giải thích JSX sâu. Chỉ chỉ ra rằng trang lớn được ghép từ phần nhỏ, nhờ vậy FE-2 hay FE-3 có thể sở hữu một nhóm màn hình.</a:t>
            </a:r>
          </a:p>
          <a:p xmlns:a="http://schemas.openxmlformats.org/drawingml/2006/main">
            <a:r>
              <a:t/>
            </a:r>
          </a:p>
          <a:p xmlns:a="http://schemas.openxmlformats.org/drawingml/2006/main">
            <a:r>
              <a:t>[Sources]</a:t>
            </a:r>
          </a:p>
          <a:p xmlns:a="http://schemas.openxmlformats.org/drawingml/2006/main">
            <a:r>
              <a:t>- apps/web/src/pages/home/HomePage.tsx</a:t>
            </a:r>
          </a:p>
          <a:p xmlns:a="http://schemas.openxmlformats.org/drawingml/2006/main">
            <a:r>
              <a:t>- apps/web/package.json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route để giải thích dependency Frontend. FE-2 và FE-3 có thể chuẩn bị UI, nhưng router/layout chung do FE-1 mở đường.</a:t>
            </a:r>
          </a:p>
          <a:p xmlns:a="http://schemas.openxmlformats.org/drawingml/2006/main">
            <a:r>
              <a:t/>
            </a:r>
          </a:p>
          <a:p xmlns:a="http://schemas.openxmlformats.org/drawingml/2006/main">
            <a:r>
              <a:t>[Sources]</a:t>
            </a:r>
          </a:p>
          <a:p xmlns:a="http://schemas.openxmlformats.org/drawingml/2006/main">
            <a:r>
              <a:t>- APC-Portal-Ke-hoach-cong-viec.xlsx — FE1 đến FE7</a:t>
            </a:r>
          </a:p>
          <a:p xmlns:a="http://schemas.openxmlformats.org/drawingml/2006/main">
            <a:r>
              <a:t>- docs/04-sitemap.md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endpoint health đang có làm ví dụ. Sau này news, events hay applications cũng là các endpoint với dữ liệu và quyền phức tạp hơn.</a:t>
            </a:r>
          </a:p>
          <a:p xmlns:a="http://schemas.openxmlformats.org/drawingml/2006/main">
            <a:r>
              <a:t/>
            </a:r>
          </a:p>
          <a:p xmlns:a="http://schemas.openxmlformats.org/drawingml/2006/main">
            <a:r>
              <a:t>[Sources]</a:t>
            </a:r>
          </a:p>
          <a:p xmlns:a="http://schemas.openxmlformats.org/drawingml/2006/main">
            <a:r>
              <a:t>- apps/api/src/app.ts</a:t>
            </a:r>
          </a:p>
          <a:p xmlns:a="http://schemas.openxmlformats.org/drawingml/2006/main">
            <a:r>
              <a:t>- apps/api/package.json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schema mức khái niệm trong kế hoạch Sprint 1, chưa phải ERD cuối. BE-1 phải chốt ORM, quan hệ và migration rồi chia sẻ ERD ngắn cho nhóm.</a:t>
            </a:r>
          </a:p>
          <a:p xmlns:a="http://schemas.openxmlformats.org/drawingml/2006/main">
            <a:r>
              <a:t/>
            </a:r>
          </a:p>
          <a:p xmlns:a="http://schemas.openxmlformats.org/drawingml/2006/main">
            <a:r>
              <a:t>[Sources]</a:t>
            </a:r>
          </a:p>
          <a:p xmlns:a="http://schemas.openxmlformats.org/drawingml/2006/main">
            <a:r>
              <a:t>- APC-Portal-Ke-hoach-cong-viec.xlsx — BE1</a:t>
            </a:r>
          </a:p>
          <a:p xmlns:a="http://schemas.openxmlformats.org/drawingml/2006/main">
            <a:r>
              <a:t>- docs/01-prd.md — Mô hình dữ liệu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Liên hệ Zod với form và API: dữ liệu phải được kiểm tra ở ranh giới. Frontend kiểm tra để hỗ trợ người dùng; Backend kiểm tra để bảo vệ hệ thống.</a:t>
            </a:r>
          </a:p>
          <a:p xmlns:a="http://schemas.openxmlformats.org/drawingml/2006/main">
            <a:r>
              <a:t/>
            </a:r>
          </a:p>
          <a:p xmlns:a="http://schemas.openxmlformats.org/drawingml/2006/main">
            <a:r>
              <a:t>[Sources]</a:t>
            </a:r>
          </a:p>
          <a:p xmlns:a="http://schemas.openxmlformats.org/drawingml/2006/main">
            <a:r>
              <a:t>- apps/api/src/config.ts</a:t>
            </a:r>
          </a:p>
          <a:p xmlns:a="http://schemas.openxmlformats.org/drawingml/2006/main">
            <a:r>
              <a:t>- apps/api/package.json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rõ auth và RBAC để FE-1, FE-4 và BE-2 dùng chung khái niệm. FE có route guard để điều hướng; API vẫn là nơi quyết định cuối cùng.</a:t>
            </a:r>
          </a:p>
          <a:p xmlns:a="http://schemas.openxmlformats.org/drawingml/2006/main">
            <a:r>
              <a:t/>
            </a:r>
          </a:p>
          <a:p xmlns:a="http://schemas.openxmlformats.org/drawingml/2006/main">
            <a:r>
              <a:t>[Sources]</a:t>
            </a:r>
          </a:p>
          <a:p xmlns:a="http://schemas.openxmlformats.org/drawingml/2006/main">
            <a:r>
              <a:t>- APC-Portal-Ke-hoach-cong-viec.xlsx — BE3, BE4, FE2</a:t>
            </a:r>
          </a:p>
          <a:p xmlns:a="http://schemas.openxmlformats.org/drawingml/2006/main">
            <a:r>
              <a:t>- docs/02-roles-permissions.md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loại dữ liệu. PostgreSQL giữ dữ liệu có quan hệ, MinIO giữ file lớn, Mailpit chỉ là hộp thư thử nghiệm cho môi trường local.</a:t>
            </a:r>
          </a:p>
          <a:p xmlns:a="http://schemas.openxmlformats.org/drawingml/2006/main">
            <a:r>
              <a:t/>
            </a:r>
          </a:p>
          <a:p xmlns:a="http://schemas.openxmlformats.org/drawingml/2006/main">
            <a:r>
              <a:t>[Sources]</a:t>
            </a:r>
          </a:p>
          <a:p xmlns:a="http://schemas.openxmlformats.org/drawingml/2006/main">
            <a:r>
              <a:t>- compose.yaml</a:t>
            </a:r>
          </a:p>
          <a:p xmlns:a="http://schemas.openxmlformats.org/drawingml/2006/main">
            <a:r>
              <a:t>- docs/07-local-development.md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surface API lấy từ Excel, chưa phải hợp đồng OpenAPI cuối. BE và FE cần chốt field, trạng thái lỗi và response trước khi tích hợp.</a:t>
            </a:r>
          </a:p>
          <a:p xmlns:a="http://schemas.openxmlformats.org/drawingml/2006/main">
            <a:r>
              <a:t/>
            </a:r>
          </a:p>
          <a:p xmlns:a="http://schemas.openxmlformats.org/drawingml/2006/main">
            <a:r>
              <a:t>[Sources]</a:t>
            </a:r>
          </a:p>
          <a:p xmlns:a="http://schemas.openxmlformats.org/drawingml/2006/main">
            <a:r>
              <a:t>- APC-Portal-Ke-hoach-cong-viec.xlsx — BE3 đến BE10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Docker hoàn toàn có thể chạy web và API. Cấu hình hiện tại chọn tách code ra ngoài container để phát triển local nhanh; đây là suy luận từ cấu hình, chưa phải ADR chính thức.</a:t>
            </a:r>
          </a:p>
          <a:p xmlns:a="http://schemas.openxmlformats.org/drawingml/2006/main">
            <a:r>
              <a:t/>
            </a:r>
          </a:p>
          <a:p xmlns:a="http://schemas.openxmlformats.org/drawingml/2006/main">
            <a:r>
              <a:t>[Sources]</a:t>
            </a:r>
          </a:p>
          <a:p xmlns:a="http://schemas.openxmlformats.org/drawingml/2006/main">
            <a:r>
              <a:t>- package.json</a:t>
            </a:r>
          </a:p>
          <a:p xmlns:a="http://schemas.openxmlformats.org/drawingml/2006/main">
            <a:r>
              <a:t>- compose.yaml</a:t>
            </a:r>
          </a:p>
          <a:p xmlns:a="http://schemas.openxmlformats.org/drawingml/2006/main">
            <a:r>
              <a:t>- scripts/compose.mjs</a:t>
            </a:r>
          </a:p>
          <a:p xmlns:a="http://schemas.openxmlformats.org/drawingml/2006/main">
            <a:r>
              <a:t>- docs/06-architecture.md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giải thích riêng về Docker. Web và API chạy bằng Node trên máy; Docker Compose chỉ giữ các dịch vụ nền. Khi lên staging/production, web và API có thể được container hóa sau.</a:t>
            </a:r>
          </a:p>
          <a:p xmlns:a="http://schemas.openxmlformats.org/drawingml/2006/main">
            <a:r>
              <a:t/>
            </a:r>
          </a:p>
          <a:p xmlns:a="http://schemas.openxmlformats.org/drawingml/2006/main">
            <a:r>
              <a:t>[Sources]</a:t>
            </a:r>
          </a:p>
          <a:p xmlns:a="http://schemas.openxmlformats.org/drawingml/2006/main">
            <a:r>
              <a:t>- package.json</a:t>
            </a:r>
          </a:p>
          <a:p xmlns:a="http://schemas.openxmlformats.org/drawingml/2006/main">
            <a:r>
              <a:t>- compose.yaml</a:t>
            </a:r>
          </a:p>
          <a:p xmlns:a="http://schemas.openxmlformats.org/drawingml/2006/main">
            <a:r>
              <a:t>- docs/07-local-development.md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đọc từng ký tự YAML. Chỉ giải thích image, port và volume. Nhấn mạnh 127.0.0.1 nghĩa là dịch vụ local không mở công khai ra mạng.</a:t>
            </a:r>
          </a:p>
          <a:p xmlns:a="http://schemas.openxmlformats.org/drawingml/2006/main">
            <a:r>
              <a:t/>
            </a:r>
          </a:p>
          <a:p xmlns:a="http://schemas.openxmlformats.org/drawingml/2006/main">
            <a:r>
              <a:t>[Sources]</a:t>
            </a:r>
          </a:p>
          <a:p xmlns:a="http://schemas.openxmlformats.org/drawingml/2006/main">
            <a:r>
              <a:t>- compose.yaml</a:t>
            </a:r>
          </a:p>
          <a:p xmlns:a="http://schemas.openxmlformats.org/drawingml/2006/main">
            <a:r>
              <a:t>-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Dừng ở các lệnh cần nhớ. URL local chi tiết nằm trong README và docs/07. Mỗi thành viên nên tự chạy quickstart trên máy mình.</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docs/07-local-development.md</a:t>
            </a:r>
          </a:p>
          <a:p xmlns:a="http://schemas.openxmlformats.org/drawingml/2006/main">
            <a:r>
              <a:t>-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các quyết định còn mở được ghi trong Architecture và kế hoạch. Chốt sớm để tránh BE và FE triển khai theo hai giả định khác nhau.</a:t>
            </a:r>
          </a:p>
          <a:p xmlns:a="http://schemas.openxmlformats.org/drawingml/2006/main">
            <a:r>
              <a:t/>
            </a:r>
          </a:p>
          <a:p xmlns:a="http://schemas.openxmlformats.org/drawingml/2006/main">
            <a:r>
              <a:t>[Sources]</a:t>
            </a:r>
          </a:p>
          <a:p xmlns:a="http://schemas.openxmlformats.org/drawingml/2006/main">
            <a:r>
              <a:t>- docs/06-architecture.md — Quyết định còn mở</a:t>
            </a:r>
          </a:p>
          <a:p xmlns:a="http://schemas.openxmlformats.org/drawingml/2006/main">
            <a:r>
              <a:t>- APC-Portal-Ke-hoach-cong-viec.xlsx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 không thay thế review, nhưng giúp review tập trung vào logic thay vì lỗi cơ bản. PR đỏ thì chưa merge.</a:t>
            </a:r>
          </a:p>
          <a:p xmlns:a="http://schemas.openxmlformats.org/drawingml/2006/main">
            <a:r>
              <a:t/>
            </a:r>
          </a:p>
          <a:p xmlns:a="http://schemas.openxmlformats.org/drawingml/2006/main">
            <a:r>
              <a:t>[Sources]</a:t>
            </a:r>
          </a:p>
          <a:p xmlns:a="http://schemas.openxmlformats.org/drawingml/2006/main">
            <a:r>
              <a:t>- .github/workflows/ci.yml</a:t>
            </a:r>
          </a:p>
          <a:p xmlns:a="http://schemas.openxmlformats.org/drawingml/2006/main">
            <a:r>
              <a:t>- package.json</a:t>
            </a:r>
          </a:p>
          <a:p xmlns:a="http://schemas.openxmlformats.org/drawingml/2006/main">
            <a:r>
              <a:t>- CONTRIBUTING.md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ví dụ tin tức để nối phần công nghệ với phân công. FE có thể dựng giao diện bằng dữ liệu mẫu, nhưng tính năng chỉ xong khi API, database và kiểm thử cùng hoàn tất.</a:t>
            </a:r>
          </a:p>
          <a:p xmlns:a="http://schemas.openxmlformats.org/drawingml/2006/main">
            <a:r>
              <a:t/>
            </a:r>
          </a:p>
          <a:p xmlns:a="http://schemas.openxmlformats.org/drawingml/2006/main">
            <a:r>
              <a:t>[Sources]</a:t>
            </a:r>
          </a:p>
          <a:p xmlns:a="http://schemas.openxmlformats.org/drawingml/2006/main">
            <a:r>
              <a:t>- APC-Portal-Ke-hoach-cong-viec.xlsx — BE1, BE5, FE3, IN4</a:t>
            </a:r>
          </a:p>
          <a:p xmlns:a="http://schemas.openxmlformats.org/drawingml/2006/main">
            <a:r>
              <a:t>- Code trên slide là minh họa tương lai, không phải code hiện có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luồng này để giải thích dependency có ý nghĩa nghiệp vụ, không chỉ là mã task. Đây là một trong các vòng demo chính vào cuối giai đoạn.</a:t>
            </a:r>
          </a:p>
          <a:p xmlns:a="http://schemas.openxmlformats.org/drawingml/2006/main">
            <a:r>
              <a:t/>
            </a:r>
          </a:p>
          <a:p xmlns:a="http://schemas.openxmlformats.org/drawingml/2006/main">
            <a:r>
              <a:t>[Sources]</a:t>
            </a:r>
          </a:p>
          <a:p xmlns:a="http://schemas.openxmlformats.org/drawingml/2006/main">
            <a:r>
              <a:t>- APC-Portal-Ke-hoach-cong-viec.xlsx — BE9, BE10, FE6, FE7</a:t>
            </a:r>
          </a:p>
          <a:p xmlns:a="http://schemas.openxmlformats.org/drawingml/2006/main">
            <a:r>
              <a:t>- docs/03-user-flows.md — Luồng Gia nhập APC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tên theo nhóm trước, chưa đi vào từng task. Mỗi mã là một vùng trách nhiệm; không chỉ là chức danh.</a:t>
            </a:r>
          </a:p>
          <a:p xmlns:a="http://schemas.openxmlformats.org/drawingml/2006/main">
            <a:r>
              <a:t/>
            </a:r>
          </a:p>
          <a:p xmlns:a="http://schemas.openxmlformats.org/drawingml/2006/main">
            <a:r>
              <a:t>[Sources]</a:t>
            </a:r>
          </a:p>
          <a:p xmlns:a="http://schemas.openxmlformats.org/drawingml/2006/main">
            <a:r>
              <a:t>- Danh sách thành viên do người dùng cung cấp</a:t>
            </a:r>
          </a:p>
          <a:p xmlns:a="http://schemas.openxmlformats.org/drawingml/2006/main">
            <a:r>
              <a:t>- APC-Portal-Ke-hoach-cong-viec.xlsx — Thành viên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Thiên xây nền dữ liệu; Minh giữ tài khoản, quyền và quy trình gia nhập; Khương cung cấp các API nội dung. Nhấn vào đầu ra, không chỉ nhắc tên công nghệ.</a:t>
            </a:r>
          </a:p>
          <a:p xmlns:a="http://schemas.openxmlformats.org/drawingml/2006/main">
            <a:r>
              <a:t/>
            </a:r>
          </a:p>
          <a:p xmlns:a="http://schemas.openxmlformats.org/drawingml/2006/main">
            <a:r>
              <a:t>[Sources]</a:t>
            </a:r>
          </a:p>
          <a:p xmlns:a="http://schemas.openxmlformats.org/drawingml/2006/main">
            <a:r>
              <a:t>- Danh sách thành viên do người dùng cung cấp</a:t>
            </a:r>
          </a:p>
          <a:p xmlns:a="http://schemas.openxmlformats.org/drawingml/2006/main">
            <a:r>
              <a:t>- APC-Portal-Ke-hoach-cong-viec.xlsx — Thành viên và Bảng nhiệm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Huỳnh chuẩn bị khung chung; Gia Bảo và Đăng Nghĩa làm các luồng public; Hoàn Phúc làm CMS và test. Người làm trang vẫn phải phối hợp với người cung cấp API.</a:t>
            </a:r>
          </a:p>
          <a:p xmlns:a="http://schemas.openxmlformats.org/drawingml/2006/main">
            <a:r>
              <a:t/>
            </a:r>
          </a:p>
          <a:p xmlns:a="http://schemas.openxmlformats.org/drawingml/2006/main">
            <a:r>
              <a:t>[Sources]</a:t>
            </a:r>
          </a:p>
          <a:p xmlns:a="http://schemas.openxmlformats.org/drawingml/2006/main">
            <a:r>
              <a:t>- Danh sách thành viên do người dùng cung cấp</a:t>
            </a:r>
          </a:p>
          <a:p xmlns:a="http://schemas.openxmlformats.org/drawingml/2006/main">
            <a:r>
              <a:t>- APC-Portal-Ke-hoach-cong-viec.xlsx — Thành viên và Bảng nhiệm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QA không phải người kiểm tra sau cùng. OP-2 phối hợp từ lúc có user flow; OP-1 bảo đảm code có thể chạy, triển khai và khôi phục.</a:t>
            </a:r>
          </a:p>
          <a:p xmlns:a="http://schemas.openxmlformats.org/drawingml/2006/main">
            <a:r>
              <a:t/>
            </a:r>
          </a:p>
          <a:p xmlns:a="http://schemas.openxmlformats.org/drawingml/2006/main">
            <a:r>
              <a:t>[Sources]</a:t>
            </a:r>
          </a:p>
          <a:p xmlns:a="http://schemas.openxmlformats.org/drawingml/2006/main">
            <a:r>
              <a:t>- Danh sách thành viên do người dùng cung cấp</a:t>
            </a:r>
          </a:p>
          <a:p xmlns:a="http://schemas.openxmlformats.org/drawingml/2006/main">
            <a:r>
              <a:t>- APC-Portal-Ke-hoach-cong-viec.xlsx — Thành viên</a:t>
            </a:r>
          </a:p>
          <a:p xmlns:a="http://schemas.openxmlformats.org/drawingml/2006/main">
            <a:r>
              <a:t>- docs/08-handover.md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nói mục tiêu của từng chặng, không đọc từng task. Dùng Excel cho danh sách chi tiết.</a:t>
            </a:r>
          </a:p>
          <a:p xmlns:a="http://schemas.openxmlformats.org/drawingml/2006/main">
            <a:r>
              <a:t/>
            </a:r>
          </a:p>
          <a:p xmlns:a="http://schemas.openxmlformats.org/drawingml/2006/main">
            <a:r>
              <a:t>[Sources]</a:t>
            </a:r>
          </a:p>
          <a:p xmlns:a="http://schemas.openxmlformats.org/drawingml/2006/main">
            <a:r>
              <a:t>- APC-Portal-Ke-hoach-cong-viec.xlsx — Quy ước &amp; Điều phối và Bảng nhiệm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nút chặn là cách dễ nhớ của Sprint 1. Auth phụ thuộc database; các trang sau phụ thuộc router và API.</a:t>
            </a:r>
          </a:p>
          <a:p xmlns:a="http://schemas.openxmlformats.org/drawingml/2006/main">
            <a:r>
              <a:t/>
            </a:r>
          </a:p>
          <a:p xmlns:a="http://schemas.openxmlformats.org/drawingml/2006/main">
            <a:r>
              <a:t>[Sources]</a:t>
            </a:r>
          </a:p>
          <a:p xmlns:a="http://schemas.openxmlformats.org/drawingml/2006/main">
            <a:r>
              <a:t>- APC-Portal-Ke-hoach-cong-viec.xlsx — Chi tiết Sprint 1 và Quy ước &amp; Điều phối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Sprint 1, công việc chuyển từ nền tảng sang các luồng nhìn thấy được. Sprint 2 mở API và public pages; Sprint 3 nối CMS và tuyển thành viên.</a:t>
            </a:r>
          </a:p>
          <a:p xmlns:a="http://schemas.openxmlformats.org/drawingml/2006/main">
            <a:r>
              <a:t/>
            </a:r>
          </a:p>
          <a:p xmlns:a="http://schemas.openxmlformats.org/drawingml/2006/main">
            <a:r>
              <a:t>[Sources]</a:t>
            </a:r>
          </a:p>
          <a:p xmlns:a="http://schemas.openxmlformats.org/drawingml/2006/main">
            <a:r>
              <a:t>- APC-Portal-Ke-hoach-cong-viec.xlsx — Bảng nhiệm vụ và Quy ước &amp; Điều phối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Definition of Done. Viết code xong chưa phải hoàn thành; đầu ra phải kiểm tra được, review được và người tiếp theo dùng được.</a:t>
            </a:r>
          </a:p>
          <a:p xmlns:a="http://schemas.openxmlformats.org/drawingml/2006/main">
            <a:r>
              <a:t/>
            </a:r>
          </a:p>
          <a:p xmlns:a="http://schemas.openxmlformats.org/drawingml/2006/main">
            <a:r>
              <a:t>[Sources]</a:t>
            </a:r>
          </a:p>
          <a:p xmlns:a="http://schemas.openxmlformats.org/drawingml/2006/main">
            <a:r>
              <a:t>- APC-Portal-Ke-hoach-cong-viec.xlsx — Quy ước &amp; Điều phối</a:t>
            </a:r>
          </a:p>
          <a:p xmlns:a="http://schemas.openxmlformats.org/drawingml/2006/main">
            <a:r>
              <a:t>- CONTRIBUTING.md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Tạo văn hóa báo sớm. Blocked không phải thất bại; im lặng khiến dependency bị trễ mới là rủi ro.</a:t>
            </a:r>
          </a:p>
          <a:p xmlns:a="http://schemas.openxmlformats.org/drawingml/2006/main">
            <a:r>
              <a:t/>
            </a:r>
          </a:p>
          <a:p xmlns:a="http://schemas.openxmlformats.org/drawingml/2006/main">
            <a:r>
              <a:t>[Sources]</a:t>
            </a:r>
          </a:p>
          <a:p xmlns:a="http://schemas.openxmlformats.org/drawingml/2006/main">
            <a:r>
              <a:t>- APC-Portal-Ke-hoach-cong-viec.xlsx — Quy ước &amp; Điều phối</a:t>
            </a:r>
          </a:p>
          <a:p xmlns:a="http://schemas.openxmlformats.org/drawingml/2006/main">
            <a:r>
              <a:t>- CONTRIBUTING.md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hành động, không kết thúc bằng cảm ơn. Chốt người làm, deadline và kênh cập nhật ngay sau buổi họp.</a:t>
            </a:r>
          </a:p>
          <a:p xmlns:a="http://schemas.openxmlformats.org/drawingml/2006/main">
            <a:r>
              <a:t/>
            </a:r>
          </a:p>
          <a:p xmlns:a="http://schemas.openxmlformats.org/drawingml/2006/main">
            <a:r>
              <a:t>[Sources]</a:t>
            </a:r>
          </a:p>
          <a:p xmlns:a="http://schemas.openxmlformats.org/drawingml/2006/main">
            <a:r>
              <a:t>- APC-Portal-Ke-hoach-cong-viec.xlsx — Chi tiết Sprint 1</a:t>
            </a:r>
          </a:p>
          <a:p xmlns:a="http://schemas.openxmlformats.org/drawingml/2006/main">
            <a:r>
              <a:t>- Danh sách thành viên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64272f48934b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9d26c4891646a1" /><Relationship Type="http://schemas.openxmlformats.org/officeDocument/2006/relationships/slideLayout" Target="/ppt/slideLayouts/slideLayout1.xml" Id="R1403be356e7043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03be356e7043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ef2d45cd0d44b9" /><Relationship Type="http://schemas.openxmlformats.org/officeDocument/2006/relationships/image" Target="/ppt/media/image.png" Id="Re44679b9a2d6497a" /><Relationship Type="http://schemas.openxmlformats.org/officeDocument/2006/relationships/image" Target="/ppt/media/image2.png" Id="R98e36e22036d4910" /><Relationship Type="http://schemas.openxmlformats.org/officeDocument/2006/relationships/notesSlide" Target="/ppt/notesSlides/notesSlide1.xml" Id="R11f9797aa00c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222b5d73a24377" /><Relationship Type="http://schemas.openxmlformats.org/officeDocument/2006/relationships/notesSlide" Target="/ppt/notesSlides/notesSlide2.xml" Id="R85691027e4c240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b4f2cb9eff428f" /><Relationship Type="http://schemas.openxmlformats.org/officeDocument/2006/relationships/image" Target="/ppt/media/image3.png" Id="Rbb71a1e0de4f490a" /><Relationship Type="http://schemas.openxmlformats.org/officeDocument/2006/relationships/notesSlide" Target="/ppt/notesSlides/notesSlide3.xml" Id="R4449fd07f7cf4f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1c92bb326c4686" /><Relationship Type="http://schemas.openxmlformats.org/officeDocument/2006/relationships/notesSlide" Target="/ppt/notesSlides/notesSlide4.xml" Id="R8102aa78386b4c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73492ac4964dbb" /><Relationship Type="http://schemas.openxmlformats.org/officeDocument/2006/relationships/notesSlide" Target="/ppt/notesSlides/notesSlide5.xml" Id="R276b87f8268e44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6fe18be24f41da" /><Relationship Type="http://schemas.openxmlformats.org/officeDocument/2006/relationships/image" Target="/ppt/media/image.jpeg" Id="R234515a457e14e6c" /><Relationship Type="http://schemas.openxmlformats.org/officeDocument/2006/relationships/notesSlide" Target="/ppt/notesSlides/notesSlide6.xml" Id="R909dd1dce74346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b4e61f6ee648db" /><Relationship Type="http://schemas.openxmlformats.org/officeDocument/2006/relationships/notesSlide" Target="/ppt/notesSlides/notesSlide7.xml" Id="R82ff2c514d5240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a140d4c76e4e2c" /><Relationship Type="http://schemas.openxmlformats.org/officeDocument/2006/relationships/notesSlide" Target="/ppt/notesSlides/notesSlide8.xml" Id="R9bc542f22bc1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40061d4e604726" /><Relationship Type="http://schemas.openxmlformats.org/officeDocument/2006/relationships/image" Target="/ppt/media/image4.png" Id="R5d35fb840eb648d7" /><Relationship Type="http://schemas.openxmlformats.org/officeDocument/2006/relationships/notesSlide" Target="/ppt/notesSlides/notesSlide9.xml" Id="R851ea2d058d245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14992f726c4a77" /><Relationship Type="http://schemas.openxmlformats.org/officeDocument/2006/relationships/notesSlide" Target="/ppt/notesSlides/notesSlide10.xml" Id="R65d89d501ae944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c3f75d633743c4" /><Relationship Type="http://schemas.openxmlformats.org/officeDocument/2006/relationships/notesSlide" Target="/ppt/notesSlides/notesSlide11.xml" Id="R37a8959c55df46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38b321eb73482a" /><Relationship Type="http://schemas.openxmlformats.org/officeDocument/2006/relationships/notesSlide" Target="/ppt/notesSlides/notesSlide12.xml" Id="R7bcca7d5f82b49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0c97b79a7a4566" /><Relationship Type="http://schemas.openxmlformats.org/officeDocument/2006/relationships/notesSlide" Target="/ppt/notesSlides/notesSlide13.xml" Id="R175bd170c6b34e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3cddc2c8a54cc9" /><Relationship Type="http://schemas.openxmlformats.org/officeDocument/2006/relationships/notesSlide" Target="/ppt/notesSlides/notesSlide14.xml" Id="Rcb8aed4fde5f41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030a3350004ad1" /><Relationship Type="http://schemas.openxmlformats.org/officeDocument/2006/relationships/notesSlide" Target="/ppt/notesSlides/notesSlide15.xml" Id="R65ebf9123f3a40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9bab2a9c874c09" /><Relationship Type="http://schemas.openxmlformats.org/officeDocument/2006/relationships/notesSlide" Target="/ppt/notesSlides/notesSlide16.xml" Id="Rd627f74577434e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49ac688a4e8439f" /><Relationship Type="http://schemas.openxmlformats.org/officeDocument/2006/relationships/notesSlide" Target="/ppt/notesSlides/notesSlide17.xml" Id="R60b993fbc4b94e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b0093072c74c25" /><Relationship Type="http://schemas.openxmlformats.org/officeDocument/2006/relationships/notesSlide" Target="/ppt/notesSlides/notesSlide18.xml" Id="Rd7c136476ed943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3e961714a44c86" /><Relationship Type="http://schemas.openxmlformats.org/officeDocument/2006/relationships/notesSlide" Target="/ppt/notesSlides/notesSlide19.xml" Id="R6da88323d3184e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045bb280dd4323" /><Relationship Type="http://schemas.openxmlformats.org/officeDocument/2006/relationships/notesSlide" Target="/ppt/notesSlides/notesSlide20.xml" Id="R7111075ffb5547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7f8049c4a74c82" /><Relationship Type="http://schemas.openxmlformats.org/officeDocument/2006/relationships/notesSlide" Target="/ppt/notesSlides/notesSlide21.xml" Id="Rf07966198f574a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f75f8390c954b7a" /><Relationship Type="http://schemas.openxmlformats.org/officeDocument/2006/relationships/notesSlide" Target="/ppt/notesSlides/notesSlide22.xml" Id="R05baf36d19d34d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339ca4ec4454613" /><Relationship Type="http://schemas.openxmlformats.org/officeDocument/2006/relationships/notesSlide" Target="/ppt/notesSlides/notesSlide23.xml" Id="R944950e8f49441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9b4e550768d42a9" /><Relationship Type="http://schemas.openxmlformats.org/officeDocument/2006/relationships/notesSlide" Target="/ppt/notesSlides/notesSlide24.xml" Id="Rce02caf330b442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fcc0cd8513147e6" /><Relationship Type="http://schemas.openxmlformats.org/officeDocument/2006/relationships/notesSlide" Target="/ppt/notesSlides/notesSlide25.xml" Id="R23dac5bffca345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af7f81d8964530" /><Relationship Type="http://schemas.openxmlformats.org/officeDocument/2006/relationships/notesSlide" Target="/ppt/notesSlides/notesSlide26.xml" Id="R8cb6dd73486342f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e9e195224174635" /><Relationship Type="http://schemas.openxmlformats.org/officeDocument/2006/relationships/notesSlide" Target="/ppt/notesSlides/notesSlide27.xml" Id="R934dac7c34464e0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fb3552c0816424b" /><Relationship Type="http://schemas.openxmlformats.org/officeDocument/2006/relationships/notesSlide" Target="/ppt/notesSlides/notesSlide28.xml" Id="R93e487de870c40d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abf19a9eb774462" /><Relationship Type="http://schemas.openxmlformats.org/officeDocument/2006/relationships/notesSlide" Target="/ppt/notesSlides/notesSlide29.xml" Id="R1dd12115570a4ad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b5e88bd69624bf8" /><Relationship Type="http://schemas.openxmlformats.org/officeDocument/2006/relationships/notesSlide" Target="/ppt/notesSlides/notesSlide30.xml" Id="R185971152bdb4a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d2b84949c704bb9" /><Relationship Type="http://schemas.openxmlformats.org/officeDocument/2006/relationships/notesSlide" Target="/ppt/notesSlides/notesSlide31.xml" Id="R97e7ff4a0bfe43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d8ab98ba8294529" /><Relationship Type="http://schemas.openxmlformats.org/officeDocument/2006/relationships/notesSlide" Target="/ppt/notesSlides/notesSlide32.xml" Id="Rfc929b58cb74409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85d8e0d5749416b" /><Relationship Type="http://schemas.openxmlformats.org/officeDocument/2006/relationships/notesSlide" Target="/ppt/notesSlides/notesSlide33.xml" Id="R466a1538840f435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1ea922faeda4fee" /><Relationship Type="http://schemas.openxmlformats.org/officeDocument/2006/relationships/notesSlide" Target="/ppt/notesSlides/notesSlide34.xml" Id="R8df615128b2b442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6efc62851754a60" /><Relationship Type="http://schemas.openxmlformats.org/officeDocument/2006/relationships/notesSlide" Target="/ppt/notesSlides/notesSlide35.xml" Id="R47a3bcbd5f8947d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046315ce89d410b" /><Relationship Type="http://schemas.openxmlformats.org/officeDocument/2006/relationships/notesSlide" Target="/ppt/notesSlides/notesSlide36.xml" Id="R53388bea66b4487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05c29d89e42445a" /><Relationship Type="http://schemas.openxmlformats.org/officeDocument/2006/relationships/notesSlide" Target="/ppt/notesSlides/notesSlide37.xml" Id="R5cfd4b93ed8747ca" /></Relationships>
</file>

<file path=ppt/slides/slide1.xml><?xml version="1.0" encoding="utf-8"?>
<p:sld xmlns:p="http://schemas.openxmlformats.org/presentationml/2006/main">
  <p:cSld>
    <p:bg>
      <p:bgPr>
        <a:solidFill xmlns:a="http://schemas.openxmlformats.org/drawingml/2006/main">
          <a:srgbClr val="081A33"/>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44679b9a2d6497a"/>
          <a:srcRect xmlns:a="http://schemas.openxmlformats.org/drawingml/2006/main" l="0" t="4984" r="0" b="4984"/>
          <a:stretch xmlns:a="http://schemas.openxmlformats.org/drawingml/2006/main">
            <a:fillRect l="0" t="0" r="0" b="0"/>
          </a:stretch>
        </p:blipFill>
        <p:spPr>
          <a:xfrm xmlns:a="http://schemas.openxmlformats.org/drawingml/2006/main">
            <a:off x="6096000" y="0"/>
            <a:ext cx="6096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D1D569-1324-4240-ACA6-D30BF3F29FE1}"/>
              </a:ext>
            </a:extLst>
          </p:cNvPr>
          <p:cNvSpPr>
            <a:spLocks xmlns:a="http://schemas.openxmlformats.org/drawingml/2006/main" noGrp="1"/>
          </p:cNvSpPr>
          <p:nvPr/>
        </p:nvSpPr>
        <p:spPr>
          <a:xfrm xmlns:a="http://schemas.openxmlformats.org/drawingml/2006/main">
            <a:off x="5572125" y="0"/>
            <a:ext cx="1524000" cy="6858000"/>
          </a:xfrm>
          <a:prstGeom xmlns:a="http://schemas.openxmlformats.org/drawingml/2006/main" prst="rect">
            <a:avLst/>
          </a:prstGeom>
          <a:gradFill xmlns:a="http://schemas.openxmlformats.org/drawingml/2006/main">
            <a:gsLst>
              <a:gs pos="0">
                <a:srgbClr val="081A33"/>
              </a:gs>
              <a:gs pos="45000">
                <a:srgbClr val="081A33"/>
              </a:gs>
              <a:gs pos="100000">
                <a:srgbClr val="081A33">
                  <a:alpha val="0"/>
                </a:srgbClr>
              </a:gs>
            </a:gsLst>
            <a:lin ang="5400000"/>
          </a:gra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8e36e22036d4910"/>
          <a:stretch xmlns:a="http://schemas.openxmlformats.org/drawingml/2006/main"/>
        </p:blipFill>
        <p:spPr>
          <a:xfrm xmlns:a="http://schemas.openxmlformats.org/drawingml/2006/main">
            <a:off x="685800" y="624353"/>
            <a:ext cx="1809750" cy="42769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95AF3F-60B7-40F2-95E6-448F8BC84936}"/>
              </a:ext>
            </a:extLst>
          </p:cNvPr>
          <p:cNvSpPr>
            <a:spLocks xmlns:a="http://schemas.openxmlformats.org/drawingml/2006/main" noGrp="1"/>
          </p:cNvSpPr>
          <p:nvPr/>
        </p:nvSpPr>
        <p:spPr>
          <a:xfrm xmlns:a="http://schemas.openxmlformats.org/drawingml/2006/main">
            <a:off x="685800" y="17526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0A202"/>
                </a:solidFill>
              </a:defRPr>
            </a:pPr>
            <a:r>
              <a:rPr sz="1350" b="1">
                <a:solidFill>
                  <a:srgbClr val="F0A202"/>
                </a:solidFill>
              </a:rPr>
              <a:t>APC PORTAL</a:t>
            </a:r>
          </a:p>
        </p:txBody>
      </p:sp>
      <p:sp>
        <p:nvSpPr>
          <p:cNvPr id="5" name="">
            <a:extLst xmlns:a="http://schemas.openxmlformats.org/drawingml/2006/main">
              <a:ext uri="{FF2B5EF4-FFF2-40B4-BE49-F238E27FC236}">
                <a16:creationId xmlns:a16="http://schemas.microsoft.com/office/drawing/2014/main" id="{04874AEA-0CC0-4190-8050-2E7C46B86E93}"/>
              </a:ext>
            </a:extLst>
          </p:cNvPr>
          <p:cNvSpPr>
            <a:spLocks xmlns:a="http://schemas.openxmlformats.org/drawingml/2006/main" noGrp="1"/>
          </p:cNvSpPr>
          <p:nvPr/>
        </p:nvSpPr>
        <p:spPr>
          <a:xfrm xmlns:a="http://schemas.openxmlformats.org/drawingml/2006/main">
            <a:off x="685800" y="22479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FFFFFF"/>
                </a:solidFill>
              </a:defRPr>
            </a:pPr>
            <a:r>
              <a:rPr sz="3750" b="1">
                <a:solidFill>
                  <a:srgbClr val="FFFFFF"/>
                </a:solidFill>
              </a:rPr>
              <a:t>Chúng ta xây gì</a:t>
            </a:r>
          </a:p>
          <a:p xmlns:a="http://schemas.openxmlformats.org/drawingml/2006/main">
            <a:pPr algn="l">
              <a:defRPr sz="3750" b="1">
                <a:solidFill>
                  <a:srgbClr val="FFFFFF"/>
                </a:solidFill>
              </a:defRPr>
            </a:pPr>
            <a:r>
              <a:rPr sz="3750" b="1">
                <a:solidFill>
                  <a:srgbClr val="FFFFFF"/>
                </a:solidFill>
              </a:rPr>
              <a:t>và mỗi người làm gì?</a:t>
            </a:r>
          </a:p>
        </p:txBody>
      </p:sp>
      <p:sp>
        <p:nvSpPr>
          <p:cNvPr id="6" name="">
            <a:extLst xmlns:a="http://schemas.openxmlformats.org/drawingml/2006/main">
              <a:ext uri="{FF2B5EF4-FFF2-40B4-BE49-F238E27FC236}">
                <a16:creationId xmlns:a16="http://schemas.microsoft.com/office/drawing/2014/main" id="{EA4D8D7B-75F4-46C6-A041-CE35486F4E33}"/>
              </a:ext>
            </a:extLst>
          </p:cNvPr>
          <p:cNvSpPr>
            <a:spLocks xmlns:a="http://schemas.openxmlformats.org/drawingml/2006/main" noGrp="1"/>
          </p:cNvSpPr>
          <p:nvPr/>
        </p:nvSpPr>
        <p:spPr>
          <a:xfrm xmlns:a="http://schemas.openxmlformats.org/drawingml/2006/main">
            <a:off x="685800" y="4114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DCEAFB"/>
                </a:solidFill>
              </a:defRPr>
            </a:pPr>
            <a:r>
              <a:rPr sz="1650" b="0">
                <a:solidFill>
                  <a:srgbClr val="DCEAFB"/>
                </a:solidFill>
              </a:rPr>
              <a:t>Team kickoff • 01/09–15/10/2026</a:t>
            </a:r>
          </a:p>
        </p:txBody>
      </p:sp>
      <p:sp>
        <p:nvSpPr>
          <p:cNvPr id="7" name="">
            <a:extLst xmlns:a="http://schemas.openxmlformats.org/drawingml/2006/main">
              <a:ext uri="{FF2B5EF4-FFF2-40B4-BE49-F238E27FC236}">
                <a16:creationId xmlns:a16="http://schemas.microsoft.com/office/drawing/2014/main" id="{8B3288CB-7EF7-49B8-B59F-7FED8B2A3D0E}"/>
              </a:ext>
            </a:extLst>
          </p:cNvPr>
          <p:cNvSpPr>
            <a:spLocks xmlns:a="http://schemas.openxmlformats.org/drawingml/2006/main" noGrp="1"/>
          </p:cNvSpPr>
          <p:nvPr/>
        </p:nvSpPr>
        <p:spPr>
          <a:xfrm xmlns:a="http://schemas.openxmlformats.org/drawingml/2006/main">
            <a:off x="685800" y="58102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B8C9E2"/>
                </a:solidFill>
              </a:defRPr>
            </a:pPr>
            <a:r>
              <a:rPr sz="1200" b="0">
                <a:solidFill>
                  <a:srgbClr val="B8C9E2"/>
                </a:solidFill>
              </a:rPr>
              <a:t>Hiểu dự án  •  Hiểu công nghệ  •  Bắt đầu đúng việc</a:t>
            </a:r>
          </a:p>
        </p:txBody>
      </p:sp>
    </p:spTree>
    <p:extLst>
      <p:ext uri="{BB962C8B-B14F-4D97-AF65-F5344CB8AC3E}">
        <p14:creationId xmlns:p14="http://schemas.microsoft.com/office/powerpoint/2010/main" val="561182739"/>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EB4530A-1B68-4F53-A348-0F6E8412DD3E}"/>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6D02D66D-8A3E-4F85-B035-D55EF19246E0}"/>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Buổi kickoff cần chốt bốn việc</a:t>
            </a:r>
          </a:p>
        </p:txBody>
      </p:sp>
      <p:sp>
        <p:nvSpPr>
          <p:cNvPr id="3" name="">
            <a:extLst xmlns:a="http://schemas.openxmlformats.org/drawingml/2006/main">
              <a:ext uri="{FF2B5EF4-FFF2-40B4-BE49-F238E27FC236}">
                <a16:creationId xmlns:a16="http://schemas.microsoft.com/office/drawing/2014/main" id="{CE288B37-9370-443C-9D78-BEF9D10E0E5F}"/>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C04E4B2F-B68B-4908-9544-80923E967861}"/>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361ECC2F-7DC3-4078-A9B9-72E9604B2946}"/>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02</a:t>
            </a:r>
          </a:p>
        </p:txBody>
      </p:sp>
      <p:sp>
        <p:nvSpPr>
          <p:cNvPr id="6" name="">
            <a:extLst xmlns:a="http://schemas.openxmlformats.org/drawingml/2006/main">
              <a:ext uri="{FF2B5EF4-FFF2-40B4-BE49-F238E27FC236}">
                <a16:creationId xmlns:a16="http://schemas.microsoft.com/office/drawing/2014/main" id="{14CB8C02-DA61-4FB1-804C-03C03FAF729B}"/>
              </a:ext>
            </a:extLst>
          </p:cNvPr>
          <p:cNvSpPr>
            <a:spLocks xmlns:a="http://schemas.openxmlformats.org/drawingml/2006/main" noGrp="1"/>
          </p:cNvSpPr>
          <p:nvPr/>
        </p:nvSpPr>
        <p:spPr>
          <a:xfrm xmlns:a="http://schemas.openxmlformats.org/drawingml/2006/main">
            <a:off x="800100" y="1657350"/>
            <a:ext cx="876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C23B22"/>
                </a:solidFill>
              </a:defRPr>
            </a:pPr>
            <a:r>
              <a:rPr sz="3150" b="1">
                <a:solidFill>
                  <a:srgbClr val="C23B22"/>
                </a:solidFill>
              </a:rPr>
              <a:t>01</a:t>
            </a:r>
          </a:p>
        </p:txBody>
      </p:sp>
      <p:sp>
        <p:nvSpPr>
          <p:cNvPr id="7" name="">
            <a:extLst xmlns:a="http://schemas.openxmlformats.org/drawingml/2006/main">
              <a:ext uri="{FF2B5EF4-FFF2-40B4-BE49-F238E27FC236}">
                <a16:creationId xmlns:a16="http://schemas.microsoft.com/office/drawing/2014/main" id="{0BAC22B4-715F-4CB2-96D1-D0D201B09D34}"/>
              </a:ext>
            </a:extLst>
          </p:cNvPr>
          <p:cNvSpPr>
            <a:spLocks xmlns:a="http://schemas.openxmlformats.org/drawingml/2006/main" noGrp="1"/>
          </p:cNvSpPr>
          <p:nvPr/>
        </p:nvSpPr>
        <p:spPr>
          <a:xfrm xmlns:a="http://schemas.openxmlformats.org/drawingml/2006/main">
            <a:off x="1905000" y="165735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A16"/>
                </a:solidFill>
              </a:defRPr>
            </a:pPr>
            <a:r>
              <a:rPr sz="2100" b="1">
                <a:solidFill>
                  <a:srgbClr val="201A16"/>
                </a:solidFill>
              </a:rPr>
              <a:t>Dự án giải quyết vấn đề gì?</a:t>
            </a:r>
          </a:p>
        </p:txBody>
      </p:sp>
      <p:sp>
        <p:nvSpPr>
          <p:cNvPr id="8" name="">
            <a:extLst xmlns:a="http://schemas.openxmlformats.org/drawingml/2006/main">
              <a:ext uri="{FF2B5EF4-FFF2-40B4-BE49-F238E27FC236}">
                <a16:creationId xmlns:a16="http://schemas.microsoft.com/office/drawing/2014/main" id="{E2D720D3-B061-428C-B8CC-449477480F48}"/>
              </a:ext>
            </a:extLst>
          </p:cNvPr>
          <p:cNvSpPr>
            <a:spLocks xmlns:a="http://schemas.openxmlformats.org/drawingml/2006/main" noGrp="1"/>
          </p:cNvSpPr>
          <p:nvPr/>
        </p:nvSpPr>
        <p:spPr>
          <a:xfrm xmlns:a="http://schemas.openxmlformats.org/drawingml/2006/main">
            <a:off x="1905000" y="2400300"/>
            <a:ext cx="8763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9" name="">
            <a:extLst xmlns:a="http://schemas.openxmlformats.org/drawingml/2006/main">
              <a:ext uri="{FF2B5EF4-FFF2-40B4-BE49-F238E27FC236}">
                <a16:creationId xmlns:a16="http://schemas.microsoft.com/office/drawing/2014/main" id="{CC7C6118-D7FF-4A77-B9FC-375A0380BE78}"/>
              </a:ext>
            </a:extLst>
          </p:cNvPr>
          <p:cNvSpPr>
            <a:spLocks xmlns:a="http://schemas.openxmlformats.org/drawingml/2006/main" noGrp="1"/>
          </p:cNvSpPr>
          <p:nvPr/>
        </p:nvSpPr>
        <p:spPr>
          <a:xfrm xmlns:a="http://schemas.openxmlformats.org/drawingml/2006/main">
            <a:off x="800100" y="2686050"/>
            <a:ext cx="876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1568C9"/>
                </a:solidFill>
              </a:defRPr>
            </a:pPr>
            <a:r>
              <a:rPr sz="3150" b="1">
                <a:solidFill>
                  <a:srgbClr val="1568C9"/>
                </a:solidFill>
              </a:rPr>
              <a:t>02</a:t>
            </a:r>
          </a:p>
        </p:txBody>
      </p:sp>
      <p:sp>
        <p:nvSpPr>
          <p:cNvPr id="10" name="">
            <a:extLst xmlns:a="http://schemas.openxmlformats.org/drawingml/2006/main">
              <a:ext uri="{FF2B5EF4-FFF2-40B4-BE49-F238E27FC236}">
                <a16:creationId xmlns:a16="http://schemas.microsoft.com/office/drawing/2014/main" id="{9CD2E8EC-B41D-464A-8195-76E07AE3CF1E}"/>
              </a:ext>
            </a:extLst>
          </p:cNvPr>
          <p:cNvSpPr>
            <a:spLocks xmlns:a="http://schemas.openxmlformats.org/drawingml/2006/main" noGrp="1"/>
          </p:cNvSpPr>
          <p:nvPr/>
        </p:nvSpPr>
        <p:spPr>
          <a:xfrm xmlns:a="http://schemas.openxmlformats.org/drawingml/2006/main">
            <a:off x="1905000" y="268605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A16"/>
                </a:solidFill>
              </a:defRPr>
            </a:pPr>
            <a:r>
              <a:rPr sz="2100" b="1">
                <a:solidFill>
                  <a:srgbClr val="201A16"/>
                </a:solidFill>
              </a:rPr>
              <a:t>Sản phẩm cuối cùng hoạt động ra sao?</a:t>
            </a:r>
          </a:p>
        </p:txBody>
      </p:sp>
      <p:sp>
        <p:nvSpPr>
          <p:cNvPr id="11" name="">
            <a:extLst xmlns:a="http://schemas.openxmlformats.org/drawingml/2006/main">
              <a:ext uri="{FF2B5EF4-FFF2-40B4-BE49-F238E27FC236}">
                <a16:creationId xmlns:a16="http://schemas.microsoft.com/office/drawing/2014/main" id="{E23136E5-446A-4B3D-AC1F-5D87F8252F43}"/>
              </a:ext>
            </a:extLst>
          </p:cNvPr>
          <p:cNvSpPr>
            <a:spLocks xmlns:a="http://schemas.openxmlformats.org/drawingml/2006/main" noGrp="1"/>
          </p:cNvSpPr>
          <p:nvPr/>
        </p:nvSpPr>
        <p:spPr>
          <a:xfrm xmlns:a="http://schemas.openxmlformats.org/drawingml/2006/main">
            <a:off x="1905000" y="3429000"/>
            <a:ext cx="8763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2" name="">
            <a:extLst xmlns:a="http://schemas.openxmlformats.org/drawingml/2006/main">
              <a:ext uri="{FF2B5EF4-FFF2-40B4-BE49-F238E27FC236}">
                <a16:creationId xmlns:a16="http://schemas.microsoft.com/office/drawing/2014/main" id="{6B02FD7A-64EB-4E7A-A347-2146FF730486}"/>
              </a:ext>
            </a:extLst>
          </p:cNvPr>
          <p:cNvSpPr>
            <a:spLocks xmlns:a="http://schemas.openxmlformats.org/drawingml/2006/main" noGrp="1"/>
          </p:cNvSpPr>
          <p:nvPr/>
        </p:nvSpPr>
        <p:spPr>
          <a:xfrm xmlns:a="http://schemas.openxmlformats.org/drawingml/2006/main">
            <a:off x="800100" y="3714750"/>
            <a:ext cx="876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C23B22"/>
                </a:solidFill>
              </a:defRPr>
            </a:pPr>
            <a:r>
              <a:rPr sz="3150" b="1">
                <a:solidFill>
                  <a:srgbClr val="C23B22"/>
                </a:solidFill>
              </a:rPr>
              <a:t>03</a:t>
            </a:r>
          </a:p>
        </p:txBody>
      </p:sp>
      <p:sp>
        <p:nvSpPr>
          <p:cNvPr id="13" name="">
            <a:extLst xmlns:a="http://schemas.openxmlformats.org/drawingml/2006/main">
              <a:ext uri="{FF2B5EF4-FFF2-40B4-BE49-F238E27FC236}">
                <a16:creationId xmlns:a16="http://schemas.microsoft.com/office/drawing/2014/main" id="{5EA5EB7F-7211-4B41-9D5F-326FEE7FC4FE}"/>
              </a:ext>
            </a:extLst>
          </p:cNvPr>
          <p:cNvSpPr>
            <a:spLocks xmlns:a="http://schemas.openxmlformats.org/drawingml/2006/main" noGrp="1"/>
          </p:cNvSpPr>
          <p:nvPr/>
        </p:nvSpPr>
        <p:spPr>
          <a:xfrm xmlns:a="http://schemas.openxmlformats.org/drawingml/2006/main">
            <a:off x="1905000" y="371475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A16"/>
                </a:solidFill>
              </a:defRPr>
            </a:pPr>
            <a:r>
              <a:rPr sz="2100" b="1">
                <a:solidFill>
                  <a:srgbClr val="201A16"/>
                </a:solidFill>
              </a:rPr>
              <a:t>Tôi sở hữu đầu ra nào?</a:t>
            </a:r>
          </a:p>
        </p:txBody>
      </p:sp>
      <p:sp>
        <p:nvSpPr>
          <p:cNvPr id="14" name="">
            <a:extLst xmlns:a="http://schemas.openxmlformats.org/drawingml/2006/main">
              <a:ext uri="{FF2B5EF4-FFF2-40B4-BE49-F238E27FC236}">
                <a16:creationId xmlns:a16="http://schemas.microsoft.com/office/drawing/2014/main" id="{CB14D1CE-ACA0-42A6-ADFD-2934520EF000}"/>
              </a:ext>
            </a:extLst>
          </p:cNvPr>
          <p:cNvSpPr>
            <a:spLocks xmlns:a="http://schemas.openxmlformats.org/drawingml/2006/main" noGrp="1"/>
          </p:cNvSpPr>
          <p:nvPr/>
        </p:nvSpPr>
        <p:spPr>
          <a:xfrm xmlns:a="http://schemas.openxmlformats.org/drawingml/2006/main">
            <a:off x="1905000" y="4457700"/>
            <a:ext cx="8763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5" name="">
            <a:extLst xmlns:a="http://schemas.openxmlformats.org/drawingml/2006/main">
              <a:ext uri="{FF2B5EF4-FFF2-40B4-BE49-F238E27FC236}">
                <a16:creationId xmlns:a16="http://schemas.microsoft.com/office/drawing/2014/main" id="{0923F475-8D91-43B7-A133-A9AFD38C808C}"/>
              </a:ext>
            </a:extLst>
          </p:cNvPr>
          <p:cNvSpPr>
            <a:spLocks xmlns:a="http://schemas.openxmlformats.org/drawingml/2006/main" noGrp="1"/>
          </p:cNvSpPr>
          <p:nvPr/>
        </p:nvSpPr>
        <p:spPr>
          <a:xfrm xmlns:a="http://schemas.openxmlformats.org/drawingml/2006/main">
            <a:off x="800100" y="4743450"/>
            <a:ext cx="876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1568C9"/>
                </a:solidFill>
              </a:defRPr>
            </a:pPr>
            <a:r>
              <a:rPr sz="3150" b="1">
                <a:solidFill>
                  <a:srgbClr val="1568C9"/>
                </a:solidFill>
              </a:rPr>
              <a:t>04</a:t>
            </a:r>
          </a:p>
        </p:txBody>
      </p:sp>
      <p:sp>
        <p:nvSpPr>
          <p:cNvPr id="16" name="">
            <a:extLst xmlns:a="http://schemas.openxmlformats.org/drawingml/2006/main">
              <a:ext uri="{FF2B5EF4-FFF2-40B4-BE49-F238E27FC236}">
                <a16:creationId xmlns:a16="http://schemas.microsoft.com/office/drawing/2014/main" id="{4AF5CD9F-07A3-4C4D-AFF4-991157E0B1D3}"/>
              </a:ext>
            </a:extLst>
          </p:cNvPr>
          <p:cNvSpPr>
            <a:spLocks xmlns:a="http://schemas.openxmlformats.org/drawingml/2006/main" noGrp="1"/>
          </p:cNvSpPr>
          <p:nvPr/>
        </p:nvSpPr>
        <p:spPr>
          <a:xfrm xmlns:a="http://schemas.openxmlformats.org/drawingml/2006/main">
            <a:off x="1905000" y="474345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01A16"/>
                </a:solidFill>
              </a:defRPr>
            </a:pPr>
            <a:r>
              <a:rPr sz="2100" b="1">
                <a:solidFill>
                  <a:srgbClr val="201A16"/>
                </a:solidFill>
              </a:rPr>
              <a:t>Tôi bắt đầu từ đâu và phối hợp với ai?</a:t>
            </a:r>
          </a:p>
        </p:txBody>
      </p:sp>
      <p:sp>
        <p:nvSpPr>
          <p:cNvPr id="17" name="">
            <a:extLst xmlns:a="http://schemas.openxmlformats.org/drawingml/2006/main">
              <a:ext uri="{FF2B5EF4-FFF2-40B4-BE49-F238E27FC236}">
                <a16:creationId xmlns:a16="http://schemas.microsoft.com/office/drawing/2014/main" id="{DBD644AA-7968-4875-B074-E3869375D3B8}"/>
              </a:ext>
            </a:extLst>
          </p:cNvPr>
          <p:cNvSpPr>
            <a:spLocks xmlns:a="http://schemas.openxmlformats.org/drawingml/2006/main" noGrp="1"/>
          </p:cNvSpPr>
          <p:nvPr/>
        </p:nvSpPr>
        <p:spPr>
          <a:xfrm xmlns:a="http://schemas.openxmlformats.org/drawingml/2006/main">
            <a:off x="1905000" y="5486400"/>
            <a:ext cx="8763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Tree>
    <p:extLst>
      <p:ext uri="{BB962C8B-B14F-4D97-AF65-F5344CB8AC3E}">
        <p14:creationId xmlns:p14="http://schemas.microsoft.com/office/powerpoint/2010/main" val="1376806172"/>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FC9727B-85FA-4C55-9D90-3488EE0B3782}"/>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EFB7C8EC-9A6B-424F-9891-C05F5E7BFDAA}"/>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Thông tin APC đang nằm ở quá nhiều nơi</a:t>
            </a:r>
          </a:p>
        </p:txBody>
      </p:sp>
      <p:sp>
        <p:nvSpPr>
          <p:cNvPr id="3" name="">
            <a:extLst xmlns:a="http://schemas.openxmlformats.org/drawingml/2006/main">
              <a:ext uri="{FF2B5EF4-FFF2-40B4-BE49-F238E27FC236}">
                <a16:creationId xmlns:a16="http://schemas.microsoft.com/office/drawing/2014/main" id="{FCB8F873-2C53-456E-BCED-6128E7A5DAC1}"/>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7C66F3EA-24F1-403D-B60B-855EA9002891}"/>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57A06ED7-78FD-431C-837A-F33543C7F9F1}"/>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b71a1e0de4f490a"/>
          <a:srcRect xmlns:a="http://schemas.openxmlformats.org/drawingml/2006/main" l="0" t="13982" r="0" b="13982"/>
          <a:stretch xmlns:a="http://schemas.openxmlformats.org/drawingml/2006/main">
            <a:fillRect l="0" t="0" r="0" b="0"/>
          </a:stretch>
        </p:blipFill>
        <p:spPr>
          <a:xfrm xmlns:a="http://schemas.openxmlformats.org/drawingml/2006/main">
            <a:off x="6953250" y="1581150"/>
            <a:ext cx="4552950" cy="4095750"/>
          </a:xfrm>
          <a:prstGeom xmlns:a="http://schemas.openxmlformats.org/drawingml/2006/main" prst="roundRect">
            <a:avLst>
              <a:gd name="adj" fmla="val 4186"/>
            </a:avLst>
          </a:prstGeom>
        </p:spPr>
      </p:pic>
      <p:sp>
        <p:nvSpPr>
          <p:cNvPr id="7" name="">
            <a:extLst xmlns:a="http://schemas.openxmlformats.org/drawingml/2006/main">
              <a:ext uri="{FF2B5EF4-FFF2-40B4-BE49-F238E27FC236}">
                <a16:creationId xmlns:a16="http://schemas.microsoft.com/office/drawing/2014/main" id="{9CE5868F-46DC-43B4-A227-B0041FF54FB2}"/>
              </a:ext>
            </a:extLst>
          </p:cNvPr>
          <p:cNvSpPr>
            <a:spLocks xmlns:a="http://schemas.openxmlformats.org/drawingml/2006/main" noGrp="1"/>
          </p:cNvSpPr>
          <p:nvPr/>
        </p:nvSpPr>
        <p:spPr>
          <a:xfrm xmlns:a="http://schemas.openxmlformats.org/drawingml/2006/main">
            <a:off x="800100" y="18288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8" name="">
            <a:extLst xmlns:a="http://schemas.openxmlformats.org/drawingml/2006/main">
              <a:ext uri="{FF2B5EF4-FFF2-40B4-BE49-F238E27FC236}">
                <a16:creationId xmlns:a16="http://schemas.microsoft.com/office/drawing/2014/main" id="{DDE3AC08-BC1B-4F7E-BA57-CC71AC8A4843}"/>
              </a:ext>
            </a:extLst>
          </p:cNvPr>
          <p:cNvSpPr>
            <a:spLocks xmlns:a="http://schemas.openxmlformats.org/drawingml/2006/main" noGrp="1"/>
          </p:cNvSpPr>
          <p:nvPr/>
        </p:nvSpPr>
        <p:spPr>
          <a:xfrm xmlns:a="http://schemas.openxmlformats.org/drawingml/2006/main">
            <a:off x="1238250" y="18097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201A16"/>
                </a:solidFill>
              </a:defRPr>
            </a:pPr>
            <a:r>
              <a:rPr sz="1875" b="0">
                <a:solidFill>
                  <a:srgbClr val="201A16"/>
                </a:solidFill>
              </a:rPr>
              <a:t>Fanpage và email</a:t>
            </a:r>
          </a:p>
        </p:txBody>
      </p:sp>
      <p:sp>
        <p:nvSpPr>
          <p:cNvPr id="9" name="">
            <a:extLst xmlns:a="http://schemas.openxmlformats.org/drawingml/2006/main">
              <a:ext uri="{FF2B5EF4-FFF2-40B4-BE49-F238E27FC236}">
                <a16:creationId xmlns:a16="http://schemas.microsoft.com/office/drawing/2014/main" id="{0BE2E9DB-3282-43C5-BD68-0303AD6B58FA}"/>
              </a:ext>
            </a:extLst>
          </p:cNvPr>
          <p:cNvSpPr>
            <a:spLocks xmlns:a="http://schemas.openxmlformats.org/drawingml/2006/main" noGrp="1"/>
          </p:cNvSpPr>
          <p:nvPr/>
        </p:nvSpPr>
        <p:spPr>
          <a:xfrm xmlns:a="http://schemas.openxmlformats.org/drawingml/2006/main">
            <a:off x="800100" y="25146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0" name="">
            <a:extLst xmlns:a="http://schemas.openxmlformats.org/drawingml/2006/main">
              <a:ext uri="{FF2B5EF4-FFF2-40B4-BE49-F238E27FC236}">
                <a16:creationId xmlns:a16="http://schemas.microsoft.com/office/drawing/2014/main" id="{52A24E92-F7DF-4C72-A56E-622493794C7E}"/>
              </a:ext>
            </a:extLst>
          </p:cNvPr>
          <p:cNvSpPr>
            <a:spLocks xmlns:a="http://schemas.openxmlformats.org/drawingml/2006/main" noGrp="1"/>
          </p:cNvSpPr>
          <p:nvPr/>
        </p:nvSpPr>
        <p:spPr>
          <a:xfrm xmlns:a="http://schemas.openxmlformats.org/drawingml/2006/main">
            <a:off x="1238250" y="24955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201A16"/>
                </a:solidFill>
              </a:defRPr>
            </a:pPr>
            <a:r>
              <a:rPr sz="1875" b="0">
                <a:solidFill>
                  <a:srgbClr val="201A16"/>
                </a:solidFill>
              </a:rPr>
              <a:t>Google Forms</a:t>
            </a:r>
          </a:p>
        </p:txBody>
      </p:sp>
      <p:sp>
        <p:nvSpPr>
          <p:cNvPr id="11" name="">
            <a:extLst xmlns:a="http://schemas.openxmlformats.org/drawingml/2006/main">
              <a:ext uri="{FF2B5EF4-FFF2-40B4-BE49-F238E27FC236}">
                <a16:creationId xmlns:a16="http://schemas.microsoft.com/office/drawing/2014/main" id="{7A9AA819-3F89-4E51-9E77-F70D7C348260}"/>
              </a:ext>
            </a:extLst>
          </p:cNvPr>
          <p:cNvSpPr>
            <a:spLocks xmlns:a="http://schemas.openxmlformats.org/drawingml/2006/main" noGrp="1"/>
          </p:cNvSpPr>
          <p:nvPr/>
        </p:nvSpPr>
        <p:spPr>
          <a:xfrm xmlns:a="http://schemas.openxmlformats.org/drawingml/2006/main">
            <a:off x="800100" y="32004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19439B71-C7FB-4F09-A0F7-187F28370776}"/>
              </a:ext>
            </a:extLst>
          </p:cNvPr>
          <p:cNvSpPr>
            <a:spLocks xmlns:a="http://schemas.openxmlformats.org/drawingml/2006/main" noGrp="1"/>
          </p:cNvSpPr>
          <p:nvPr/>
        </p:nvSpPr>
        <p:spPr>
          <a:xfrm xmlns:a="http://schemas.openxmlformats.org/drawingml/2006/main">
            <a:off x="1238250" y="31813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201A16"/>
                </a:solidFill>
              </a:defRPr>
            </a:pPr>
            <a:r>
              <a:rPr sz="1875" b="0">
                <a:solidFill>
                  <a:srgbClr val="201A16"/>
                </a:solidFill>
              </a:rPr>
              <a:t>UMTOJ</a:t>
            </a:r>
          </a:p>
        </p:txBody>
      </p:sp>
      <p:sp>
        <p:nvSpPr>
          <p:cNvPr id="13" name="">
            <a:extLst xmlns:a="http://schemas.openxmlformats.org/drawingml/2006/main">
              <a:ext uri="{FF2B5EF4-FFF2-40B4-BE49-F238E27FC236}">
                <a16:creationId xmlns:a16="http://schemas.microsoft.com/office/drawing/2014/main" id="{56F61BFC-6F69-45D8-BAB0-866B582C232C}"/>
              </a:ext>
            </a:extLst>
          </p:cNvPr>
          <p:cNvSpPr>
            <a:spLocks xmlns:a="http://schemas.openxmlformats.org/drawingml/2006/main" noGrp="1"/>
          </p:cNvSpPr>
          <p:nvPr/>
        </p:nvSpPr>
        <p:spPr>
          <a:xfrm xmlns:a="http://schemas.openxmlformats.org/drawingml/2006/main">
            <a:off x="800100" y="38862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4" name="">
            <a:extLst xmlns:a="http://schemas.openxmlformats.org/drawingml/2006/main">
              <a:ext uri="{FF2B5EF4-FFF2-40B4-BE49-F238E27FC236}">
                <a16:creationId xmlns:a16="http://schemas.microsoft.com/office/drawing/2014/main" id="{2C8DB3F7-3FB5-45CF-A1EE-134C126D5E20}"/>
              </a:ext>
            </a:extLst>
          </p:cNvPr>
          <p:cNvSpPr>
            <a:spLocks xmlns:a="http://schemas.openxmlformats.org/drawingml/2006/main" noGrp="1"/>
          </p:cNvSpPr>
          <p:nvPr/>
        </p:nvSpPr>
        <p:spPr>
          <a:xfrm xmlns:a="http://schemas.openxmlformats.org/drawingml/2006/main">
            <a:off x="1238250" y="3867150"/>
            <a:ext cx="4895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201A16"/>
                </a:solidFill>
              </a:defRPr>
            </a:pPr>
            <a:r>
              <a:rPr sz="1875" b="0">
                <a:solidFill>
                  <a:srgbClr val="201A16"/>
                </a:solidFill>
              </a:rPr>
              <a:t>Website từng sự kiện</a:t>
            </a:r>
          </a:p>
        </p:txBody>
      </p:sp>
      <p:sp>
        <p:nvSpPr>
          <p:cNvPr id="15" name="">
            <a:extLst xmlns:a="http://schemas.openxmlformats.org/drawingml/2006/main">
              <a:ext uri="{FF2B5EF4-FFF2-40B4-BE49-F238E27FC236}">
                <a16:creationId xmlns:a16="http://schemas.microsoft.com/office/drawing/2014/main" id="{2A660B91-83A9-4A63-BD3A-9B57DE021604}"/>
              </a:ext>
            </a:extLst>
          </p:cNvPr>
          <p:cNvSpPr>
            <a:spLocks xmlns:a="http://schemas.openxmlformats.org/drawingml/2006/main" noGrp="1"/>
          </p:cNvSpPr>
          <p:nvPr/>
        </p:nvSpPr>
        <p:spPr>
          <a:xfrm xmlns:a="http://schemas.openxmlformats.org/drawingml/2006/main">
            <a:off x="800100" y="4762500"/>
            <a:ext cx="5334000" cy="914400"/>
          </a:xfrm>
          <a:prstGeom xmlns:a="http://schemas.openxmlformats.org/drawingml/2006/main" prst="roundRect">
            <a:avLst>
              <a:gd name="adj" fmla="val 18750"/>
            </a:avLst>
          </a:prstGeom>
          <a:solidFill xmlns:a="http://schemas.openxmlformats.org/drawingml/2006/main">
            <a:srgbClr val="F6DED6"/>
          </a:solidFill>
          <a:ln xmlns:a="http://schemas.openxmlformats.org/drawingml/2006/main" w="9525">
            <a:solidFill>
              <a:srgbClr val="F6DED6"/>
            </a:solidFill>
            <a:prstDash val="solid"/>
          </a:ln>
        </p:spPr>
      </p:sp>
      <p:sp>
        <p:nvSpPr>
          <p:cNvPr id="16" name="">
            <a:extLst xmlns:a="http://schemas.openxmlformats.org/drawingml/2006/main">
              <a:ext uri="{FF2B5EF4-FFF2-40B4-BE49-F238E27FC236}">
                <a16:creationId xmlns:a16="http://schemas.microsoft.com/office/drawing/2014/main" id="{5C898712-4C11-4F7F-84C5-A9E22D5E5D69}"/>
              </a:ext>
            </a:extLst>
          </p:cNvPr>
          <p:cNvSpPr>
            <a:spLocks xmlns:a="http://schemas.openxmlformats.org/drawingml/2006/main" noGrp="1"/>
          </p:cNvSpPr>
          <p:nvPr/>
        </p:nvSpPr>
        <p:spPr>
          <a:xfrm xmlns:a="http://schemas.openxmlformats.org/drawingml/2006/main">
            <a:off x="1066800" y="4914900"/>
            <a:ext cx="4800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841F11"/>
                </a:solidFill>
              </a:defRPr>
            </a:pPr>
            <a:r>
              <a:rPr sz="1725" b="1">
                <a:solidFill>
                  <a:srgbClr val="841F11"/>
                </a:solidFill>
              </a:rPr>
              <a:t>APC Portal trở thành nguồn thông tin chính thức và tập trung.</a:t>
            </a:r>
          </a:p>
        </p:txBody>
      </p:sp>
    </p:spTree>
    <p:extLst>
      <p:ext uri="{BB962C8B-B14F-4D97-AF65-F5344CB8AC3E}">
        <p14:creationId xmlns:p14="http://schemas.microsoft.com/office/powerpoint/2010/main" val="509968857"/>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FA40EEE-3E31-4994-9000-F6D5D860566D}"/>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9CE40C9-21F4-45C5-AD8D-9360513DD772}"/>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APC Portal có ba khu vực sử dụng</a:t>
            </a:r>
          </a:p>
        </p:txBody>
      </p:sp>
      <p:sp>
        <p:nvSpPr>
          <p:cNvPr id="3" name="">
            <a:extLst xmlns:a="http://schemas.openxmlformats.org/drawingml/2006/main">
              <a:ext uri="{FF2B5EF4-FFF2-40B4-BE49-F238E27FC236}">
                <a16:creationId xmlns:a16="http://schemas.microsoft.com/office/drawing/2014/main" id="{5EE466FF-2FAA-48E0-9ACE-7C4EDCE5706F}"/>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CEEECD3A-6AC2-42C7-B4C8-E2217A1F7E45}"/>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F2D88EE8-5D4F-4D34-9B47-99147C88963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04</a:t>
            </a:r>
          </a:p>
        </p:txBody>
      </p:sp>
      <p:sp>
        <p:nvSpPr>
          <p:cNvPr id="6" name="">
            <a:extLst xmlns:a="http://schemas.openxmlformats.org/drawingml/2006/main">
              <a:ext uri="{FF2B5EF4-FFF2-40B4-BE49-F238E27FC236}">
                <a16:creationId xmlns:a16="http://schemas.microsoft.com/office/drawing/2014/main" id="{8AAD8889-63C1-449E-91E0-93A1DB1D7638}"/>
              </a:ext>
            </a:extLst>
          </p:cNvPr>
          <p:cNvSpPr>
            <a:spLocks xmlns:a="http://schemas.openxmlformats.org/drawingml/2006/main" noGrp="1"/>
          </p:cNvSpPr>
          <p:nvPr/>
        </p:nvSpPr>
        <p:spPr>
          <a:xfrm xmlns:a="http://schemas.openxmlformats.org/drawingml/2006/main">
            <a:off x="685800" y="1676400"/>
            <a:ext cx="3162300" cy="3829050"/>
          </a:xfrm>
          <a:prstGeom xmlns:a="http://schemas.openxmlformats.org/drawingml/2006/main" prst="roundRect">
            <a:avLst>
              <a:gd name="adj" fmla="val 7229"/>
            </a:avLst>
          </a:prstGeom>
          <a:solidFill xmlns:a="http://schemas.openxmlformats.org/drawingml/2006/main">
            <a:srgbClr val="F6DED6"/>
          </a:solidFill>
          <a:ln xmlns:a="http://schemas.openxmlformats.org/drawingml/2006/main" w="9525">
            <a:solidFill>
              <a:srgbClr val="F6DED6"/>
            </a:solidFill>
            <a:prstDash val="solid"/>
          </a:ln>
        </p:spPr>
      </p:sp>
      <p:sp>
        <p:nvSpPr>
          <p:cNvPr id="7" name="">
            <a:extLst xmlns:a="http://schemas.openxmlformats.org/drawingml/2006/main">
              <a:ext uri="{FF2B5EF4-FFF2-40B4-BE49-F238E27FC236}">
                <a16:creationId xmlns:a16="http://schemas.microsoft.com/office/drawing/2014/main" id="{D7D75E56-A8FC-42E8-9C35-2C70E68C8E51}"/>
              </a:ext>
            </a:extLst>
          </p:cNvPr>
          <p:cNvSpPr>
            <a:spLocks xmlns:a="http://schemas.openxmlformats.org/drawingml/2006/main" noGrp="1"/>
          </p:cNvSpPr>
          <p:nvPr/>
        </p:nvSpPr>
        <p:spPr>
          <a:xfrm xmlns:a="http://schemas.openxmlformats.org/drawingml/2006/main">
            <a:off x="952500" y="192405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C23B22"/>
                </a:solidFill>
              </a:defRPr>
            </a:pPr>
            <a:r>
              <a:rPr sz="2700" b="1">
                <a:solidFill>
                  <a:srgbClr val="C23B22"/>
                </a:solidFill>
              </a:rPr>
              <a:t>01</a:t>
            </a:r>
          </a:p>
        </p:txBody>
      </p:sp>
      <p:sp>
        <p:nvSpPr>
          <p:cNvPr id="8" name="">
            <a:extLst xmlns:a="http://schemas.openxmlformats.org/drawingml/2006/main">
              <a:ext uri="{FF2B5EF4-FFF2-40B4-BE49-F238E27FC236}">
                <a16:creationId xmlns:a16="http://schemas.microsoft.com/office/drawing/2014/main" id="{AA44749D-D079-4A9D-B84E-2D1319AB84F5}"/>
              </a:ext>
            </a:extLst>
          </p:cNvPr>
          <p:cNvSpPr>
            <a:spLocks xmlns:a="http://schemas.openxmlformats.org/drawingml/2006/main" noGrp="1"/>
          </p:cNvSpPr>
          <p:nvPr/>
        </p:nvSpPr>
        <p:spPr>
          <a:xfrm xmlns:a="http://schemas.openxmlformats.org/drawingml/2006/main">
            <a:off x="952500" y="26479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01A16"/>
                </a:solidFill>
              </a:defRPr>
            </a:pPr>
            <a:r>
              <a:rPr sz="2250" b="1">
                <a:solidFill>
                  <a:srgbClr val="201A16"/>
                </a:solidFill>
              </a:rPr>
              <a:t>Công khai</a:t>
            </a:r>
          </a:p>
        </p:txBody>
      </p:sp>
      <p:sp>
        <p:nvSpPr>
          <p:cNvPr id="9" name="">
            <a:extLst xmlns:a="http://schemas.openxmlformats.org/drawingml/2006/main">
              <a:ext uri="{FF2B5EF4-FFF2-40B4-BE49-F238E27FC236}">
                <a16:creationId xmlns:a16="http://schemas.microsoft.com/office/drawing/2014/main" id="{B0D6362E-5DA1-4B41-86D5-999D0520146E}"/>
              </a:ext>
            </a:extLst>
          </p:cNvPr>
          <p:cNvSpPr>
            <a:spLocks xmlns:a="http://schemas.openxmlformats.org/drawingml/2006/main" noGrp="1"/>
          </p:cNvSpPr>
          <p:nvPr/>
        </p:nvSpPr>
        <p:spPr>
          <a:xfrm xmlns:a="http://schemas.openxmlformats.org/drawingml/2006/main">
            <a:off x="952500" y="33147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B5F55"/>
                </a:solidFill>
              </a:defRPr>
            </a:pPr>
            <a:r>
              <a:rPr sz="1650" b="0">
                <a:solidFill>
                  <a:srgbClr val="6B5F55"/>
                </a:solidFill>
              </a:rPr>
              <a:t>Giới thiệu APC</a:t>
            </a:r>
          </a:p>
          <a:p xmlns:a="http://schemas.openxmlformats.org/drawingml/2006/main">
            <a:pPr algn="l">
              <a:defRPr sz="1650" b="0">
                <a:solidFill>
                  <a:srgbClr val="6B5F55"/>
                </a:solidFill>
              </a:defRPr>
            </a:pPr>
            <a:r>
              <a:rPr sz="1650" b="0">
                <a:solidFill>
                  <a:srgbClr val="6B5F55"/>
                </a:solidFill>
              </a:rPr>
              <a:t>Tin tức • Sự kiện</a:t>
            </a:r>
          </a:p>
          <a:p xmlns:a="http://schemas.openxmlformats.org/drawingml/2006/main">
            <a:pPr algn="l">
              <a:defRPr sz="1650" b="0">
                <a:solidFill>
                  <a:srgbClr val="6B5F55"/>
                </a:solidFill>
              </a:defRPr>
            </a:pPr>
            <a:r>
              <a:rPr sz="1650" b="0">
                <a:solidFill>
                  <a:srgbClr val="6B5F55"/>
                </a:solidFill>
              </a:rPr>
              <a:t>Dự án • Gia nhập</a:t>
            </a:r>
          </a:p>
        </p:txBody>
      </p:sp>
      <p:sp>
        <p:nvSpPr>
          <p:cNvPr id="10" name="">
            <a:extLst xmlns:a="http://schemas.openxmlformats.org/drawingml/2006/main">
              <a:ext uri="{FF2B5EF4-FFF2-40B4-BE49-F238E27FC236}">
                <a16:creationId xmlns:a16="http://schemas.microsoft.com/office/drawing/2014/main" id="{46ECBF4E-EFA1-4DDD-AC5E-8CDBCC72DB3D}"/>
              </a:ext>
            </a:extLst>
          </p:cNvPr>
          <p:cNvSpPr>
            <a:spLocks xmlns:a="http://schemas.openxmlformats.org/drawingml/2006/main" noGrp="1"/>
          </p:cNvSpPr>
          <p:nvPr/>
        </p:nvSpPr>
        <p:spPr>
          <a:xfrm xmlns:a="http://schemas.openxmlformats.org/drawingml/2006/main">
            <a:off x="4286250" y="1676400"/>
            <a:ext cx="3162300" cy="3829050"/>
          </a:xfrm>
          <a:prstGeom xmlns:a="http://schemas.openxmlformats.org/drawingml/2006/main" prst="roundRect">
            <a:avLst>
              <a:gd name="adj" fmla="val 7229"/>
            </a:avLst>
          </a:prstGeom>
          <a:solidFill xmlns:a="http://schemas.openxmlformats.org/drawingml/2006/main">
            <a:srgbClr val="DCEAFB"/>
          </a:solidFill>
          <a:ln xmlns:a="http://schemas.openxmlformats.org/drawingml/2006/main" w="9525">
            <a:solidFill>
              <a:srgbClr val="DCEAFB"/>
            </a:solidFill>
            <a:prstDash val="solid"/>
          </a:ln>
        </p:spPr>
      </p:sp>
      <p:sp>
        <p:nvSpPr>
          <p:cNvPr id="11" name="">
            <a:extLst xmlns:a="http://schemas.openxmlformats.org/drawingml/2006/main">
              <a:ext uri="{FF2B5EF4-FFF2-40B4-BE49-F238E27FC236}">
                <a16:creationId xmlns:a16="http://schemas.microsoft.com/office/drawing/2014/main" id="{7EB98A32-44AB-474F-8893-05F0C828E4CD}"/>
              </a:ext>
            </a:extLst>
          </p:cNvPr>
          <p:cNvSpPr>
            <a:spLocks xmlns:a="http://schemas.openxmlformats.org/drawingml/2006/main" noGrp="1"/>
          </p:cNvSpPr>
          <p:nvPr/>
        </p:nvSpPr>
        <p:spPr>
          <a:xfrm xmlns:a="http://schemas.openxmlformats.org/drawingml/2006/main">
            <a:off x="4552950" y="192405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568C9"/>
                </a:solidFill>
              </a:defRPr>
            </a:pPr>
            <a:r>
              <a:rPr sz="2700" b="1">
                <a:solidFill>
                  <a:srgbClr val="1568C9"/>
                </a:solidFill>
              </a:rPr>
              <a:t>02</a:t>
            </a:r>
          </a:p>
        </p:txBody>
      </p:sp>
      <p:sp>
        <p:nvSpPr>
          <p:cNvPr id="12" name="">
            <a:extLst xmlns:a="http://schemas.openxmlformats.org/drawingml/2006/main">
              <a:ext uri="{FF2B5EF4-FFF2-40B4-BE49-F238E27FC236}">
                <a16:creationId xmlns:a16="http://schemas.microsoft.com/office/drawing/2014/main" id="{DFF5907F-EBF7-4BF3-BACA-B4F0F809B941}"/>
              </a:ext>
            </a:extLst>
          </p:cNvPr>
          <p:cNvSpPr>
            <a:spLocks xmlns:a="http://schemas.openxmlformats.org/drawingml/2006/main" noGrp="1"/>
          </p:cNvSpPr>
          <p:nvPr/>
        </p:nvSpPr>
        <p:spPr>
          <a:xfrm xmlns:a="http://schemas.openxmlformats.org/drawingml/2006/main">
            <a:off x="4552950" y="26479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01A16"/>
                </a:solidFill>
              </a:defRPr>
            </a:pPr>
            <a:r>
              <a:rPr sz="2250" b="1">
                <a:solidFill>
                  <a:srgbClr val="201A16"/>
                </a:solidFill>
              </a:rPr>
              <a:t>Thành viên</a:t>
            </a:r>
          </a:p>
        </p:txBody>
      </p:sp>
      <p:sp>
        <p:nvSpPr>
          <p:cNvPr id="13" name="">
            <a:extLst xmlns:a="http://schemas.openxmlformats.org/drawingml/2006/main">
              <a:ext uri="{FF2B5EF4-FFF2-40B4-BE49-F238E27FC236}">
                <a16:creationId xmlns:a16="http://schemas.microsoft.com/office/drawing/2014/main" id="{7D14767A-6E09-457C-A3CB-2D2A2A880D88}"/>
              </a:ext>
            </a:extLst>
          </p:cNvPr>
          <p:cNvSpPr>
            <a:spLocks xmlns:a="http://schemas.openxmlformats.org/drawingml/2006/main" noGrp="1"/>
          </p:cNvSpPr>
          <p:nvPr/>
        </p:nvSpPr>
        <p:spPr>
          <a:xfrm xmlns:a="http://schemas.openxmlformats.org/drawingml/2006/main">
            <a:off x="4552950" y="33147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B5F55"/>
                </a:solidFill>
              </a:defRPr>
            </a:pPr>
            <a:r>
              <a:rPr sz="1650" b="0">
                <a:solidFill>
                  <a:srgbClr val="6B5F55"/>
                </a:solidFill>
              </a:rPr>
              <a:t>Hồ sơ cá nhân</a:t>
            </a:r>
          </a:p>
          <a:p xmlns:a="http://schemas.openxmlformats.org/drawingml/2006/main">
            <a:pPr algn="l">
              <a:defRPr sz="1650" b="0">
                <a:solidFill>
                  <a:srgbClr val="6B5F55"/>
                </a:solidFill>
              </a:defRPr>
            </a:pPr>
            <a:r>
              <a:rPr sz="1650" b="0">
                <a:solidFill>
                  <a:srgbClr val="6B5F55"/>
                </a:solidFill>
              </a:rPr>
              <a:t>Lịch hoạt động</a:t>
            </a:r>
          </a:p>
          <a:p xmlns:a="http://schemas.openxmlformats.org/drawingml/2006/main">
            <a:pPr algn="l">
              <a:defRPr sz="1650" b="0">
                <a:solidFill>
                  <a:srgbClr val="6B5F55"/>
                </a:solidFill>
              </a:defRPr>
            </a:pPr>
            <a:r>
              <a:rPr sz="1650" b="0">
                <a:solidFill>
                  <a:srgbClr val="6B5F55"/>
                </a:solidFill>
              </a:rPr>
              <a:t>Tài liệu nội bộ</a:t>
            </a:r>
          </a:p>
        </p:txBody>
      </p:sp>
      <p:sp>
        <p:nvSpPr>
          <p:cNvPr id="14" name="">
            <a:extLst xmlns:a="http://schemas.openxmlformats.org/drawingml/2006/main">
              <a:ext uri="{FF2B5EF4-FFF2-40B4-BE49-F238E27FC236}">
                <a16:creationId xmlns:a16="http://schemas.microsoft.com/office/drawing/2014/main" id="{03999E88-F53C-42B8-B0D6-D39813AE0930}"/>
              </a:ext>
            </a:extLst>
          </p:cNvPr>
          <p:cNvSpPr>
            <a:spLocks xmlns:a="http://schemas.openxmlformats.org/drawingml/2006/main" noGrp="1"/>
          </p:cNvSpPr>
          <p:nvPr/>
        </p:nvSpPr>
        <p:spPr>
          <a:xfrm xmlns:a="http://schemas.openxmlformats.org/drawingml/2006/main">
            <a:off x="7886700" y="1676400"/>
            <a:ext cx="3162300" cy="3829050"/>
          </a:xfrm>
          <a:prstGeom xmlns:a="http://schemas.openxmlformats.org/drawingml/2006/main" prst="roundRect">
            <a:avLst>
              <a:gd name="adj" fmla="val 7229"/>
            </a:avLst>
          </a:prstGeom>
          <a:solidFill xmlns:a="http://schemas.openxmlformats.org/drawingml/2006/main">
            <a:srgbClr val="FCEACA"/>
          </a:solidFill>
          <a:ln xmlns:a="http://schemas.openxmlformats.org/drawingml/2006/main" w="9525">
            <a:solidFill>
              <a:srgbClr val="FCEACA"/>
            </a:solidFill>
            <a:prstDash val="solid"/>
          </a:ln>
        </p:spPr>
      </p:sp>
      <p:sp>
        <p:nvSpPr>
          <p:cNvPr id="15" name="">
            <a:extLst xmlns:a="http://schemas.openxmlformats.org/drawingml/2006/main">
              <a:ext uri="{FF2B5EF4-FFF2-40B4-BE49-F238E27FC236}">
                <a16:creationId xmlns:a16="http://schemas.microsoft.com/office/drawing/2014/main" id="{C25A6D36-BC5B-4481-B077-2EEBCB1168EB}"/>
              </a:ext>
            </a:extLst>
          </p:cNvPr>
          <p:cNvSpPr>
            <a:spLocks xmlns:a="http://schemas.openxmlformats.org/drawingml/2006/main" noGrp="1"/>
          </p:cNvSpPr>
          <p:nvPr/>
        </p:nvSpPr>
        <p:spPr>
          <a:xfrm xmlns:a="http://schemas.openxmlformats.org/drawingml/2006/main">
            <a:off x="8153400" y="192405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F0A202"/>
                </a:solidFill>
              </a:defRPr>
            </a:pPr>
            <a:r>
              <a:rPr sz="2700" b="1">
                <a:solidFill>
                  <a:srgbClr val="F0A202"/>
                </a:solidFill>
              </a:rPr>
              <a:t>03</a:t>
            </a:r>
          </a:p>
        </p:txBody>
      </p:sp>
      <p:sp>
        <p:nvSpPr>
          <p:cNvPr id="16" name="">
            <a:extLst xmlns:a="http://schemas.openxmlformats.org/drawingml/2006/main">
              <a:ext uri="{FF2B5EF4-FFF2-40B4-BE49-F238E27FC236}">
                <a16:creationId xmlns:a16="http://schemas.microsoft.com/office/drawing/2014/main" id="{6D1F816F-7BD0-4707-A0F7-E867DEC86412}"/>
              </a:ext>
            </a:extLst>
          </p:cNvPr>
          <p:cNvSpPr>
            <a:spLocks xmlns:a="http://schemas.openxmlformats.org/drawingml/2006/main" noGrp="1"/>
          </p:cNvSpPr>
          <p:nvPr/>
        </p:nvSpPr>
        <p:spPr>
          <a:xfrm xmlns:a="http://schemas.openxmlformats.org/drawingml/2006/main">
            <a:off x="8153400" y="26479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01A16"/>
                </a:solidFill>
              </a:defRPr>
            </a:pPr>
            <a:r>
              <a:rPr sz="2250" b="1">
                <a:solidFill>
                  <a:srgbClr val="201A16"/>
                </a:solidFill>
              </a:rPr>
              <a:t>Quản trị</a:t>
            </a:r>
          </a:p>
        </p:txBody>
      </p:sp>
      <p:sp>
        <p:nvSpPr>
          <p:cNvPr id="17" name="">
            <a:extLst xmlns:a="http://schemas.openxmlformats.org/drawingml/2006/main">
              <a:ext uri="{FF2B5EF4-FFF2-40B4-BE49-F238E27FC236}">
                <a16:creationId xmlns:a16="http://schemas.microsoft.com/office/drawing/2014/main" id="{BCA66042-4BA6-49DE-B1B8-E4E57C657270}"/>
              </a:ext>
            </a:extLst>
          </p:cNvPr>
          <p:cNvSpPr>
            <a:spLocks xmlns:a="http://schemas.openxmlformats.org/drawingml/2006/main" noGrp="1"/>
          </p:cNvSpPr>
          <p:nvPr/>
        </p:nvSpPr>
        <p:spPr>
          <a:xfrm xmlns:a="http://schemas.openxmlformats.org/drawingml/2006/main">
            <a:off x="8153400" y="33147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B5F55"/>
                </a:solidFill>
              </a:defRPr>
            </a:pPr>
            <a:r>
              <a:rPr sz="1650" b="0">
                <a:solidFill>
                  <a:srgbClr val="6B5F55"/>
                </a:solidFill>
              </a:rPr>
              <a:t>Nội dung • Tuyển</a:t>
            </a:r>
          </a:p>
          <a:p xmlns:a="http://schemas.openxmlformats.org/drawingml/2006/main">
            <a:pPr algn="l">
              <a:defRPr sz="1650" b="0">
                <a:solidFill>
                  <a:srgbClr val="6B5F55"/>
                </a:solidFill>
              </a:defRPr>
            </a:pPr>
            <a:r>
              <a:rPr sz="1650" b="0">
                <a:solidFill>
                  <a:srgbClr val="6B5F55"/>
                </a:solidFill>
              </a:rPr>
              <a:t>Thành viên • Quyền</a:t>
            </a:r>
          </a:p>
          <a:p xmlns:a="http://schemas.openxmlformats.org/drawingml/2006/main">
            <a:pPr algn="l">
              <a:defRPr sz="1650" b="0">
                <a:solidFill>
                  <a:srgbClr val="6B5F55"/>
                </a:solidFill>
              </a:defRPr>
            </a:pPr>
            <a:r>
              <a:rPr sz="1650" b="0">
                <a:solidFill>
                  <a:srgbClr val="6B5F55"/>
                </a:solidFill>
              </a:rPr>
              <a:t>Theo dõi vận hành</a:t>
            </a:r>
          </a:p>
        </p:txBody>
      </p:sp>
    </p:spTree>
    <p:extLst>
      <p:ext uri="{BB962C8B-B14F-4D97-AF65-F5344CB8AC3E}">
        <p14:creationId xmlns:p14="http://schemas.microsoft.com/office/powerpoint/2010/main" val="1871753286"/>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78F5683-B301-4380-8233-B634D5A225F1}"/>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1704FBA3-D17F-44E0-A095-818C7A0E2EAC}"/>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Tài liệu mô tả full MVP; kế hoạch 15/10 chỉ làm một phần</a:t>
            </a:r>
          </a:p>
        </p:txBody>
      </p:sp>
      <p:sp>
        <p:nvSpPr>
          <p:cNvPr id="3" name="">
            <a:extLst xmlns:a="http://schemas.openxmlformats.org/drawingml/2006/main">
              <a:ext uri="{FF2B5EF4-FFF2-40B4-BE49-F238E27FC236}">
                <a16:creationId xmlns:a16="http://schemas.microsoft.com/office/drawing/2014/main" id="{40D8FA48-D0D6-4B99-B01F-88E224BFA201}"/>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2053152E-E93E-4062-9A1D-C1CCE741B0EA}"/>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02964798-6D3D-447A-8A4E-230A2044683F}"/>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05</a:t>
            </a:r>
          </a:p>
        </p:txBody>
      </p:sp>
      <p:sp>
        <p:nvSpPr>
          <p:cNvPr id="6" name="">
            <a:extLst xmlns:a="http://schemas.openxmlformats.org/drawingml/2006/main">
              <a:ext uri="{FF2B5EF4-FFF2-40B4-BE49-F238E27FC236}">
                <a16:creationId xmlns:a16="http://schemas.microsoft.com/office/drawing/2014/main" id="{05BD7732-71F5-4956-80FD-79A65228BAA7}"/>
              </a:ext>
            </a:extLst>
          </p:cNvPr>
          <p:cNvSpPr>
            <a:spLocks xmlns:a="http://schemas.openxmlformats.org/drawingml/2006/main" noGrp="1"/>
          </p:cNvSpPr>
          <p:nvPr/>
        </p:nvSpPr>
        <p:spPr>
          <a:xfrm xmlns:a="http://schemas.openxmlformats.org/drawingml/2006/main">
            <a:off x="685800" y="1657350"/>
            <a:ext cx="4953000" cy="3943350"/>
          </a:xfrm>
          <a:prstGeom xmlns:a="http://schemas.openxmlformats.org/drawingml/2006/main" prst="roundRect">
            <a:avLst>
              <a:gd name="adj" fmla="val 5797"/>
            </a:avLst>
          </a:prstGeom>
          <a:solidFill xmlns:a="http://schemas.openxmlformats.org/drawingml/2006/main">
            <a:srgbClr val="F1ECE5"/>
          </a:solidFill>
          <a:ln xmlns:a="http://schemas.openxmlformats.org/drawingml/2006/main" w="9525">
            <a:solidFill>
              <a:srgbClr val="F1ECE5"/>
            </a:solidFill>
            <a:prstDash val="solid"/>
          </a:ln>
        </p:spPr>
      </p:sp>
      <p:sp>
        <p:nvSpPr>
          <p:cNvPr id="7" name="">
            <a:extLst xmlns:a="http://schemas.openxmlformats.org/drawingml/2006/main">
              <a:ext uri="{FF2B5EF4-FFF2-40B4-BE49-F238E27FC236}">
                <a16:creationId xmlns:a16="http://schemas.microsoft.com/office/drawing/2014/main" id="{E52A858A-7C01-4132-B600-AC7C25129EF8}"/>
              </a:ext>
            </a:extLst>
          </p:cNvPr>
          <p:cNvSpPr>
            <a:spLocks xmlns:a="http://schemas.openxmlformats.org/drawingml/2006/main" noGrp="1"/>
          </p:cNvSpPr>
          <p:nvPr/>
        </p:nvSpPr>
        <p:spPr>
          <a:xfrm xmlns:a="http://schemas.openxmlformats.org/drawingml/2006/main">
            <a:off x="990600" y="19240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568C9"/>
                </a:solidFill>
              </a:defRPr>
            </a:pPr>
            <a:r>
              <a:rPr sz="1050" b="1">
                <a:solidFill>
                  <a:srgbClr val="1568C9"/>
                </a:solidFill>
              </a:rPr>
              <a:t>TẦM NHÌN MVP</a:t>
            </a:r>
          </a:p>
        </p:txBody>
      </p:sp>
      <p:sp>
        <p:nvSpPr>
          <p:cNvPr id="8" name="">
            <a:extLst xmlns:a="http://schemas.openxmlformats.org/drawingml/2006/main">
              <a:ext uri="{FF2B5EF4-FFF2-40B4-BE49-F238E27FC236}">
                <a16:creationId xmlns:a16="http://schemas.microsoft.com/office/drawing/2014/main" id="{86F9160D-E96C-485C-8193-AF86D454A716}"/>
              </a:ext>
            </a:extLst>
          </p:cNvPr>
          <p:cNvSpPr>
            <a:spLocks xmlns:a="http://schemas.openxmlformats.org/drawingml/2006/main" noGrp="1"/>
          </p:cNvSpPr>
          <p:nvPr/>
        </p:nvSpPr>
        <p:spPr>
          <a:xfrm xmlns:a="http://schemas.openxmlformats.org/drawingml/2006/main">
            <a:off x="990600" y="2381250"/>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201A16"/>
                </a:solidFill>
              </a:defRPr>
            </a:pPr>
            <a:r>
              <a:rPr sz="2250" b="1">
                <a:solidFill>
                  <a:srgbClr val="201A16"/>
                </a:solidFill>
              </a:rPr>
              <a:t>Portal công khai + thành viên + quản trị</a:t>
            </a:r>
          </a:p>
        </p:txBody>
      </p:sp>
      <p:sp>
        <p:nvSpPr>
          <p:cNvPr id="9" name="">
            <a:extLst xmlns:a="http://schemas.openxmlformats.org/drawingml/2006/main">
              <a:ext uri="{FF2B5EF4-FFF2-40B4-BE49-F238E27FC236}">
                <a16:creationId xmlns:a16="http://schemas.microsoft.com/office/drawing/2014/main" id="{F4D9F4F9-835A-4A89-8BA0-0FA6BE54BEBF}"/>
              </a:ext>
            </a:extLst>
          </p:cNvPr>
          <p:cNvSpPr>
            <a:spLocks xmlns:a="http://schemas.openxmlformats.org/drawingml/2006/main" noGrp="1"/>
          </p:cNvSpPr>
          <p:nvPr/>
        </p:nvSpPr>
        <p:spPr>
          <a:xfrm xmlns:a="http://schemas.openxmlformats.org/drawingml/2006/main">
            <a:off x="990600" y="344805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0" name="">
            <a:extLst xmlns:a="http://schemas.openxmlformats.org/drawingml/2006/main">
              <a:ext uri="{FF2B5EF4-FFF2-40B4-BE49-F238E27FC236}">
                <a16:creationId xmlns:a16="http://schemas.microsoft.com/office/drawing/2014/main" id="{F2617FE0-D4CE-46F9-B641-56F55D80FD2E}"/>
              </a:ext>
            </a:extLst>
          </p:cNvPr>
          <p:cNvSpPr>
            <a:spLocks xmlns:a="http://schemas.openxmlformats.org/drawingml/2006/main" noGrp="1"/>
          </p:cNvSpPr>
          <p:nvPr/>
        </p:nvSpPr>
        <p:spPr>
          <a:xfrm xmlns:a="http://schemas.openxmlformats.org/drawingml/2006/main">
            <a:off x="1428750" y="3429000"/>
            <a:ext cx="3752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Hồ sơ và tài liệu thành viên</a:t>
            </a:r>
          </a:p>
        </p:txBody>
      </p:sp>
      <p:sp>
        <p:nvSpPr>
          <p:cNvPr id="11" name="">
            <a:extLst xmlns:a="http://schemas.openxmlformats.org/drawingml/2006/main">
              <a:ext uri="{FF2B5EF4-FFF2-40B4-BE49-F238E27FC236}">
                <a16:creationId xmlns:a16="http://schemas.microsoft.com/office/drawing/2014/main" id="{4370F1F4-563E-459D-9448-0D7C7210A84B}"/>
              </a:ext>
            </a:extLst>
          </p:cNvPr>
          <p:cNvSpPr>
            <a:spLocks xmlns:a="http://schemas.openxmlformats.org/drawingml/2006/main" noGrp="1"/>
          </p:cNvSpPr>
          <p:nvPr/>
        </p:nvSpPr>
        <p:spPr>
          <a:xfrm xmlns:a="http://schemas.openxmlformats.org/drawingml/2006/main">
            <a:off x="990600" y="40005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16ED7D0C-7A6D-41C9-8224-8D509CB9428D}"/>
              </a:ext>
            </a:extLst>
          </p:cNvPr>
          <p:cNvSpPr>
            <a:spLocks xmlns:a="http://schemas.openxmlformats.org/drawingml/2006/main" noGrp="1"/>
          </p:cNvSpPr>
          <p:nvPr/>
        </p:nvSpPr>
        <p:spPr>
          <a:xfrm xmlns:a="http://schemas.openxmlformats.org/drawingml/2006/main">
            <a:off x="1428750" y="3981450"/>
            <a:ext cx="3752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Đăng ký, điểm danh sự kiện</a:t>
            </a:r>
          </a:p>
        </p:txBody>
      </p:sp>
      <p:sp>
        <p:nvSpPr>
          <p:cNvPr id="13" name="">
            <a:extLst xmlns:a="http://schemas.openxmlformats.org/drawingml/2006/main">
              <a:ext uri="{FF2B5EF4-FFF2-40B4-BE49-F238E27FC236}">
                <a16:creationId xmlns:a16="http://schemas.microsoft.com/office/drawing/2014/main" id="{DDDB0A39-2FEE-4310-BA10-202A03C2D93A}"/>
              </a:ext>
            </a:extLst>
          </p:cNvPr>
          <p:cNvSpPr>
            <a:spLocks xmlns:a="http://schemas.openxmlformats.org/drawingml/2006/main" noGrp="1"/>
          </p:cNvSpPr>
          <p:nvPr/>
        </p:nvSpPr>
        <p:spPr>
          <a:xfrm xmlns:a="http://schemas.openxmlformats.org/drawingml/2006/main">
            <a:off x="990600" y="455295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4" name="">
            <a:extLst xmlns:a="http://schemas.openxmlformats.org/drawingml/2006/main">
              <a:ext uri="{FF2B5EF4-FFF2-40B4-BE49-F238E27FC236}">
                <a16:creationId xmlns:a16="http://schemas.microsoft.com/office/drawing/2014/main" id="{7CE5A2E6-8CE4-47DB-8A4D-828FEB526E80}"/>
              </a:ext>
            </a:extLst>
          </p:cNvPr>
          <p:cNvSpPr>
            <a:spLocks xmlns:a="http://schemas.openxmlformats.org/drawingml/2006/main" noGrp="1"/>
          </p:cNvSpPr>
          <p:nvPr/>
        </p:nvSpPr>
        <p:spPr>
          <a:xfrm xmlns:a="http://schemas.openxmlformats.org/drawingml/2006/main">
            <a:off x="1428750" y="4533900"/>
            <a:ext cx="3752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Audit và vòng đời dữ liệu</a:t>
            </a:r>
          </a:p>
        </p:txBody>
      </p:sp>
      <p:sp>
        <p:nvSpPr>
          <p:cNvPr id="15" name="">
            <a:extLst xmlns:a="http://schemas.openxmlformats.org/drawingml/2006/main">
              <a:ext uri="{FF2B5EF4-FFF2-40B4-BE49-F238E27FC236}">
                <a16:creationId xmlns:a16="http://schemas.microsoft.com/office/drawing/2014/main" id="{D7F6EC34-CE61-4B8A-A052-C9D078CA24D4}"/>
              </a:ext>
            </a:extLst>
          </p:cNvPr>
          <p:cNvSpPr>
            <a:spLocks xmlns:a="http://schemas.openxmlformats.org/drawingml/2006/main" noGrp="1"/>
          </p:cNvSpPr>
          <p:nvPr/>
        </p:nvSpPr>
        <p:spPr>
          <a:xfrm xmlns:a="http://schemas.openxmlformats.org/drawingml/2006/main">
            <a:off x="6019800" y="1657350"/>
            <a:ext cx="5486400" cy="3943350"/>
          </a:xfrm>
          <a:prstGeom xmlns:a="http://schemas.openxmlformats.org/drawingml/2006/main" prst="roundRect">
            <a:avLst>
              <a:gd name="adj" fmla="val 5797"/>
            </a:avLst>
          </a:prstGeom>
          <a:solidFill xmlns:a="http://schemas.openxmlformats.org/drawingml/2006/main">
            <a:srgbClr val="F6DED6"/>
          </a:solidFill>
          <a:ln xmlns:a="http://schemas.openxmlformats.org/drawingml/2006/main" w="9525">
            <a:solidFill>
              <a:srgbClr val="F6DED6"/>
            </a:solidFill>
            <a:prstDash val="solid"/>
          </a:ln>
        </p:spPr>
      </p:sp>
      <p:sp>
        <p:nvSpPr>
          <p:cNvPr id="16" name="">
            <a:extLst xmlns:a="http://schemas.openxmlformats.org/drawingml/2006/main">
              <a:ext uri="{FF2B5EF4-FFF2-40B4-BE49-F238E27FC236}">
                <a16:creationId xmlns:a16="http://schemas.microsoft.com/office/drawing/2014/main" id="{FB7FF4AD-1174-4068-BDD9-E8D3B0604D07}"/>
              </a:ext>
            </a:extLst>
          </p:cNvPr>
          <p:cNvSpPr>
            <a:spLocks xmlns:a="http://schemas.openxmlformats.org/drawingml/2006/main" noGrp="1"/>
          </p:cNvSpPr>
          <p:nvPr/>
        </p:nvSpPr>
        <p:spPr>
          <a:xfrm xmlns:a="http://schemas.openxmlformats.org/drawingml/2006/main">
            <a:off x="6324600" y="19240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01/09–15/10/2026</a:t>
            </a:r>
          </a:p>
        </p:txBody>
      </p:sp>
      <p:sp>
        <p:nvSpPr>
          <p:cNvPr id="17" name="">
            <a:extLst xmlns:a="http://schemas.openxmlformats.org/drawingml/2006/main">
              <a:ext uri="{FF2B5EF4-FFF2-40B4-BE49-F238E27FC236}">
                <a16:creationId xmlns:a16="http://schemas.microsoft.com/office/drawing/2014/main" id="{C05DA1E1-A572-4C4E-825D-69DF7A7E6B16}"/>
              </a:ext>
            </a:extLst>
          </p:cNvPr>
          <p:cNvSpPr>
            <a:spLocks xmlns:a="http://schemas.openxmlformats.org/drawingml/2006/main" noGrp="1"/>
          </p:cNvSpPr>
          <p:nvPr/>
        </p:nvSpPr>
        <p:spPr>
          <a:xfrm xmlns:a="http://schemas.openxmlformats.org/drawingml/2006/main">
            <a:off x="6324600" y="2381250"/>
            <a:ext cx="4629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201A16"/>
                </a:solidFill>
              </a:defRPr>
            </a:pPr>
            <a:r>
              <a:rPr sz="2250" b="1">
                <a:solidFill>
                  <a:srgbClr val="201A16"/>
                </a:solidFill>
              </a:rPr>
              <a:t>Nền tảng + nội dung công khai + tuyển</a:t>
            </a:r>
          </a:p>
        </p:txBody>
      </p:sp>
      <p:sp>
        <p:nvSpPr>
          <p:cNvPr id="18" name="">
            <a:extLst xmlns:a="http://schemas.openxmlformats.org/drawingml/2006/main">
              <a:ext uri="{FF2B5EF4-FFF2-40B4-BE49-F238E27FC236}">
                <a16:creationId xmlns:a16="http://schemas.microsoft.com/office/drawing/2014/main" id="{CBBD048C-7AB8-4C1A-9F97-60D5AE9D99A7}"/>
              </a:ext>
            </a:extLst>
          </p:cNvPr>
          <p:cNvSpPr>
            <a:spLocks xmlns:a="http://schemas.openxmlformats.org/drawingml/2006/main" noGrp="1"/>
          </p:cNvSpPr>
          <p:nvPr/>
        </p:nvSpPr>
        <p:spPr>
          <a:xfrm xmlns:a="http://schemas.openxmlformats.org/drawingml/2006/main">
            <a:off x="6324600" y="344805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9" name="">
            <a:extLst xmlns:a="http://schemas.openxmlformats.org/drawingml/2006/main">
              <a:ext uri="{FF2B5EF4-FFF2-40B4-BE49-F238E27FC236}">
                <a16:creationId xmlns:a16="http://schemas.microsoft.com/office/drawing/2014/main" id="{C3D330DA-4060-427A-94AB-1E7DD7E5EB74}"/>
              </a:ext>
            </a:extLst>
          </p:cNvPr>
          <p:cNvSpPr>
            <a:spLocks xmlns:a="http://schemas.openxmlformats.org/drawingml/2006/main" noGrp="1"/>
          </p:cNvSpPr>
          <p:nvPr/>
        </p:nvSpPr>
        <p:spPr>
          <a:xfrm xmlns:a="http://schemas.openxmlformats.org/drawingml/2006/main">
            <a:off x="6762750" y="34290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Database, auth và phân quyền</a:t>
            </a:r>
          </a:p>
        </p:txBody>
      </p:sp>
      <p:sp>
        <p:nvSpPr>
          <p:cNvPr id="20" name="">
            <a:extLst xmlns:a="http://schemas.openxmlformats.org/drawingml/2006/main">
              <a:ext uri="{FF2B5EF4-FFF2-40B4-BE49-F238E27FC236}">
                <a16:creationId xmlns:a16="http://schemas.microsoft.com/office/drawing/2014/main" id="{C908801E-635A-4228-8DA0-3DD6E9D34937}"/>
              </a:ext>
            </a:extLst>
          </p:cNvPr>
          <p:cNvSpPr>
            <a:spLocks xmlns:a="http://schemas.openxmlformats.org/drawingml/2006/main" noGrp="1"/>
          </p:cNvSpPr>
          <p:nvPr/>
        </p:nvSpPr>
        <p:spPr>
          <a:xfrm xmlns:a="http://schemas.openxmlformats.org/drawingml/2006/main">
            <a:off x="6324600" y="40005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1" name="">
            <a:extLst xmlns:a="http://schemas.openxmlformats.org/drawingml/2006/main">
              <a:ext uri="{FF2B5EF4-FFF2-40B4-BE49-F238E27FC236}">
                <a16:creationId xmlns:a16="http://schemas.microsoft.com/office/drawing/2014/main" id="{3FA740CA-286D-4442-8A94-64F98E5274F4}"/>
              </a:ext>
            </a:extLst>
          </p:cNvPr>
          <p:cNvSpPr>
            <a:spLocks xmlns:a="http://schemas.openxmlformats.org/drawingml/2006/main" noGrp="1"/>
          </p:cNvSpPr>
          <p:nvPr/>
        </p:nvSpPr>
        <p:spPr>
          <a:xfrm xmlns:a="http://schemas.openxmlformats.org/drawingml/2006/main">
            <a:off x="6762750" y="39814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Tin tức, sự kiện, dự án</a:t>
            </a:r>
          </a:p>
        </p:txBody>
      </p:sp>
      <p:sp>
        <p:nvSpPr>
          <p:cNvPr id="22" name="">
            <a:extLst xmlns:a="http://schemas.openxmlformats.org/drawingml/2006/main">
              <a:ext uri="{FF2B5EF4-FFF2-40B4-BE49-F238E27FC236}">
                <a16:creationId xmlns:a16="http://schemas.microsoft.com/office/drawing/2014/main" id="{B1E15D7C-58B3-4F68-8006-87F2BD894589}"/>
              </a:ext>
            </a:extLst>
          </p:cNvPr>
          <p:cNvSpPr>
            <a:spLocks xmlns:a="http://schemas.openxmlformats.org/drawingml/2006/main" noGrp="1"/>
          </p:cNvSpPr>
          <p:nvPr/>
        </p:nvSpPr>
        <p:spPr>
          <a:xfrm xmlns:a="http://schemas.openxmlformats.org/drawingml/2006/main">
            <a:off x="6324600" y="455295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3" name="">
            <a:extLst xmlns:a="http://schemas.openxmlformats.org/drawingml/2006/main">
              <a:ext uri="{FF2B5EF4-FFF2-40B4-BE49-F238E27FC236}">
                <a16:creationId xmlns:a16="http://schemas.microsoft.com/office/drawing/2014/main" id="{4E6171B3-74B9-4507-A6B3-BF6AB741AA14}"/>
              </a:ext>
            </a:extLst>
          </p:cNvPr>
          <p:cNvSpPr>
            <a:spLocks xmlns:a="http://schemas.openxmlformats.org/drawingml/2006/main" noGrp="1"/>
          </p:cNvSpPr>
          <p:nvPr/>
        </p:nvSpPr>
        <p:spPr>
          <a:xfrm xmlns:a="http://schemas.openxmlformats.org/drawingml/2006/main">
            <a:off x="6762750" y="45339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Form gia nhập và CMS admin</a:t>
            </a:r>
          </a:p>
        </p:txBody>
      </p:sp>
    </p:spTree>
    <p:extLst>
      <p:ext uri="{BB962C8B-B14F-4D97-AF65-F5344CB8AC3E}">
        <p14:creationId xmlns:p14="http://schemas.microsoft.com/office/powerpoint/2010/main" val="988927893"/>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CEE815-2674-4EB5-92D1-DA4F55F1E7A1}"/>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59FF5315-EE03-4971-8CBE-F602DC3694D3}"/>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Chúng ta không bắt đầu từ số 0</a:t>
            </a:r>
          </a:p>
        </p:txBody>
      </p:sp>
      <p:sp>
        <p:nvSpPr>
          <p:cNvPr id="3" name="">
            <a:extLst xmlns:a="http://schemas.openxmlformats.org/drawingml/2006/main">
              <a:ext uri="{FF2B5EF4-FFF2-40B4-BE49-F238E27FC236}">
                <a16:creationId xmlns:a16="http://schemas.microsoft.com/office/drawing/2014/main" id="{D7AF60B3-FCEE-41B3-AE7D-84C9495D120A}"/>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8508C7B6-A32C-446F-8172-AD57D458725C}"/>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F4A34482-A7BD-4168-821A-07BB15130907}"/>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06</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34515a457e14e6c"/>
          <a:srcRect xmlns:a="http://schemas.openxmlformats.org/drawingml/2006/main" l="0" t="42440" r="0" b="42440"/>
          <a:stretch xmlns:a="http://schemas.openxmlformats.org/drawingml/2006/main">
            <a:fillRect l="0" t="0" r="0" b="0"/>
          </a:stretch>
        </p:blipFill>
        <p:spPr>
          <a:xfrm xmlns:a="http://schemas.openxmlformats.org/drawingml/2006/main">
            <a:off x="685800" y="1581150"/>
            <a:ext cx="5695950" cy="4095750"/>
          </a:xfrm>
          <a:prstGeom xmlns:a="http://schemas.openxmlformats.org/drawingml/2006/main" prst="roundRect">
            <a:avLst>
              <a:gd name="adj" fmla="val 4186"/>
            </a:avLst>
          </a:prstGeom>
        </p:spPr>
      </p:pic>
      <p:sp>
        <p:nvSpPr>
          <p:cNvPr id="7" name="">
            <a:extLst xmlns:a="http://schemas.openxmlformats.org/drawingml/2006/main">
              <a:ext uri="{FF2B5EF4-FFF2-40B4-BE49-F238E27FC236}">
                <a16:creationId xmlns:a16="http://schemas.microsoft.com/office/drawing/2014/main" id="{7F71EBD2-AED6-4D4E-99E5-E3E8B7436D35}"/>
              </a:ext>
            </a:extLst>
          </p:cNvPr>
          <p:cNvSpPr>
            <a:spLocks xmlns:a="http://schemas.openxmlformats.org/drawingml/2006/main" noGrp="1"/>
          </p:cNvSpPr>
          <p:nvPr/>
        </p:nvSpPr>
        <p:spPr>
          <a:xfrm xmlns:a="http://schemas.openxmlformats.org/drawingml/2006/main">
            <a:off x="6953250" y="1676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E9F6E"/>
                </a:solidFill>
              </a:defRPr>
            </a:pPr>
            <a:r>
              <a:rPr sz="1050" b="1">
                <a:solidFill>
                  <a:srgbClr val="0E9F6E"/>
                </a:solidFill>
              </a:rPr>
              <a:t>ĐÃ CÓ</a:t>
            </a:r>
          </a:p>
        </p:txBody>
      </p:sp>
      <p:sp>
        <p:nvSpPr>
          <p:cNvPr id="8" name="">
            <a:extLst xmlns:a="http://schemas.openxmlformats.org/drawingml/2006/main">
              <a:ext uri="{FF2B5EF4-FFF2-40B4-BE49-F238E27FC236}">
                <a16:creationId xmlns:a16="http://schemas.microsoft.com/office/drawing/2014/main" id="{DC8A5E7F-9DD7-4BE2-BE0C-28BD43B717A4}"/>
              </a:ext>
            </a:extLst>
          </p:cNvPr>
          <p:cNvSpPr>
            <a:spLocks xmlns:a="http://schemas.openxmlformats.org/drawingml/2006/main" noGrp="1"/>
          </p:cNvSpPr>
          <p:nvPr/>
        </p:nvSpPr>
        <p:spPr>
          <a:xfrm xmlns:a="http://schemas.openxmlformats.org/drawingml/2006/main">
            <a:off x="6953250" y="2076450"/>
            <a:ext cx="285750" cy="2857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9" name="">
            <a:extLst xmlns:a="http://schemas.openxmlformats.org/drawingml/2006/main">
              <a:ext uri="{FF2B5EF4-FFF2-40B4-BE49-F238E27FC236}">
                <a16:creationId xmlns:a16="http://schemas.microsoft.com/office/drawing/2014/main" id="{3CD99B6F-C021-4845-8115-64AC7EF99AE1}"/>
              </a:ext>
            </a:extLst>
          </p:cNvPr>
          <p:cNvSpPr>
            <a:spLocks xmlns:a="http://schemas.openxmlformats.org/drawingml/2006/main" noGrp="1"/>
          </p:cNvSpPr>
          <p:nvPr/>
        </p:nvSpPr>
        <p:spPr>
          <a:xfrm xmlns:a="http://schemas.openxmlformats.org/drawingml/2006/main">
            <a:off x="7391400" y="2057400"/>
            <a:ext cx="3752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201A16"/>
                </a:solidFill>
              </a:defRPr>
            </a:pPr>
            <a:r>
              <a:rPr sz="1575" b="0">
                <a:solidFill>
                  <a:srgbClr val="201A16"/>
                </a:solidFill>
              </a:rPr>
              <a:t>Trang chủ React</a:t>
            </a:r>
          </a:p>
        </p:txBody>
      </p:sp>
      <p:sp>
        <p:nvSpPr>
          <p:cNvPr id="10" name="">
            <a:extLst xmlns:a="http://schemas.openxmlformats.org/drawingml/2006/main">
              <a:ext uri="{FF2B5EF4-FFF2-40B4-BE49-F238E27FC236}">
                <a16:creationId xmlns:a16="http://schemas.microsoft.com/office/drawing/2014/main" id="{988E3248-6522-4B81-8B16-1AD7AD5545A7}"/>
              </a:ext>
            </a:extLst>
          </p:cNvPr>
          <p:cNvSpPr>
            <a:spLocks xmlns:a="http://schemas.openxmlformats.org/drawingml/2006/main" noGrp="1"/>
          </p:cNvSpPr>
          <p:nvPr/>
        </p:nvSpPr>
        <p:spPr>
          <a:xfrm xmlns:a="http://schemas.openxmlformats.org/drawingml/2006/main">
            <a:off x="6953250" y="2609850"/>
            <a:ext cx="285750" cy="2857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1" name="">
            <a:extLst xmlns:a="http://schemas.openxmlformats.org/drawingml/2006/main">
              <a:ext uri="{FF2B5EF4-FFF2-40B4-BE49-F238E27FC236}">
                <a16:creationId xmlns:a16="http://schemas.microsoft.com/office/drawing/2014/main" id="{7B54900E-6B47-4C04-A4D7-F0C6E938D7B5}"/>
              </a:ext>
            </a:extLst>
          </p:cNvPr>
          <p:cNvSpPr>
            <a:spLocks xmlns:a="http://schemas.openxmlformats.org/drawingml/2006/main" noGrp="1"/>
          </p:cNvSpPr>
          <p:nvPr/>
        </p:nvSpPr>
        <p:spPr>
          <a:xfrm xmlns:a="http://schemas.openxmlformats.org/drawingml/2006/main">
            <a:off x="7391400" y="2590800"/>
            <a:ext cx="3752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201A16"/>
                </a:solidFill>
              </a:defRPr>
            </a:pPr>
            <a:r>
              <a:rPr sz="1575" b="0">
                <a:solidFill>
                  <a:srgbClr val="201A16"/>
                </a:solidFill>
              </a:rPr>
              <a:t>Fastify /health</a:t>
            </a:r>
          </a:p>
        </p:txBody>
      </p:sp>
      <p:sp>
        <p:nvSpPr>
          <p:cNvPr id="12" name="">
            <a:extLst xmlns:a="http://schemas.openxmlformats.org/drawingml/2006/main">
              <a:ext uri="{FF2B5EF4-FFF2-40B4-BE49-F238E27FC236}">
                <a16:creationId xmlns:a16="http://schemas.microsoft.com/office/drawing/2014/main" id="{DA9FCB69-A5A8-428B-841C-748743B14F11}"/>
              </a:ext>
            </a:extLst>
          </p:cNvPr>
          <p:cNvSpPr>
            <a:spLocks xmlns:a="http://schemas.openxmlformats.org/drawingml/2006/main" noGrp="1"/>
          </p:cNvSpPr>
          <p:nvPr/>
        </p:nvSpPr>
        <p:spPr>
          <a:xfrm xmlns:a="http://schemas.openxmlformats.org/drawingml/2006/main">
            <a:off x="6953250" y="3143250"/>
            <a:ext cx="285750" cy="2857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3" name="">
            <a:extLst xmlns:a="http://schemas.openxmlformats.org/drawingml/2006/main">
              <a:ext uri="{FF2B5EF4-FFF2-40B4-BE49-F238E27FC236}">
                <a16:creationId xmlns:a16="http://schemas.microsoft.com/office/drawing/2014/main" id="{65F96CC5-7C0E-43FC-8A38-5B581805C697}"/>
              </a:ext>
            </a:extLst>
          </p:cNvPr>
          <p:cNvSpPr>
            <a:spLocks xmlns:a="http://schemas.openxmlformats.org/drawingml/2006/main" noGrp="1"/>
          </p:cNvSpPr>
          <p:nvPr/>
        </p:nvSpPr>
        <p:spPr>
          <a:xfrm xmlns:a="http://schemas.openxmlformats.org/drawingml/2006/main">
            <a:off x="7391400" y="3124200"/>
            <a:ext cx="3752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201A16"/>
                </a:solidFill>
              </a:defRPr>
            </a:pPr>
            <a:r>
              <a:rPr sz="1575" b="0">
                <a:solidFill>
                  <a:srgbClr val="201A16"/>
                </a:solidFill>
              </a:rPr>
              <a:t>PostgreSQL • Mailpit • MinIO</a:t>
            </a:r>
          </a:p>
        </p:txBody>
      </p:sp>
      <p:sp>
        <p:nvSpPr>
          <p:cNvPr id="14" name="">
            <a:extLst xmlns:a="http://schemas.openxmlformats.org/drawingml/2006/main">
              <a:ext uri="{FF2B5EF4-FFF2-40B4-BE49-F238E27FC236}">
                <a16:creationId xmlns:a16="http://schemas.microsoft.com/office/drawing/2014/main" id="{912F0866-48B6-494B-876C-D5B8AACDE908}"/>
              </a:ext>
            </a:extLst>
          </p:cNvPr>
          <p:cNvSpPr>
            <a:spLocks xmlns:a="http://schemas.openxmlformats.org/drawingml/2006/main" noGrp="1"/>
          </p:cNvSpPr>
          <p:nvPr/>
        </p:nvSpPr>
        <p:spPr>
          <a:xfrm xmlns:a="http://schemas.openxmlformats.org/drawingml/2006/main">
            <a:off x="6953250" y="3676650"/>
            <a:ext cx="285750" cy="2857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5" name="">
            <a:extLst xmlns:a="http://schemas.openxmlformats.org/drawingml/2006/main">
              <a:ext uri="{FF2B5EF4-FFF2-40B4-BE49-F238E27FC236}">
                <a16:creationId xmlns:a16="http://schemas.microsoft.com/office/drawing/2014/main" id="{2114B8B5-427E-41BB-9ED1-AF9EEA1248B1}"/>
              </a:ext>
            </a:extLst>
          </p:cNvPr>
          <p:cNvSpPr>
            <a:spLocks xmlns:a="http://schemas.openxmlformats.org/drawingml/2006/main" noGrp="1"/>
          </p:cNvSpPr>
          <p:nvPr/>
        </p:nvSpPr>
        <p:spPr>
          <a:xfrm xmlns:a="http://schemas.openxmlformats.org/drawingml/2006/main">
            <a:off x="7391400" y="3657600"/>
            <a:ext cx="3752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201A16"/>
                </a:solidFill>
              </a:defRPr>
            </a:pPr>
            <a:r>
              <a:rPr sz="1575" b="0">
                <a:solidFill>
                  <a:srgbClr val="201A16"/>
                </a:solidFill>
              </a:rPr>
              <a:t>Lint • test • build cơ bản</a:t>
            </a:r>
          </a:p>
        </p:txBody>
      </p:sp>
      <p:sp>
        <p:nvSpPr>
          <p:cNvPr id="16" name="">
            <a:extLst xmlns:a="http://schemas.openxmlformats.org/drawingml/2006/main">
              <a:ext uri="{FF2B5EF4-FFF2-40B4-BE49-F238E27FC236}">
                <a16:creationId xmlns:a16="http://schemas.microsoft.com/office/drawing/2014/main" id="{43DC4E96-25BC-4624-ACD8-62DA3C768E84}"/>
              </a:ext>
            </a:extLst>
          </p:cNvPr>
          <p:cNvSpPr>
            <a:spLocks xmlns:a="http://schemas.openxmlformats.org/drawingml/2006/main" noGrp="1"/>
          </p:cNvSpPr>
          <p:nvPr/>
        </p:nvSpPr>
        <p:spPr>
          <a:xfrm xmlns:a="http://schemas.openxmlformats.org/drawingml/2006/main">
            <a:off x="6953250" y="4400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CẦN XÂY</a:t>
            </a:r>
          </a:p>
        </p:txBody>
      </p:sp>
      <p:sp>
        <p:nvSpPr>
          <p:cNvPr id="17" name="">
            <a:extLst xmlns:a="http://schemas.openxmlformats.org/drawingml/2006/main">
              <a:ext uri="{FF2B5EF4-FFF2-40B4-BE49-F238E27FC236}">
                <a16:creationId xmlns:a16="http://schemas.microsoft.com/office/drawing/2014/main" id="{A49EEC36-76E1-4058-9511-1BF0E54800C1}"/>
              </a:ext>
            </a:extLst>
          </p:cNvPr>
          <p:cNvSpPr>
            <a:spLocks xmlns:a="http://schemas.openxmlformats.org/drawingml/2006/main" noGrp="1"/>
          </p:cNvSpPr>
          <p:nvPr/>
        </p:nvSpPr>
        <p:spPr>
          <a:xfrm xmlns:a="http://schemas.openxmlformats.org/drawingml/2006/main">
            <a:off x="6953250" y="4781550"/>
            <a:ext cx="4095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1A16"/>
                </a:solidFill>
              </a:defRPr>
            </a:pPr>
            <a:r>
              <a:rPr sz="1650" b="1">
                <a:solidFill>
                  <a:srgbClr val="201A16"/>
                </a:solidFill>
              </a:rPr>
              <a:t>Database nghiệp vụ, đăng nhập, API nội dung, CMS và quy trình gia nhập.</a:t>
            </a:r>
          </a:p>
        </p:txBody>
      </p:sp>
    </p:spTree>
    <p:extLst>
      <p:ext uri="{BB962C8B-B14F-4D97-AF65-F5344CB8AC3E}">
        <p14:creationId xmlns:p14="http://schemas.microsoft.com/office/powerpoint/2010/main" val="1269186620"/>
      </p:ext>
    </p:extLst>
  </p:cSld>
</p:sld>
</file>

<file path=ppt/slides/slide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AED4FA-E475-49DF-A1EA-977084007610}"/>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853186C0-62D3-4294-A3F2-07282388032B}"/>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Repository được tổ chức theo monorepo TypeScript</a:t>
            </a:r>
          </a:p>
        </p:txBody>
      </p:sp>
      <p:sp>
        <p:nvSpPr>
          <p:cNvPr id="3" name="">
            <a:extLst xmlns:a="http://schemas.openxmlformats.org/drawingml/2006/main">
              <a:ext uri="{FF2B5EF4-FFF2-40B4-BE49-F238E27FC236}">
                <a16:creationId xmlns:a16="http://schemas.microsoft.com/office/drawing/2014/main" id="{A0531BB3-AF74-4EB9-99D7-B8C6AAF46567}"/>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9999878C-0295-40F7-A4B4-83F3478F3E11}"/>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22D8384B-5826-4F4E-AC0E-A93F04FB81DD}"/>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07</a:t>
            </a:r>
          </a:p>
        </p:txBody>
      </p:sp>
      <p:sp>
        <p:nvSpPr>
          <p:cNvPr id="6" name="">
            <a:extLst xmlns:a="http://schemas.openxmlformats.org/drawingml/2006/main">
              <a:ext uri="{FF2B5EF4-FFF2-40B4-BE49-F238E27FC236}">
                <a16:creationId xmlns:a16="http://schemas.microsoft.com/office/drawing/2014/main" id="{8943D7A2-57F5-429D-AC6A-D10298620AD4}"/>
              </a:ext>
            </a:extLst>
          </p:cNvPr>
          <p:cNvSpPr>
            <a:spLocks xmlns:a="http://schemas.openxmlformats.org/drawingml/2006/main" noGrp="1"/>
          </p:cNvSpPr>
          <p:nvPr/>
        </p:nvSpPr>
        <p:spPr>
          <a:xfrm xmlns:a="http://schemas.openxmlformats.org/drawingml/2006/main">
            <a:off x="685800" y="1657350"/>
            <a:ext cx="5810250" cy="3714750"/>
          </a:xfrm>
          <a:prstGeom xmlns:a="http://schemas.openxmlformats.org/drawingml/2006/main" prst="roundRect">
            <a:avLst>
              <a:gd name="adj" fmla="val 4615"/>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04524092-D1E9-453D-89EB-669F98D5A111}"/>
              </a:ext>
            </a:extLst>
          </p:cNvPr>
          <p:cNvSpPr>
            <a:spLocks xmlns:a="http://schemas.openxmlformats.org/drawingml/2006/main" noGrp="1"/>
          </p:cNvSpPr>
          <p:nvPr/>
        </p:nvSpPr>
        <p:spPr>
          <a:xfrm xmlns:a="http://schemas.openxmlformats.org/drawingml/2006/main">
            <a:off x="895350" y="1809750"/>
            <a:ext cx="539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CẤU TRÚC HIỆN TẠI</a:t>
            </a:r>
          </a:p>
        </p:txBody>
      </p:sp>
      <p:sp>
        <p:nvSpPr>
          <p:cNvPr id="8" name="">
            <a:extLst xmlns:a="http://schemas.openxmlformats.org/drawingml/2006/main">
              <a:ext uri="{FF2B5EF4-FFF2-40B4-BE49-F238E27FC236}">
                <a16:creationId xmlns:a16="http://schemas.microsoft.com/office/drawing/2014/main" id="{432E0271-BA69-41FD-8601-D69D474307D5}"/>
              </a:ext>
            </a:extLst>
          </p:cNvPr>
          <p:cNvSpPr>
            <a:spLocks xmlns:a="http://schemas.openxmlformats.org/drawingml/2006/main" noGrp="1"/>
          </p:cNvSpPr>
          <p:nvPr/>
        </p:nvSpPr>
        <p:spPr>
          <a:xfrm xmlns:a="http://schemas.openxmlformats.org/drawingml/2006/main">
            <a:off x="895350" y="2095500"/>
            <a:ext cx="539115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apc-web-portal/</a:t>
            </a:r>
          </a:p>
          <a:p xmlns:a="http://schemas.openxmlformats.org/drawingml/2006/main">
            <a:pPr algn="l">
              <a:defRPr sz="1350" b="0">
                <a:solidFill>
                  <a:srgbClr val="E8EEF7"/>
                </a:solidFill>
              </a:defRPr>
            </a:pPr>
            <a:r>
              <a:rPr sz="1350" b="0">
                <a:solidFill>
                  <a:srgbClr val="E8EEF7"/>
                </a:solidFill>
              </a:rPr>
              <a:t>├─ apps/web        React + Vite</a:t>
            </a:r>
          </a:p>
          <a:p xmlns:a="http://schemas.openxmlformats.org/drawingml/2006/main">
            <a:pPr algn="l">
              <a:defRPr sz="1350" b="0">
                <a:solidFill>
                  <a:srgbClr val="E8EEF7"/>
                </a:solidFill>
              </a:defRPr>
            </a:pPr>
            <a:r>
              <a:rPr sz="1350" b="0">
                <a:solidFill>
                  <a:srgbClr val="E8EEF7"/>
                </a:solidFill>
              </a:rPr>
              <a:t>├─ apps/api        Fastify API</a:t>
            </a:r>
          </a:p>
          <a:p xmlns:a="http://schemas.openxmlformats.org/drawingml/2006/main">
            <a:pPr algn="l">
              <a:defRPr sz="1350" b="0">
                <a:solidFill>
                  <a:srgbClr val="E8EEF7"/>
                </a:solidFill>
              </a:defRPr>
            </a:pPr>
            <a:r>
              <a:rPr sz="1350" b="0">
                <a:solidFill>
                  <a:srgbClr val="E8EEF7"/>
                </a:solidFill>
              </a:rPr>
              <a:t>├─ packages/       Phần dùng chung khi thật sự cần</a:t>
            </a:r>
          </a:p>
          <a:p xmlns:a="http://schemas.openxmlformats.org/drawingml/2006/main">
            <a:pPr algn="l">
              <a:defRPr sz="1350" b="0">
                <a:solidFill>
                  <a:srgbClr val="E8EEF7"/>
                </a:solidFill>
              </a:defRPr>
            </a:pPr>
            <a:r>
              <a:rPr sz="1350" b="0">
                <a:solidFill>
                  <a:srgbClr val="E8EEF7"/>
                </a:solidFill>
              </a:rPr>
              <a:t>├─ docs/           Yêu cầu và luồng nghiệp vụ</a:t>
            </a:r>
          </a:p>
          <a:p xmlns:a="http://schemas.openxmlformats.org/drawingml/2006/main">
            <a:pPr algn="l">
              <a:defRPr sz="1350" b="0">
                <a:solidFill>
                  <a:srgbClr val="E8EEF7"/>
                </a:solidFill>
              </a:defRPr>
            </a:pPr>
            <a:r>
              <a:rPr sz="1350" b="0">
                <a:solidFill>
                  <a:srgbClr val="E8EEF7"/>
                </a:solidFill>
              </a:rPr>
              <a:t>├─ design-reference/</a:t>
            </a:r>
          </a:p>
          <a:p xmlns:a="http://schemas.openxmlformats.org/drawingml/2006/main">
            <a:pPr algn="l">
              <a:defRPr sz="1350" b="0">
                <a:solidFill>
                  <a:srgbClr val="E8EEF7"/>
                </a:solidFill>
              </a:defRPr>
            </a:pPr>
            <a:r>
              <a:rPr sz="1350" b="0">
                <a:solidFill>
                  <a:srgbClr val="E8EEF7"/>
                </a:solidFill>
              </a:rPr>
              <a:t>└─ compose.yaml    Hạ tầng local</a:t>
            </a:r>
          </a:p>
        </p:txBody>
      </p:sp>
      <p:sp>
        <p:nvSpPr>
          <p:cNvPr id="9" name="">
            <a:extLst xmlns:a="http://schemas.openxmlformats.org/drawingml/2006/main">
              <a:ext uri="{FF2B5EF4-FFF2-40B4-BE49-F238E27FC236}">
                <a16:creationId xmlns:a16="http://schemas.microsoft.com/office/drawing/2014/main" id="{3EC5C8F9-E7A9-4F29-8C59-69B3A3F6BCA5}"/>
              </a:ext>
            </a:extLst>
          </p:cNvPr>
          <p:cNvSpPr>
            <a:spLocks xmlns:a="http://schemas.openxmlformats.org/drawingml/2006/main" noGrp="1"/>
          </p:cNvSpPr>
          <p:nvPr/>
        </p:nvSpPr>
        <p:spPr>
          <a:xfrm xmlns:a="http://schemas.openxmlformats.org/drawingml/2006/main">
            <a:off x="7124700" y="17907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568C9"/>
                </a:solidFill>
              </a:defRPr>
            </a:pPr>
            <a:r>
              <a:rPr sz="1950" b="1">
                <a:solidFill>
                  <a:srgbClr val="1568C9"/>
                </a:solidFill>
              </a:rPr>
              <a:t>apps/web</a:t>
            </a:r>
          </a:p>
        </p:txBody>
      </p:sp>
      <p:sp>
        <p:nvSpPr>
          <p:cNvPr id="10" name="">
            <a:extLst xmlns:a="http://schemas.openxmlformats.org/drawingml/2006/main">
              <a:ext uri="{FF2B5EF4-FFF2-40B4-BE49-F238E27FC236}">
                <a16:creationId xmlns:a16="http://schemas.microsoft.com/office/drawing/2014/main" id="{110929B8-A76D-445D-B891-7C0BBFE6CE06}"/>
              </a:ext>
            </a:extLst>
          </p:cNvPr>
          <p:cNvSpPr>
            <a:spLocks xmlns:a="http://schemas.openxmlformats.org/drawingml/2006/main" noGrp="1"/>
          </p:cNvSpPr>
          <p:nvPr/>
        </p:nvSpPr>
        <p:spPr>
          <a:xfrm xmlns:a="http://schemas.openxmlformats.org/drawingml/2006/main">
            <a:off x="7124700" y="219075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B5F55"/>
                </a:solidFill>
              </a:defRPr>
            </a:pPr>
            <a:r>
              <a:rPr sz="1500" b="0">
                <a:solidFill>
                  <a:srgbClr val="6B5F55"/>
                </a:solidFill>
              </a:rPr>
              <a:t>Trang, component, hook và giao tiếp API phía trình duyệt.</a:t>
            </a:r>
          </a:p>
        </p:txBody>
      </p:sp>
      <p:sp>
        <p:nvSpPr>
          <p:cNvPr id="11" name="">
            <a:extLst xmlns:a="http://schemas.openxmlformats.org/drawingml/2006/main">
              <a:ext uri="{FF2B5EF4-FFF2-40B4-BE49-F238E27FC236}">
                <a16:creationId xmlns:a16="http://schemas.microsoft.com/office/drawing/2014/main" id="{9FF95D57-ED99-4783-999A-7FF27C365FD5}"/>
              </a:ext>
            </a:extLst>
          </p:cNvPr>
          <p:cNvSpPr>
            <a:spLocks xmlns:a="http://schemas.openxmlformats.org/drawingml/2006/main" noGrp="1"/>
          </p:cNvSpPr>
          <p:nvPr/>
        </p:nvSpPr>
        <p:spPr>
          <a:xfrm xmlns:a="http://schemas.openxmlformats.org/drawingml/2006/main">
            <a:off x="7124700" y="30670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C23B22"/>
                </a:solidFill>
              </a:defRPr>
            </a:pPr>
            <a:r>
              <a:rPr sz="1950" b="1">
                <a:solidFill>
                  <a:srgbClr val="C23B22"/>
                </a:solidFill>
              </a:rPr>
              <a:t>apps/api</a:t>
            </a:r>
          </a:p>
        </p:txBody>
      </p:sp>
      <p:sp>
        <p:nvSpPr>
          <p:cNvPr id="12" name="">
            <a:extLst xmlns:a="http://schemas.openxmlformats.org/drawingml/2006/main">
              <a:ext uri="{FF2B5EF4-FFF2-40B4-BE49-F238E27FC236}">
                <a16:creationId xmlns:a16="http://schemas.microsoft.com/office/drawing/2014/main" id="{4E0BE547-94C0-4209-AE07-0E36EDD32132}"/>
              </a:ext>
            </a:extLst>
          </p:cNvPr>
          <p:cNvSpPr>
            <a:spLocks xmlns:a="http://schemas.openxmlformats.org/drawingml/2006/main" noGrp="1"/>
          </p:cNvSpPr>
          <p:nvPr/>
        </p:nvSpPr>
        <p:spPr>
          <a:xfrm xmlns:a="http://schemas.openxmlformats.org/drawingml/2006/main">
            <a:off x="7124700" y="346710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B5F55"/>
                </a:solidFill>
              </a:defRPr>
            </a:pPr>
            <a:r>
              <a:rPr sz="1500" b="0">
                <a:solidFill>
                  <a:srgbClr val="6B5F55"/>
                </a:solidFill>
              </a:rPr>
              <a:t>HTTP API, auth, phân quyền và nghiệp vụ phía server.</a:t>
            </a:r>
          </a:p>
        </p:txBody>
      </p:sp>
      <p:sp>
        <p:nvSpPr>
          <p:cNvPr id="13" name="">
            <a:extLst xmlns:a="http://schemas.openxmlformats.org/drawingml/2006/main">
              <a:ext uri="{FF2B5EF4-FFF2-40B4-BE49-F238E27FC236}">
                <a16:creationId xmlns:a16="http://schemas.microsoft.com/office/drawing/2014/main" id="{9AB1D34C-3EF7-411D-9083-405ADE31152C}"/>
              </a:ext>
            </a:extLst>
          </p:cNvPr>
          <p:cNvSpPr>
            <a:spLocks xmlns:a="http://schemas.openxmlformats.org/drawingml/2006/main" noGrp="1"/>
          </p:cNvSpPr>
          <p:nvPr/>
        </p:nvSpPr>
        <p:spPr>
          <a:xfrm xmlns:a="http://schemas.openxmlformats.org/drawingml/2006/main">
            <a:off x="7124700" y="4343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0A202"/>
                </a:solidFill>
              </a:defRPr>
            </a:pPr>
            <a:r>
              <a:rPr sz="1950" b="1">
                <a:solidFill>
                  <a:srgbClr val="F0A202"/>
                </a:solidFill>
              </a:rPr>
              <a:t>docs</a:t>
            </a:r>
          </a:p>
        </p:txBody>
      </p:sp>
      <p:sp>
        <p:nvSpPr>
          <p:cNvPr id="14" name="">
            <a:extLst xmlns:a="http://schemas.openxmlformats.org/drawingml/2006/main">
              <a:ext uri="{FF2B5EF4-FFF2-40B4-BE49-F238E27FC236}">
                <a16:creationId xmlns:a16="http://schemas.microsoft.com/office/drawing/2014/main" id="{4393E04C-CDDC-4FB9-93FC-BE74ACD2642F}"/>
              </a:ext>
            </a:extLst>
          </p:cNvPr>
          <p:cNvSpPr>
            <a:spLocks xmlns:a="http://schemas.openxmlformats.org/drawingml/2006/main" noGrp="1"/>
          </p:cNvSpPr>
          <p:nvPr/>
        </p:nvSpPr>
        <p:spPr>
          <a:xfrm xmlns:a="http://schemas.openxmlformats.org/drawingml/2006/main">
            <a:off x="7124700" y="47434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B5F55"/>
                </a:solidFill>
              </a:defRPr>
            </a:pPr>
            <a:r>
              <a:rPr sz="1500" b="0">
                <a:solidFill>
                  <a:srgbClr val="6B5F55"/>
                </a:solidFill>
              </a:rPr>
              <a:t>Nguồn chuẩn để biết chức năng phải chạy thế nào và ai có quyền gì.</a:t>
            </a:r>
          </a:p>
        </p:txBody>
      </p:sp>
    </p:spTree>
    <p:extLst>
      <p:ext uri="{BB962C8B-B14F-4D97-AF65-F5344CB8AC3E}">
        <p14:creationId xmlns:p14="http://schemas.microsoft.com/office/powerpoint/2010/main" val="1889095682"/>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71BC9A-67E1-437D-A8DE-8B01904A54E4}"/>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C47C3C90-1BBD-4905-B4F3-537BB4359383}"/>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Đến 15/10, sản phẩm phải demo được một vòng hoàn chỉnh</a:t>
            </a:r>
          </a:p>
        </p:txBody>
      </p:sp>
      <p:sp>
        <p:nvSpPr>
          <p:cNvPr id="3" name="">
            <a:extLst xmlns:a="http://schemas.openxmlformats.org/drawingml/2006/main">
              <a:ext uri="{FF2B5EF4-FFF2-40B4-BE49-F238E27FC236}">
                <a16:creationId xmlns:a16="http://schemas.microsoft.com/office/drawing/2014/main" id="{B1B017CE-7EC9-4752-8E0E-8D72BD2DEC35}"/>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D4042704-C231-4924-8CCC-3C8A6D03DBB8}"/>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F35680A5-7226-4730-AA54-EF6679B82A6F}"/>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08</a:t>
            </a:r>
          </a:p>
        </p:txBody>
      </p:sp>
      <p:sp>
        <p:nvSpPr>
          <p:cNvPr id="6" name="">
            <a:extLst xmlns:a="http://schemas.openxmlformats.org/drawingml/2006/main">
              <a:ext uri="{FF2B5EF4-FFF2-40B4-BE49-F238E27FC236}">
                <a16:creationId xmlns:a16="http://schemas.microsoft.com/office/drawing/2014/main" id="{3A99CB8E-E601-415A-B93B-06AEADFD058D}"/>
              </a:ext>
            </a:extLst>
          </p:cNvPr>
          <p:cNvSpPr>
            <a:spLocks xmlns:a="http://schemas.openxmlformats.org/drawingml/2006/main" noGrp="1"/>
          </p:cNvSpPr>
          <p:nvPr/>
        </p:nvSpPr>
        <p:spPr>
          <a:xfrm xmlns:a="http://schemas.openxmlformats.org/drawingml/2006/main">
            <a:off x="685800" y="17716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Một sinh viên có thể…</a:t>
            </a:r>
          </a:p>
        </p:txBody>
      </p:sp>
      <p:sp>
        <p:nvSpPr>
          <p:cNvPr id="7" name="">
            <a:extLst xmlns:a="http://schemas.openxmlformats.org/drawingml/2006/main">
              <a:ext uri="{FF2B5EF4-FFF2-40B4-BE49-F238E27FC236}">
                <a16:creationId xmlns:a16="http://schemas.microsoft.com/office/drawing/2014/main" id="{055C4891-05F3-4EF8-9D16-99822D94CE3E}"/>
              </a:ext>
            </a:extLst>
          </p:cNvPr>
          <p:cNvSpPr>
            <a:spLocks xmlns:a="http://schemas.openxmlformats.org/drawingml/2006/main" noGrp="1"/>
          </p:cNvSpPr>
          <p:nvPr/>
        </p:nvSpPr>
        <p:spPr>
          <a:xfrm xmlns:a="http://schemas.openxmlformats.org/drawingml/2006/main">
            <a:off x="685800" y="24384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8" name="">
            <a:extLst xmlns:a="http://schemas.openxmlformats.org/drawingml/2006/main">
              <a:ext uri="{FF2B5EF4-FFF2-40B4-BE49-F238E27FC236}">
                <a16:creationId xmlns:a16="http://schemas.microsoft.com/office/drawing/2014/main" id="{CCD80167-1BDE-4CB6-A8A4-F52364B4D6AA}"/>
              </a:ext>
            </a:extLst>
          </p:cNvPr>
          <p:cNvSpPr>
            <a:spLocks xmlns:a="http://schemas.openxmlformats.org/drawingml/2006/main" noGrp="1"/>
          </p:cNvSpPr>
          <p:nvPr/>
        </p:nvSpPr>
        <p:spPr>
          <a:xfrm xmlns:a="http://schemas.openxmlformats.org/drawingml/2006/main">
            <a:off x="1123950" y="24193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Xem tin tức, sự kiện và dự án</a:t>
            </a:r>
          </a:p>
        </p:txBody>
      </p:sp>
      <p:sp>
        <p:nvSpPr>
          <p:cNvPr id="9" name="">
            <a:extLst xmlns:a="http://schemas.openxmlformats.org/drawingml/2006/main">
              <a:ext uri="{FF2B5EF4-FFF2-40B4-BE49-F238E27FC236}">
                <a16:creationId xmlns:a16="http://schemas.microsoft.com/office/drawing/2014/main" id="{22BFEC51-08D1-4799-82B4-610FD56860F6}"/>
              </a:ext>
            </a:extLst>
          </p:cNvPr>
          <p:cNvSpPr>
            <a:spLocks xmlns:a="http://schemas.openxmlformats.org/drawingml/2006/main" noGrp="1"/>
          </p:cNvSpPr>
          <p:nvPr/>
        </p:nvSpPr>
        <p:spPr>
          <a:xfrm xmlns:a="http://schemas.openxmlformats.org/drawingml/2006/main">
            <a:off x="685800" y="30861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0" name="">
            <a:extLst xmlns:a="http://schemas.openxmlformats.org/drawingml/2006/main">
              <a:ext uri="{FF2B5EF4-FFF2-40B4-BE49-F238E27FC236}">
                <a16:creationId xmlns:a16="http://schemas.microsoft.com/office/drawing/2014/main" id="{C1E92A20-6928-4B8A-B842-C792AAEE67EF}"/>
              </a:ext>
            </a:extLst>
          </p:cNvPr>
          <p:cNvSpPr>
            <a:spLocks xmlns:a="http://schemas.openxmlformats.org/drawingml/2006/main" noGrp="1"/>
          </p:cNvSpPr>
          <p:nvPr/>
        </p:nvSpPr>
        <p:spPr>
          <a:xfrm xmlns:a="http://schemas.openxmlformats.org/drawingml/2006/main">
            <a:off x="1123950" y="30670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Gửi đơn Gia nhập APC</a:t>
            </a:r>
          </a:p>
        </p:txBody>
      </p:sp>
      <p:sp>
        <p:nvSpPr>
          <p:cNvPr id="11" name="">
            <a:extLst xmlns:a="http://schemas.openxmlformats.org/drawingml/2006/main">
              <a:ext uri="{FF2B5EF4-FFF2-40B4-BE49-F238E27FC236}">
                <a16:creationId xmlns:a16="http://schemas.microsoft.com/office/drawing/2014/main" id="{69CFC258-F178-43BD-B1B1-5869DC331D30}"/>
              </a:ext>
            </a:extLst>
          </p:cNvPr>
          <p:cNvSpPr>
            <a:spLocks xmlns:a="http://schemas.openxmlformats.org/drawingml/2006/main" noGrp="1"/>
          </p:cNvSpPr>
          <p:nvPr/>
        </p:nvSpPr>
        <p:spPr>
          <a:xfrm xmlns:a="http://schemas.openxmlformats.org/drawingml/2006/main">
            <a:off x="685800" y="37338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4849196B-47BF-49C8-BCD2-3F0F469F6F4F}"/>
              </a:ext>
            </a:extLst>
          </p:cNvPr>
          <p:cNvSpPr>
            <a:spLocks xmlns:a="http://schemas.openxmlformats.org/drawingml/2006/main" noGrp="1"/>
          </p:cNvSpPr>
          <p:nvPr/>
        </p:nvSpPr>
        <p:spPr>
          <a:xfrm xmlns:a="http://schemas.openxmlformats.org/drawingml/2006/main">
            <a:off x="1123950" y="37147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Nhận xác nhận và kết quả</a:t>
            </a:r>
          </a:p>
        </p:txBody>
      </p:sp>
      <p:sp>
        <p:nvSpPr>
          <p:cNvPr id="13" name="">
            <a:extLst xmlns:a="http://schemas.openxmlformats.org/drawingml/2006/main">
              <a:ext uri="{FF2B5EF4-FFF2-40B4-BE49-F238E27FC236}">
                <a16:creationId xmlns:a16="http://schemas.microsoft.com/office/drawing/2014/main" id="{DD728420-47B9-4F2F-8964-6A4514F24EED}"/>
              </a:ext>
            </a:extLst>
          </p:cNvPr>
          <p:cNvSpPr>
            <a:spLocks xmlns:a="http://schemas.openxmlformats.org/drawingml/2006/main" noGrp="1"/>
          </p:cNvSpPr>
          <p:nvPr/>
        </p:nvSpPr>
        <p:spPr>
          <a:xfrm xmlns:a="http://schemas.openxmlformats.org/drawingml/2006/main">
            <a:off x="6400800" y="177165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Một người quản trị có thể…</a:t>
            </a:r>
          </a:p>
        </p:txBody>
      </p:sp>
      <p:sp>
        <p:nvSpPr>
          <p:cNvPr id="14" name="">
            <a:extLst xmlns:a="http://schemas.openxmlformats.org/drawingml/2006/main">
              <a:ext uri="{FF2B5EF4-FFF2-40B4-BE49-F238E27FC236}">
                <a16:creationId xmlns:a16="http://schemas.microsoft.com/office/drawing/2014/main" id="{81876DA4-4F7C-46AE-9134-71733DD1ED2A}"/>
              </a:ext>
            </a:extLst>
          </p:cNvPr>
          <p:cNvSpPr>
            <a:spLocks xmlns:a="http://schemas.openxmlformats.org/drawingml/2006/main" noGrp="1"/>
          </p:cNvSpPr>
          <p:nvPr/>
        </p:nvSpPr>
        <p:spPr>
          <a:xfrm xmlns:a="http://schemas.openxmlformats.org/drawingml/2006/main">
            <a:off x="6400800" y="24384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5" name="">
            <a:extLst xmlns:a="http://schemas.openxmlformats.org/drawingml/2006/main">
              <a:ext uri="{FF2B5EF4-FFF2-40B4-BE49-F238E27FC236}">
                <a16:creationId xmlns:a16="http://schemas.microsoft.com/office/drawing/2014/main" id="{7726EDBC-182F-4B28-B194-325E1AE7F84B}"/>
              </a:ext>
            </a:extLst>
          </p:cNvPr>
          <p:cNvSpPr>
            <a:spLocks xmlns:a="http://schemas.openxmlformats.org/drawingml/2006/main" noGrp="1"/>
          </p:cNvSpPr>
          <p:nvPr/>
        </p:nvSpPr>
        <p:spPr>
          <a:xfrm xmlns:a="http://schemas.openxmlformats.org/drawingml/2006/main">
            <a:off x="6838950" y="24193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Đăng nhập đúng quyền</a:t>
            </a:r>
          </a:p>
        </p:txBody>
      </p:sp>
      <p:sp>
        <p:nvSpPr>
          <p:cNvPr id="16" name="">
            <a:extLst xmlns:a="http://schemas.openxmlformats.org/drawingml/2006/main">
              <a:ext uri="{FF2B5EF4-FFF2-40B4-BE49-F238E27FC236}">
                <a16:creationId xmlns:a16="http://schemas.microsoft.com/office/drawing/2014/main" id="{8EB68B03-6372-4D2E-8222-CD454755C084}"/>
              </a:ext>
            </a:extLst>
          </p:cNvPr>
          <p:cNvSpPr>
            <a:spLocks xmlns:a="http://schemas.openxmlformats.org/drawingml/2006/main" noGrp="1"/>
          </p:cNvSpPr>
          <p:nvPr/>
        </p:nvSpPr>
        <p:spPr>
          <a:xfrm xmlns:a="http://schemas.openxmlformats.org/drawingml/2006/main">
            <a:off x="6400800" y="30861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7" name="">
            <a:extLst xmlns:a="http://schemas.openxmlformats.org/drawingml/2006/main">
              <a:ext uri="{FF2B5EF4-FFF2-40B4-BE49-F238E27FC236}">
                <a16:creationId xmlns:a16="http://schemas.microsoft.com/office/drawing/2014/main" id="{ADD231CD-0D1D-4D04-A93A-718AB04D6675}"/>
              </a:ext>
            </a:extLst>
          </p:cNvPr>
          <p:cNvSpPr>
            <a:spLocks xmlns:a="http://schemas.openxmlformats.org/drawingml/2006/main" noGrp="1"/>
          </p:cNvSpPr>
          <p:nvPr/>
        </p:nvSpPr>
        <p:spPr>
          <a:xfrm xmlns:a="http://schemas.openxmlformats.org/drawingml/2006/main">
            <a:off x="6838950" y="30670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Quản lý nội dung và hồ sơ</a:t>
            </a:r>
          </a:p>
        </p:txBody>
      </p:sp>
      <p:sp>
        <p:nvSpPr>
          <p:cNvPr id="18" name="">
            <a:extLst xmlns:a="http://schemas.openxmlformats.org/drawingml/2006/main">
              <a:ext uri="{FF2B5EF4-FFF2-40B4-BE49-F238E27FC236}">
                <a16:creationId xmlns:a16="http://schemas.microsoft.com/office/drawing/2014/main" id="{A057FEEC-4CB0-4512-B0C5-F81BABAA79E9}"/>
              </a:ext>
            </a:extLst>
          </p:cNvPr>
          <p:cNvSpPr>
            <a:spLocks xmlns:a="http://schemas.openxmlformats.org/drawingml/2006/main" noGrp="1"/>
          </p:cNvSpPr>
          <p:nvPr/>
        </p:nvSpPr>
        <p:spPr>
          <a:xfrm xmlns:a="http://schemas.openxmlformats.org/drawingml/2006/main">
            <a:off x="6400800" y="37338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9" name="">
            <a:extLst xmlns:a="http://schemas.openxmlformats.org/drawingml/2006/main">
              <a:ext uri="{FF2B5EF4-FFF2-40B4-BE49-F238E27FC236}">
                <a16:creationId xmlns:a16="http://schemas.microsoft.com/office/drawing/2014/main" id="{23B21FAB-9C14-43D9-8DD0-BEAB033CB11E}"/>
              </a:ext>
            </a:extLst>
          </p:cNvPr>
          <p:cNvSpPr>
            <a:spLocks xmlns:a="http://schemas.openxmlformats.org/drawingml/2006/main" noGrp="1"/>
          </p:cNvSpPr>
          <p:nvPr/>
        </p:nvSpPr>
        <p:spPr>
          <a:xfrm xmlns:a="http://schemas.openxmlformats.org/drawingml/2006/main">
            <a:off x="6838950" y="3714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201A16"/>
                </a:solidFill>
              </a:defRPr>
            </a:pPr>
            <a:r>
              <a:rPr sz="1725" b="0">
                <a:solidFill>
                  <a:srgbClr val="201A16"/>
                </a:solidFill>
              </a:rPr>
              <a:t>Upload file, gửi email, kiểm tra staging</a:t>
            </a:r>
          </a:p>
        </p:txBody>
      </p:sp>
      <p:sp>
        <p:nvSpPr>
          <p:cNvPr id="20" name="">
            <a:extLst xmlns:a="http://schemas.openxmlformats.org/drawingml/2006/main">
              <a:ext uri="{FF2B5EF4-FFF2-40B4-BE49-F238E27FC236}">
                <a16:creationId xmlns:a16="http://schemas.microsoft.com/office/drawing/2014/main" id="{6D858520-9A01-4125-8930-79B50082A21E}"/>
              </a:ext>
            </a:extLst>
          </p:cNvPr>
          <p:cNvSpPr>
            <a:spLocks xmlns:a="http://schemas.openxmlformats.org/drawingml/2006/main" noGrp="1"/>
          </p:cNvSpPr>
          <p:nvPr/>
        </p:nvSpPr>
        <p:spPr>
          <a:xfrm xmlns:a="http://schemas.openxmlformats.org/drawingml/2006/main">
            <a:off x="685800" y="4953000"/>
            <a:ext cx="10591800" cy="742950"/>
          </a:xfrm>
          <a:prstGeom xmlns:a="http://schemas.openxmlformats.org/drawingml/2006/main" prst="roundRect">
            <a:avLst>
              <a:gd name="adj" fmla="val 25641"/>
            </a:avLst>
          </a:prstGeom>
          <a:solidFill xmlns:a="http://schemas.openxmlformats.org/drawingml/2006/main">
            <a:srgbClr val="081A33"/>
          </a:solidFill>
          <a:ln xmlns:a="http://schemas.openxmlformats.org/drawingml/2006/main" w="9525">
            <a:solidFill>
              <a:srgbClr val="081A33"/>
            </a:solidFill>
            <a:prstDash val="solid"/>
          </a:ln>
        </p:spPr>
      </p:sp>
      <p:sp>
        <p:nvSpPr>
          <p:cNvPr id="21" name="">
            <a:extLst xmlns:a="http://schemas.openxmlformats.org/drawingml/2006/main">
              <a:ext uri="{FF2B5EF4-FFF2-40B4-BE49-F238E27FC236}">
                <a16:creationId xmlns:a16="http://schemas.microsoft.com/office/drawing/2014/main" id="{AE5CA840-AFA1-4C43-BC99-7F859F3FADB0}"/>
              </a:ext>
            </a:extLst>
          </p:cNvPr>
          <p:cNvSpPr>
            <a:spLocks xmlns:a="http://schemas.openxmlformats.org/drawingml/2006/main" noGrp="1"/>
          </p:cNvSpPr>
          <p:nvPr/>
        </p:nvSpPr>
        <p:spPr>
          <a:xfrm xmlns:a="http://schemas.openxmlformats.org/drawingml/2006/main">
            <a:off x="990600" y="5105400"/>
            <a:ext cx="998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defRPr>
            </a:pPr>
            <a:r>
              <a:rPr sz="1575" b="1">
                <a:solidFill>
                  <a:srgbClr val="FFFFFF"/>
                </a:solidFill>
              </a:rPr>
              <a:t>Điều kiện demo: dữ liệu lưu thật • quyền đúng • upload/email chạy • CI xanh • có staging</a:t>
            </a:r>
          </a:p>
        </p:txBody>
      </p:sp>
    </p:spTree>
    <p:extLst>
      <p:ext uri="{BB962C8B-B14F-4D97-AF65-F5344CB8AC3E}">
        <p14:creationId xmlns:p14="http://schemas.microsoft.com/office/powerpoint/2010/main" val="1913346705"/>
      </p:ext>
    </p:extLst>
  </p:cSld>
</p:sld>
</file>

<file path=ppt/slides/slide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d35fb840eb648d7"/>
          <a:srcRect xmlns:a="http://schemas.openxmlformats.org/drawingml/2006/main" l="18343" t="0" r="18343" b="0"/>
          <a:stretch xmlns:a="http://schemas.openxmlformats.org/drawingml/2006/main">
            <a:fillRect l="0" t="0" r="0" b="0"/>
          </a:stretch>
        </p:blipFill>
        <p:spPr>
          <a:xfrm xmlns:a="http://schemas.openxmlformats.org/drawingml/2006/main">
            <a:off x="4476750" y="0"/>
            <a:ext cx="7715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4EA0FD-91B4-4A51-9795-204B9A0F2F08}"/>
              </a:ext>
            </a:extLst>
          </p:cNvPr>
          <p:cNvSpPr>
            <a:spLocks xmlns:a="http://schemas.openxmlformats.org/drawingml/2006/main" noGrp="1"/>
          </p:cNvSpPr>
          <p:nvPr/>
        </p:nvSpPr>
        <p:spPr>
          <a:xfrm xmlns:a="http://schemas.openxmlformats.org/drawingml/2006/main">
            <a:off x="3810000" y="0"/>
            <a:ext cx="2000250" cy="6858000"/>
          </a:xfrm>
          <a:prstGeom xmlns:a="http://schemas.openxmlformats.org/drawingml/2006/main" prst="rect">
            <a:avLst/>
          </a:prstGeom>
          <a:gradFill xmlns:a="http://schemas.openxmlformats.org/drawingml/2006/main">
            <a:gsLst>
              <a:gs pos="0">
                <a:srgbClr val="FAF8F5"/>
              </a:gs>
              <a:gs pos="45000">
                <a:srgbClr val="FAF8F5"/>
              </a:gs>
              <a:gs pos="100000">
                <a:srgbClr val="FAF8F5">
                  <a:alpha val="0"/>
                </a:srgbClr>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597023-D3B6-422D-B213-C1EE47E90CC9}"/>
              </a:ext>
            </a:extLst>
          </p:cNvPr>
          <p:cNvSpPr>
            <a:spLocks xmlns:a="http://schemas.openxmlformats.org/drawingml/2006/main" noGrp="1"/>
          </p:cNvSpPr>
          <p:nvPr/>
        </p:nvSpPr>
        <p:spPr>
          <a:xfrm xmlns:a="http://schemas.openxmlformats.org/drawingml/2006/main">
            <a:off x="685800" y="11620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C23B22"/>
                </a:solidFill>
              </a:defRPr>
            </a:pPr>
            <a:r>
              <a:rPr sz="975" b="1">
                <a:solidFill>
                  <a:srgbClr val="C23B22"/>
                </a:solidFill>
              </a:rPr>
              <a:t>PHẦN 02</a:t>
            </a:r>
          </a:p>
        </p:txBody>
      </p:sp>
      <p:sp>
        <p:nvSpPr>
          <p:cNvPr id="4" name="">
            <a:extLst xmlns:a="http://schemas.openxmlformats.org/drawingml/2006/main">
              <a:ext uri="{FF2B5EF4-FFF2-40B4-BE49-F238E27FC236}">
                <a16:creationId xmlns:a16="http://schemas.microsoft.com/office/drawing/2014/main" id="{A7D01EC5-F4BE-482E-BC6E-8D91CE3E44AD}"/>
              </a:ext>
            </a:extLst>
          </p:cNvPr>
          <p:cNvSpPr>
            <a:spLocks xmlns:a="http://schemas.openxmlformats.org/drawingml/2006/main" noGrp="1"/>
          </p:cNvSpPr>
          <p:nvPr/>
        </p:nvSpPr>
        <p:spPr>
          <a:xfrm xmlns:a="http://schemas.openxmlformats.org/drawingml/2006/main">
            <a:off x="685800" y="1657350"/>
            <a:ext cx="419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201A16"/>
                </a:solidFill>
              </a:defRPr>
            </a:pPr>
            <a:r>
              <a:rPr sz="3225" b="1">
                <a:solidFill>
                  <a:srgbClr val="201A16"/>
                </a:solidFill>
              </a:rPr>
              <a:t>Công nghệ đang dùng</a:t>
            </a:r>
          </a:p>
          <a:p xmlns:a="http://schemas.openxmlformats.org/drawingml/2006/main">
            <a:pPr algn="l">
              <a:defRPr sz="3225" b="1">
                <a:solidFill>
                  <a:srgbClr val="201A16"/>
                </a:solidFill>
              </a:defRPr>
            </a:pPr>
            <a:r>
              <a:rPr sz="3225" b="1">
                <a:solidFill>
                  <a:srgbClr val="201A16"/>
                </a:solidFill>
              </a:rPr>
              <a:t>trong APC Portal</a:t>
            </a:r>
          </a:p>
        </p:txBody>
      </p:sp>
      <p:sp>
        <p:nvSpPr>
          <p:cNvPr id="5" name="">
            <a:extLst xmlns:a="http://schemas.openxmlformats.org/drawingml/2006/main">
              <a:ext uri="{FF2B5EF4-FFF2-40B4-BE49-F238E27FC236}">
                <a16:creationId xmlns:a16="http://schemas.microsoft.com/office/drawing/2014/main" id="{07197E3B-1109-41AD-B7DD-DF167D52AF9C}"/>
              </a:ext>
            </a:extLst>
          </p:cNvPr>
          <p:cNvSpPr>
            <a:spLocks xmlns:a="http://schemas.openxmlformats.org/drawingml/2006/main" noGrp="1"/>
          </p:cNvSpPr>
          <p:nvPr/>
        </p:nvSpPr>
        <p:spPr>
          <a:xfrm xmlns:a="http://schemas.openxmlformats.org/drawingml/2006/main">
            <a:off x="68580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B5F55"/>
                </a:solidFill>
              </a:defRPr>
            </a:pPr>
            <a:r>
              <a:rPr sz="1650" b="0">
                <a:solidFill>
                  <a:srgbClr val="6B5F55"/>
                </a:solidFill>
              </a:rPr>
              <a:t>Stack hiện có, phần sẽ bổ sung và cách các thành phần nối với nhau.</a:t>
            </a:r>
          </a:p>
        </p:txBody>
      </p:sp>
      <p:sp>
        <p:nvSpPr>
          <p:cNvPr id="6" name="">
            <a:extLst xmlns:a="http://schemas.openxmlformats.org/drawingml/2006/main">
              <a:ext uri="{FF2B5EF4-FFF2-40B4-BE49-F238E27FC236}">
                <a16:creationId xmlns:a16="http://schemas.microsoft.com/office/drawing/2014/main" id="{A1E11170-8EC8-409E-9641-3239914BA0C9}"/>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7" name="">
            <a:extLst xmlns:a="http://schemas.openxmlformats.org/drawingml/2006/main">
              <a:ext uri="{FF2B5EF4-FFF2-40B4-BE49-F238E27FC236}">
                <a16:creationId xmlns:a16="http://schemas.microsoft.com/office/drawing/2014/main" id="{E2BF982A-612C-42A2-A251-42F2EF5FB7EC}"/>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09</a:t>
            </a:r>
          </a:p>
        </p:txBody>
      </p:sp>
    </p:spTree>
    <p:extLst>
      <p:ext uri="{BB962C8B-B14F-4D97-AF65-F5344CB8AC3E}">
        <p14:creationId xmlns:p14="http://schemas.microsoft.com/office/powerpoint/2010/main" val="1488910771"/>
      </p:ext>
    </p:extLst>
  </p:cSld>
</p:sld>
</file>

<file path=ppt/slides/slide1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F32CEF6-5A68-45D0-9C4F-4D5E1174A2CF}"/>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5ADC5ED0-24FF-490F-BD86-3C7D096E691B}"/>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Luồng xử lý cơ bản của một request</a:t>
            </a:r>
          </a:p>
        </p:txBody>
      </p:sp>
      <p:sp>
        <p:nvSpPr>
          <p:cNvPr id="3" name="">
            <a:extLst xmlns:a="http://schemas.openxmlformats.org/drawingml/2006/main">
              <a:ext uri="{FF2B5EF4-FFF2-40B4-BE49-F238E27FC236}">
                <a16:creationId xmlns:a16="http://schemas.microsoft.com/office/drawing/2014/main" id="{1B92E9A3-46B2-423B-B883-696DB52B16B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575711B4-2CE8-40FE-B859-65949B6AC94A}"/>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800215B5-5E3A-47FC-9A66-46EEA972B246}"/>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10</a:t>
            </a:r>
          </a:p>
        </p:txBody>
      </p:sp>
      <p:sp>
        <p:nvSpPr>
          <p:cNvPr id="6" name="">
            <a:extLst xmlns:a="http://schemas.openxmlformats.org/drawingml/2006/main">
              <a:ext uri="{FF2B5EF4-FFF2-40B4-BE49-F238E27FC236}">
                <a16:creationId xmlns:a16="http://schemas.microsoft.com/office/drawing/2014/main" id="{218386ED-355F-41A2-821A-21EE5AA1D9C2}"/>
              </a:ext>
            </a:extLst>
          </p:cNvPr>
          <p:cNvSpPr>
            <a:spLocks xmlns:a="http://schemas.openxmlformats.org/drawingml/2006/main" noGrp="1"/>
          </p:cNvSpPr>
          <p:nvPr/>
        </p:nvSpPr>
        <p:spPr>
          <a:xfrm xmlns:a="http://schemas.openxmlformats.org/drawingml/2006/main">
            <a:off x="685800" y="2286000"/>
            <a:ext cx="2095500" cy="1657350"/>
          </a:xfrm>
          <a:prstGeom xmlns:a="http://schemas.openxmlformats.org/drawingml/2006/main" prst="roundRect">
            <a:avLst>
              <a:gd name="adj" fmla="val 12644"/>
            </a:avLst>
          </a:prstGeom>
          <a:solidFill xmlns:a="http://schemas.openxmlformats.org/drawingml/2006/main">
            <a:srgbClr val="FFFFFF"/>
          </a:solidFill>
          <a:ln xmlns:a="http://schemas.openxmlformats.org/drawingml/2006/main" w="9525">
            <a:solidFill>
              <a:srgbClr val="E7DFD5"/>
            </a:solidFill>
            <a:prstDash val="solid"/>
          </a:ln>
        </p:spPr>
      </p:sp>
      <p:sp>
        <p:nvSpPr>
          <p:cNvPr id="7" name="">
            <a:extLst xmlns:a="http://schemas.openxmlformats.org/drawingml/2006/main">
              <a:ext uri="{FF2B5EF4-FFF2-40B4-BE49-F238E27FC236}">
                <a16:creationId xmlns:a16="http://schemas.microsoft.com/office/drawing/2014/main" id="{D2900C31-D418-4C6B-985C-21B55CE6E724}"/>
              </a:ext>
            </a:extLst>
          </p:cNvPr>
          <p:cNvSpPr>
            <a:spLocks xmlns:a="http://schemas.openxmlformats.org/drawingml/2006/main" noGrp="1"/>
          </p:cNvSpPr>
          <p:nvPr/>
        </p:nvSpPr>
        <p:spPr>
          <a:xfrm xmlns:a="http://schemas.openxmlformats.org/drawingml/2006/main">
            <a:off x="914400" y="2514600"/>
            <a:ext cx="400050" cy="4000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4187C7BB-5505-449A-9D61-430D4E762D22}"/>
              </a:ext>
            </a:extLst>
          </p:cNvPr>
          <p:cNvSpPr>
            <a:spLocks xmlns:a="http://schemas.openxmlformats.org/drawingml/2006/main" noGrp="1"/>
          </p:cNvSpPr>
          <p:nvPr/>
        </p:nvSpPr>
        <p:spPr>
          <a:xfrm xmlns:a="http://schemas.openxmlformats.org/drawingml/2006/main">
            <a:off x="914400" y="30670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Người dùng</a:t>
            </a:r>
          </a:p>
        </p:txBody>
      </p:sp>
      <p:sp>
        <p:nvSpPr>
          <p:cNvPr id="9" name="">
            <a:extLst xmlns:a="http://schemas.openxmlformats.org/drawingml/2006/main">
              <a:ext uri="{FF2B5EF4-FFF2-40B4-BE49-F238E27FC236}">
                <a16:creationId xmlns:a16="http://schemas.microsoft.com/office/drawing/2014/main" id="{4907CBBF-85AB-436E-B0CF-A1AA69C262A7}"/>
              </a:ext>
            </a:extLst>
          </p:cNvPr>
          <p:cNvSpPr>
            <a:spLocks xmlns:a="http://schemas.openxmlformats.org/drawingml/2006/main" noGrp="1"/>
          </p:cNvSpPr>
          <p:nvPr/>
        </p:nvSpPr>
        <p:spPr>
          <a:xfrm xmlns:a="http://schemas.openxmlformats.org/drawingml/2006/main">
            <a:off x="914400" y="34861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B5F55"/>
                </a:solidFill>
              </a:defRPr>
            </a:pPr>
            <a:r>
              <a:rPr sz="1275" b="0">
                <a:solidFill>
                  <a:srgbClr val="6B5F55"/>
                </a:solidFill>
              </a:rPr>
              <a:t>Bấm nút</a:t>
            </a:r>
          </a:p>
        </p:txBody>
      </p:sp>
      <p:sp>
        <p:nvSpPr>
          <p:cNvPr id="10" name="">
            <a:extLst xmlns:a="http://schemas.openxmlformats.org/drawingml/2006/main">
              <a:ext uri="{FF2B5EF4-FFF2-40B4-BE49-F238E27FC236}">
                <a16:creationId xmlns:a16="http://schemas.microsoft.com/office/drawing/2014/main" id="{50EB605C-33E9-434C-9EAB-23213F4A4B9B}"/>
              </a:ext>
            </a:extLst>
          </p:cNvPr>
          <p:cNvSpPr>
            <a:spLocks xmlns:a="http://schemas.openxmlformats.org/drawingml/2006/main" noGrp="1"/>
          </p:cNvSpPr>
          <p:nvPr/>
        </p:nvSpPr>
        <p:spPr>
          <a:xfrm xmlns:a="http://schemas.openxmlformats.org/drawingml/2006/main">
            <a:off x="3238500" y="2286000"/>
            <a:ext cx="2095500" cy="1657350"/>
          </a:xfrm>
          <a:prstGeom xmlns:a="http://schemas.openxmlformats.org/drawingml/2006/main" prst="roundRect">
            <a:avLst>
              <a:gd name="adj" fmla="val 12644"/>
            </a:avLst>
          </a:prstGeom>
          <a:solidFill xmlns:a="http://schemas.openxmlformats.org/drawingml/2006/main">
            <a:srgbClr val="FFFFFF"/>
          </a:solidFill>
          <a:ln xmlns:a="http://schemas.openxmlformats.org/drawingml/2006/main" w="9525">
            <a:solidFill>
              <a:srgbClr val="E7DFD5"/>
            </a:solidFill>
            <a:prstDash val="solid"/>
          </a:ln>
        </p:spPr>
      </p:sp>
      <p:sp>
        <p:nvSpPr>
          <p:cNvPr id="11" name="">
            <a:extLst xmlns:a="http://schemas.openxmlformats.org/drawingml/2006/main">
              <a:ext uri="{FF2B5EF4-FFF2-40B4-BE49-F238E27FC236}">
                <a16:creationId xmlns:a16="http://schemas.microsoft.com/office/drawing/2014/main" id="{04EFB2E6-B80C-4A12-857D-728F86EBFA31}"/>
              </a:ext>
            </a:extLst>
          </p:cNvPr>
          <p:cNvSpPr>
            <a:spLocks xmlns:a="http://schemas.openxmlformats.org/drawingml/2006/main" noGrp="1"/>
          </p:cNvSpPr>
          <p:nvPr/>
        </p:nvSpPr>
        <p:spPr>
          <a:xfrm xmlns:a="http://schemas.openxmlformats.org/drawingml/2006/main">
            <a:off x="3467100" y="2514600"/>
            <a:ext cx="400050" cy="4000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2" name="">
            <a:extLst xmlns:a="http://schemas.openxmlformats.org/drawingml/2006/main">
              <a:ext uri="{FF2B5EF4-FFF2-40B4-BE49-F238E27FC236}">
                <a16:creationId xmlns:a16="http://schemas.microsoft.com/office/drawing/2014/main" id="{DD27DEC0-C735-4F52-9E69-93D73BA802A5}"/>
              </a:ext>
            </a:extLst>
          </p:cNvPr>
          <p:cNvSpPr>
            <a:spLocks xmlns:a="http://schemas.openxmlformats.org/drawingml/2006/main" noGrp="1"/>
          </p:cNvSpPr>
          <p:nvPr/>
        </p:nvSpPr>
        <p:spPr>
          <a:xfrm xmlns:a="http://schemas.openxmlformats.org/drawingml/2006/main">
            <a:off x="3467100" y="30670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Frontend</a:t>
            </a:r>
          </a:p>
        </p:txBody>
      </p:sp>
      <p:sp>
        <p:nvSpPr>
          <p:cNvPr id="13" name="">
            <a:extLst xmlns:a="http://schemas.openxmlformats.org/drawingml/2006/main">
              <a:ext uri="{FF2B5EF4-FFF2-40B4-BE49-F238E27FC236}">
                <a16:creationId xmlns:a16="http://schemas.microsoft.com/office/drawing/2014/main" id="{41EFE85F-A4D6-434B-9DA1-40571612279B}"/>
              </a:ext>
            </a:extLst>
          </p:cNvPr>
          <p:cNvSpPr>
            <a:spLocks xmlns:a="http://schemas.openxmlformats.org/drawingml/2006/main" noGrp="1"/>
          </p:cNvSpPr>
          <p:nvPr/>
        </p:nvSpPr>
        <p:spPr>
          <a:xfrm xmlns:a="http://schemas.openxmlformats.org/drawingml/2006/main">
            <a:off x="3467100" y="34861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B5F55"/>
                </a:solidFill>
              </a:defRPr>
            </a:pPr>
            <a:r>
              <a:rPr sz="1275" b="0">
                <a:solidFill>
                  <a:srgbClr val="6B5F55"/>
                </a:solidFill>
              </a:rPr>
              <a:t>React + Vite</a:t>
            </a:r>
          </a:p>
        </p:txBody>
      </p:sp>
      <p:sp>
        <p:nvSpPr>
          <p:cNvPr id="14" name="">
            <a:extLst xmlns:a="http://schemas.openxmlformats.org/drawingml/2006/main">
              <a:ext uri="{FF2B5EF4-FFF2-40B4-BE49-F238E27FC236}">
                <a16:creationId xmlns:a16="http://schemas.microsoft.com/office/drawing/2014/main" id="{29526CEF-538D-4D3D-979E-D2A42F7BA935}"/>
              </a:ext>
            </a:extLst>
          </p:cNvPr>
          <p:cNvSpPr>
            <a:spLocks xmlns:a="http://schemas.openxmlformats.org/drawingml/2006/main" noGrp="1"/>
          </p:cNvSpPr>
          <p:nvPr/>
        </p:nvSpPr>
        <p:spPr>
          <a:xfrm xmlns:a="http://schemas.openxmlformats.org/drawingml/2006/main">
            <a:off x="5791200" y="2286000"/>
            <a:ext cx="2095500" cy="1657350"/>
          </a:xfrm>
          <a:prstGeom xmlns:a="http://schemas.openxmlformats.org/drawingml/2006/main" prst="roundRect">
            <a:avLst>
              <a:gd name="adj" fmla="val 12644"/>
            </a:avLst>
          </a:prstGeom>
          <a:solidFill xmlns:a="http://schemas.openxmlformats.org/drawingml/2006/main">
            <a:srgbClr val="FFFFFF"/>
          </a:solidFill>
          <a:ln xmlns:a="http://schemas.openxmlformats.org/drawingml/2006/main" w="9525">
            <a:solidFill>
              <a:srgbClr val="E7DFD5"/>
            </a:solidFill>
            <a:prstDash val="solid"/>
          </a:ln>
        </p:spPr>
      </p:sp>
      <p:sp>
        <p:nvSpPr>
          <p:cNvPr id="15" name="">
            <a:extLst xmlns:a="http://schemas.openxmlformats.org/drawingml/2006/main">
              <a:ext uri="{FF2B5EF4-FFF2-40B4-BE49-F238E27FC236}">
                <a16:creationId xmlns:a16="http://schemas.microsoft.com/office/drawing/2014/main" id="{D290FD45-9889-447C-B888-E51E3F05C8E5}"/>
              </a:ext>
            </a:extLst>
          </p:cNvPr>
          <p:cNvSpPr>
            <a:spLocks xmlns:a="http://schemas.openxmlformats.org/drawingml/2006/main" noGrp="1"/>
          </p:cNvSpPr>
          <p:nvPr/>
        </p:nvSpPr>
        <p:spPr>
          <a:xfrm xmlns:a="http://schemas.openxmlformats.org/drawingml/2006/main">
            <a:off x="6019800" y="2514600"/>
            <a:ext cx="400050" cy="4000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6" name="">
            <a:extLst xmlns:a="http://schemas.openxmlformats.org/drawingml/2006/main">
              <a:ext uri="{FF2B5EF4-FFF2-40B4-BE49-F238E27FC236}">
                <a16:creationId xmlns:a16="http://schemas.microsoft.com/office/drawing/2014/main" id="{9A4FBA78-C8C7-434A-97B8-08A8380B2ADF}"/>
              </a:ext>
            </a:extLst>
          </p:cNvPr>
          <p:cNvSpPr>
            <a:spLocks xmlns:a="http://schemas.openxmlformats.org/drawingml/2006/main" noGrp="1"/>
          </p:cNvSpPr>
          <p:nvPr/>
        </p:nvSpPr>
        <p:spPr>
          <a:xfrm xmlns:a="http://schemas.openxmlformats.org/drawingml/2006/main">
            <a:off x="6019800" y="30670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Backend</a:t>
            </a:r>
          </a:p>
        </p:txBody>
      </p:sp>
      <p:sp>
        <p:nvSpPr>
          <p:cNvPr id="17" name="">
            <a:extLst xmlns:a="http://schemas.openxmlformats.org/drawingml/2006/main">
              <a:ext uri="{FF2B5EF4-FFF2-40B4-BE49-F238E27FC236}">
                <a16:creationId xmlns:a16="http://schemas.microsoft.com/office/drawing/2014/main" id="{33AF679A-417A-4AC4-BFD4-E37ADC05D728}"/>
              </a:ext>
            </a:extLst>
          </p:cNvPr>
          <p:cNvSpPr>
            <a:spLocks xmlns:a="http://schemas.openxmlformats.org/drawingml/2006/main" noGrp="1"/>
          </p:cNvSpPr>
          <p:nvPr/>
        </p:nvSpPr>
        <p:spPr>
          <a:xfrm xmlns:a="http://schemas.openxmlformats.org/drawingml/2006/main">
            <a:off x="6019800" y="34861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B5F55"/>
                </a:solidFill>
              </a:defRPr>
            </a:pPr>
            <a:r>
              <a:rPr sz="1275" b="0">
                <a:solidFill>
                  <a:srgbClr val="6B5F55"/>
                </a:solidFill>
              </a:rPr>
              <a:t>Fastify + Zod</a:t>
            </a:r>
          </a:p>
        </p:txBody>
      </p:sp>
      <p:sp>
        <p:nvSpPr>
          <p:cNvPr id="18" name="">
            <a:extLst xmlns:a="http://schemas.openxmlformats.org/drawingml/2006/main">
              <a:ext uri="{FF2B5EF4-FFF2-40B4-BE49-F238E27FC236}">
                <a16:creationId xmlns:a16="http://schemas.microsoft.com/office/drawing/2014/main" id="{CFFD3366-365B-4BD6-83A8-E80EA9C64559}"/>
              </a:ext>
            </a:extLst>
          </p:cNvPr>
          <p:cNvSpPr>
            <a:spLocks xmlns:a="http://schemas.openxmlformats.org/drawingml/2006/main" noGrp="1"/>
          </p:cNvSpPr>
          <p:nvPr/>
        </p:nvSpPr>
        <p:spPr>
          <a:xfrm xmlns:a="http://schemas.openxmlformats.org/drawingml/2006/main">
            <a:off x="8343900" y="2286000"/>
            <a:ext cx="2095500" cy="1657350"/>
          </a:xfrm>
          <a:prstGeom xmlns:a="http://schemas.openxmlformats.org/drawingml/2006/main" prst="roundRect">
            <a:avLst>
              <a:gd name="adj" fmla="val 12644"/>
            </a:avLst>
          </a:prstGeom>
          <a:solidFill xmlns:a="http://schemas.openxmlformats.org/drawingml/2006/main">
            <a:srgbClr val="FFFFFF"/>
          </a:solidFill>
          <a:ln xmlns:a="http://schemas.openxmlformats.org/drawingml/2006/main" w="9525">
            <a:solidFill>
              <a:srgbClr val="E7DFD5"/>
            </a:solidFill>
            <a:prstDash val="solid"/>
          </a:ln>
        </p:spPr>
      </p:sp>
      <p:sp>
        <p:nvSpPr>
          <p:cNvPr id="19" name="">
            <a:extLst xmlns:a="http://schemas.openxmlformats.org/drawingml/2006/main">
              <a:ext uri="{FF2B5EF4-FFF2-40B4-BE49-F238E27FC236}">
                <a16:creationId xmlns:a16="http://schemas.microsoft.com/office/drawing/2014/main" id="{36AE3FFD-A638-443E-86D0-5E84CB9EB18A}"/>
              </a:ext>
            </a:extLst>
          </p:cNvPr>
          <p:cNvSpPr>
            <a:spLocks xmlns:a="http://schemas.openxmlformats.org/drawingml/2006/main" noGrp="1"/>
          </p:cNvSpPr>
          <p:nvPr/>
        </p:nvSpPr>
        <p:spPr>
          <a:xfrm xmlns:a="http://schemas.openxmlformats.org/drawingml/2006/main">
            <a:off x="8572500" y="2514600"/>
            <a:ext cx="400050" cy="400050"/>
          </a:xfrm>
          <a:prstGeom xmlns:a="http://schemas.openxmlformats.org/drawingml/2006/main" prst="ellipse">
            <a:avLst/>
          </a:prstGeom>
          <a:solidFill xmlns:a="http://schemas.openxmlformats.org/drawingml/2006/main">
            <a:srgbClr val="0B3E7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0" name="">
            <a:extLst xmlns:a="http://schemas.openxmlformats.org/drawingml/2006/main">
              <a:ext uri="{FF2B5EF4-FFF2-40B4-BE49-F238E27FC236}">
                <a16:creationId xmlns:a16="http://schemas.microsoft.com/office/drawing/2014/main" id="{A534D12C-89FF-4737-8D4F-97AA0B7773AB}"/>
              </a:ext>
            </a:extLst>
          </p:cNvPr>
          <p:cNvSpPr>
            <a:spLocks xmlns:a="http://schemas.openxmlformats.org/drawingml/2006/main" noGrp="1"/>
          </p:cNvSpPr>
          <p:nvPr/>
        </p:nvSpPr>
        <p:spPr>
          <a:xfrm xmlns:a="http://schemas.openxmlformats.org/drawingml/2006/main">
            <a:off x="8572500" y="30670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Dữ liệu</a:t>
            </a:r>
          </a:p>
        </p:txBody>
      </p:sp>
      <p:sp>
        <p:nvSpPr>
          <p:cNvPr id="21" name="">
            <a:extLst xmlns:a="http://schemas.openxmlformats.org/drawingml/2006/main">
              <a:ext uri="{FF2B5EF4-FFF2-40B4-BE49-F238E27FC236}">
                <a16:creationId xmlns:a16="http://schemas.microsoft.com/office/drawing/2014/main" id="{ED562322-35DA-4532-A976-436388A22EE3}"/>
              </a:ext>
            </a:extLst>
          </p:cNvPr>
          <p:cNvSpPr>
            <a:spLocks xmlns:a="http://schemas.openxmlformats.org/drawingml/2006/main" noGrp="1"/>
          </p:cNvSpPr>
          <p:nvPr/>
        </p:nvSpPr>
        <p:spPr>
          <a:xfrm xmlns:a="http://schemas.openxmlformats.org/drawingml/2006/main">
            <a:off x="8572500" y="34861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B5F55"/>
                </a:solidFill>
              </a:defRPr>
            </a:pPr>
            <a:r>
              <a:rPr sz="1275" b="0">
                <a:solidFill>
                  <a:srgbClr val="6B5F55"/>
                </a:solidFill>
              </a:rPr>
              <a:t>PostgreSQL</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2781300" y="311467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5334000" y="311467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7886700" y="311467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sp>
        <p:nvSpPr>
          <p:cNvPr id="25" name="">
            <a:extLst xmlns:a="http://schemas.openxmlformats.org/drawingml/2006/main">
              <a:ext uri="{FF2B5EF4-FFF2-40B4-BE49-F238E27FC236}">
                <a16:creationId xmlns:a16="http://schemas.microsoft.com/office/drawing/2014/main" id="{EA82AE70-BE4D-44D6-B40E-C0DA3ED41D0E}"/>
              </a:ext>
            </a:extLst>
          </p:cNvPr>
          <p:cNvSpPr>
            <a:spLocks xmlns:a="http://schemas.openxmlformats.org/drawingml/2006/main" noGrp="1"/>
          </p:cNvSpPr>
          <p:nvPr/>
        </p:nvSpPr>
        <p:spPr>
          <a:xfrm xmlns:a="http://schemas.openxmlformats.org/drawingml/2006/main">
            <a:off x="3238500" y="44577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B5F55"/>
                </a:solidFill>
              </a:defRPr>
            </a:pPr>
            <a:r>
              <a:rPr sz="1500" b="1">
                <a:solidFill>
                  <a:srgbClr val="6B5F55"/>
                </a:solidFill>
              </a:rPr>
              <a:t>File → MinIO     •     Email thử nghiệm → Mailpit</a:t>
            </a:r>
          </a:p>
        </p:txBody>
      </p:sp>
    </p:spTree>
    <p:extLst>
      <p:ext uri="{BB962C8B-B14F-4D97-AF65-F5344CB8AC3E}">
        <p14:creationId xmlns:p14="http://schemas.microsoft.com/office/powerpoint/2010/main" val="1943197361"/>
      </p:ext>
    </p:extLst>
  </p:cSld>
</p:sld>
</file>

<file path=ppt/slides/slide1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B2C884D-54EF-4C35-AC93-ECA4132C50D6}"/>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E9973DA6-7292-4901-9025-51633755386D}"/>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Stack đang được cài trong repository</a:t>
            </a:r>
          </a:p>
        </p:txBody>
      </p:sp>
      <p:sp>
        <p:nvSpPr>
          <p:cNvPr id="3" name="">
            <a:extLst xmlns:a="http://schemas.openxmlformats.org/drawingml/2006/main">
              <a:ext uri="{FF2B5EF4-FFF2-40B4-BE49-F238E27FC236}">
                <a16:creationId xmlns:a16="http://schemas.microsoft.com/office/drawing/2014/main" id="{8B0B1EDF-3F99-48E6-947A-71DB7D4E7CC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6A6112DF-9643-4C55-8EB6-8B6BA62DC239}"/>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56406A4B-D64B-4A73-87A9-42360F355B65}"/>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11</a:t>
            </a:r>
          </a:p>
        </p:txBody>
      </p:sp>
      <p:sp>
        <p:nvSpPr>
          <p:cNvPr id="6" name="">
            <a:extLst xmlns:a="http://schemas.openxmlformats.org/drawingml/2006/main">
              <a:ext uri="{FF2B5EF4-FFF2-40B4-BE49-F238E27FC236}">
                <a16:creationId xmlns:a16="http://schemas.microsoft.com/office/drawing/2014/main" id="{0563B17C-4D25-4A6A-93C4-161E0AF6D984}"/>
              </a:ext>
            </a:extLst>
          </p:cNvPr>
          <p:cNvSpPr>
            <a:spLocks xmlns:a="http://schemas.openxmlformats.org/drawingml/2006/main" noGrp="1"/>
          </p:cNvSpPr>
          <p:nvPr/>
        </p:nvSpPr>
        <p:spPr>
          <a:xfrm xmlns:a="http://schemas.openxmlformats.org/drawingml/2006/main">
            <a:off x="781050" y="15621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568C9"/>
                </a:solidFill>
              </a:defRPr>
            </a:pPr>
            <a:r>
              <a:rPr sz="1200" b="1">
                <a:solidFill>
                  <a:srgbClr val="1568C9"/>
                </a:solidFill>
              </a:rPr>
              <a:t>Runtime</a:t>
            </a:r>
          </a:p>
        </p:txBody>
      </p:sp>
      <p:sp>
        <p:nvSpPr>
          <p:cNvPr id="7" name="">
            <a:extLst xmlns:a="http://schemas.openxmlformats.org/drawingml/2006/main">
              <a:ext uri="{FF2B5EF4-FFF2-40B4-BE49-F238E27FC236}">
                <a16:creationId xmlns:a16="http://schemas.microsoft.com/office/drawing/2014/main" id="{602D041A-EF04-4219-A433-37DD403656FE}"/>
              </a:ext>
            </a:extLst>
          </p:cNvPr>
          <p:cNvSpPr>
            <a:spLocks xmlns:a="http://schemas.openxmlformats.org/drawingml/2006/main" noGrp="1"/>
          </p:cNvSpPr>
          <p:nvPr/>
        </p:nvSpPr>
        <p:spPr>
          <a:xfrm xmlns:a="http://schemas.openxmlformats.org/drawingml/2006/main">
            <a:off x="2571750" y="15621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Node.js 22</a:t>
            </a:r>
          </a:p>
        </p:txBody>
      </p:sp>
      <p:sp>
        <p:nvSpPr>
          <p:cNvPr id="8" name="">
            <a:extLst xmlns:a="http://schemas.openxmlformats.org/drawingml/2006/main">
              <a:ext uri="{FF2B5EF4-FFF2-40B4-BE49-F238E27FC236}">
                <a16:creationId xmlns:a16="http://schemas.microsoft.com/office/drawing/2014/main" id="{5FFE9DA4-22D3-40A8-A162-1CD72D2B61B4}"/>
              </a:ext>
            </a:extLst>
          </p:cNvPr>
          <p:cNvSpPr>
            <a:spLocks xmlns:a="http://schemas.openxmlformats.org/drawingml/2006/main" noGrp="1"/>
          </p:cNvSpPr>
          <p:nvPr/>
        </p:nvSpPr>
        <p:spPr>
          <a:xfrm xmlns:a="http://schemas.openxmlformats.org/drawingml/2006/main">
            <a:off x="6572250" y="15621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Chạy API, scripts và tooling</a:t>
            </a:r>
          </a:p>
        </p:txBody>
      </p:sp>
      <p:sp>
        <p:nvSpPr>
          <p:cNvPr id="9" name="">
            <a:extLst xmlns:a="http://schemas.openxmlformats.org/drawingml/2006/main">
              <a:ext uri="{FF2B5EF4-FFF2-40B4-BE49-F238E27FC236}">
                <a16:creationId xmlns:a16="http://schemas.microsoft.com/office/drawing/2014/main" id="{61DA43AF-2FE4-4643-AFAF-130E8F19E5AE}"/>
              </a:ext>
            </a:extLst>
          </p:cNvPr>
          <p:cNvSpPr>
            <a:spLocks xmlns:a="http://schemas.openxmlformats.org/drawingml/2006/main" noGrp="1"/>
          </p:cNvSpPr>
          <p:nvPr/>
        </p:nvSpPr>
        <p:spPr>
          <a:xfrm xmlns:a="http://schemas.openxmlformats.org/drawingml/2006/main">
            <a:off x="2571750" y="20574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416C26A2-49CC-4F3F-92B5-3409AA3DF70A}"/>
              </a:ext>
            </a:extLst>
          </p:cNvPr>
          <p:cNvSpPr>
            <a:spLocks xmlns:a="http://schemas.openxmlformats.org/drawingml/2006/main" noGrp="1"/>
          </p:cNvSpPr>
          <p:nvPr/>
        </p:nvSpPr>
        <p:spPr>
          <a:xfrm xmlns:a="http://schemas.openxmlformats.org/drawingml/2006/main">
            <a:off x="781050" y="22479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23B22"/>
                </a:solidFill>
              </a:defRPr>
            </a:pPr>
            <a:r>
              <a:rPr sz="1200" b="1">
                <a:solidFill>
                  <a:srgbClr val="C23B22"/>
                </a:solidFill>
              </a:rPr>
              <a:t>Workspace</a:t>
            </a:r>
          </a:p>
        </p:txBody>
      </p:sp>
      <p:sp>
        <p:nvSpPr>
          <p:cNvPr id="11" name="">
            <a:extLst xmlns:a="http://schemas.openxmlformats.org/drawingml/2006/main">
              <a:ext uri="{FF2B5EF4-FFF2-40B4-BE49-F238E27FC236}">
                <a16:creationId xmlns:a16="http://schemas.microsoft.com/office/drawing/2014/main" id="{6324A700-4397-41D8-8D09-919093B7BBA2}"/>
              </a:ext>
            </a:extLst>
          </p:cNvPr>
          <p:cNvSpPr>
            <a:spLocks xmlns:a="http://schemas.openxmlformats.org/drawingml/2006/main" noGrp="1"/>
          </p:cNvSpPr>
          <p:nvPr/>
        </p:nvSpPr>
        <p:spPr>
          <a:xfrm xmlns:a="http://schemas.openxmlformats.org/drawingml/2006/main">
            <a:off x="2571750" y="22479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pnpm 10</a:t>
            </a:r>
          </a:p>
        </p:txBody>
      </p:sp>
      <p:sp>
        <p:nvSpPr>
          <p:cNvPr id="12" name="">
            <a:extLst xmlns:a="http://schemas.openxmlformats.org/drawingml/2006/main">
              <a:ext uri="{FF2B5EF4-FFF2-40B4-BE49-F238E27FC236}">
                <a16:creationId xmlns:a16="http://schemas.microsoft.com/office/drawing/2014/main" id="{81546E52-A25C-4DA9-8BD1-A2DBE1542ABA}"/>
              </a:ext>
            </a:extLst>
          </p:cNvPr>
          <p:cNvSpPr>
            <a:spLocks xmlns:a="http://schemas.openxmlformats.org/drawingml/2006/main" noGrp="1"/>
          </p:cNvSpPr>
          <p:nvPr/>
        </p:nvSpPr>
        <p:spPr>
          <a:xfrm xmlns:a="http://schemas.openxmlformats.org/drawingml/2006/main">
            <a:off x="6572250" y="22479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Quản lý web + api trong cùng repo</a:t>
            </a:r>
          </a:p>
        </p:txBody>
      </p:sp>
      <p:sp>
        <p:nvSpPr>
          <p:cNvPr id="13" name="">
            <a:extLst xmlns:a="http://schemas.openxmlformats.org/drawingml/2006/main">
              <a:ext uri="{FF2B5EF4-FFF2-40B4-BE49-F238E27FC236}">
                <a16:creationId xmlns:a16="http://schemas.microsoft.com/office/drawing/2014/main" id="{186BAB81-D3DE-46F1-AD9E-5723BF5BAFCA}"/>
              </a:ext>
            </a:extLst>
          </p:cNvPr>
          <p:cNvSpPr>
            <a:spLocks xmlns:a="http://schemas.openxmlformats.org/drawingml/2006/main" noGrp="1"/>
          </p:cNvSpPr>
          <p:nvPr/>
        </p:nvSpPr>
        <p:spPr>
          <a:xfrm xmlns:a="http://schemas.openxmlformats.org/drawingml/2006/main">
            <a:off x="2571750" y="27432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4" name="">
            <a:extLst xmlns:a="http://schemas.openxmlformats.org/drawingml/2006/main">
              <a:ext uri="{FF2B5EF4-FFF2-40B4-BE49-F238E27FC236}">
                <a16:creationId xmlns:a16="http://schemas.microsoft.com/office/drawing/2014/main" id="{156581EA-084F-468C-BE4A-0B099041C3D7}"/>
              </a:ext>
            </a:extLst>
          </p:cNvPr>
          <p:cNvSpPr>
            <a:spLocks xmlns:a="http://schemas.openxmlformats.org/drawingml/2006/main" noGrp="1"/>
          </p:cNvSpPr>
          <p:nvPr/>
        </p:nvSpPr>
        <p:spPr>
          <a:xfrm xmlns:a="http://schemas.openxmlformats.org/drawingml/2006/main">
            <a:off x="781050" y="29337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568C9"/>
                </a:solidFill>
              </a:defRPr>
            </a:pPr>
            <a:r>
              <a:rPr sz="1200" b="1">
                <a:solidFill>
                  <a:srgbClr val="1568C9"/>
                </a:solidFill>
              </a:rPr>
              <a:t>Frontend</a:t>
            </a:r>
          </a:p>
        </p:txBody>
      </p:sp>
      <p:sp>
        <p:nvSpPr>
          <p:cNvPr id="15" name="">
            <a:extLst xmlns:a="http://schemas.openxmlformats.org/drawingml/2006/main">
              <a:ext uri="{FF2B5EF4-FFF2-40B4-BE49-F238E27FC236}">
                <a16:creationId xmlns:a16="http://schemas.microsoft.com/office/drawing/2014/main" id="{4C26035F-F2BA-4EB8-93D0-0A9B15D07212}"/>
              </a:ext>
            </a:extLst>
          </p:cNvPr>
          <p:cNvSpPr>
            <a:spLocks xmlns:a="http://schemas.openxmlformats.org/drawingml/2006/main" noGrp="1"/>
          </p:cNvSpPr>
          <p:nvPr/>
        </p:nvSpPr>
        <p:spPr>
          <a:xfrm xmlns:a="http://schemas.openxmlformats.org/drawingml/2006/main">
            <a:off x="2571750" y="29337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React 19 • Vite 8 • Tailwind 3</a:t>
            </a:r>
          </a:p>
        </p:txBody>
      </p:sp>
      <p:sp>
        <p:nvSpPr>
          <p:cNvPr id="16" name="">
            <a:extLst xmlns:a="http://schemas.openxmlformats.org/drawingml/2006/main">
              <a:ext uri="{FF2B5EF4-FFF2-40B4-BE49-F238E27FC236}">
                <a16:creationId xmlns:a16="http://schemas.microsoft.com/office/drawing/2014/main" id="{F117E1DE-4C27-4A05-BE4C-1A8F2C25B4CB}"/>
              </a:ext>
            </a:extLst>
          </p:cNvPr>
          <p:cNvSpPr>
            <a:spLocks xmlns:a="http://schemas.openxmlformats.org/drawingml/2006/main" noGrp="1"/>
          </p:cNvSpPr>
          <p:nvPr/>
        </p:nvSpPr>
        <p:spPr>
          <a:xfrm xmlns:a="http://schemas.openxmlformats.org/drawingml/2006/main">
            <a:off x="6572250" y="29337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Giao diện và build web</a:t>
            </a:r>
          </a:p>
        </p:txBody>
      </p:sp>
      <p:sp>
        <p:nvSpPr>
          <p:cNvPr id="17" name="">
            <a:extLst xmlns:a="http://schemas.openxmlformats.org/drawingml/2006/main">
              <a:ext uri="{FF2B5EF4-FFF2-40B4-BE49-F238E27FC236}">
                <a16:creationId xmlns:a16="http://schemas.microsoft.com/office/drawing/2014/main" id="{20D199C7-772B-4BCD-9238-B0AA5554DAA7}"/>
              </a:ext>
            </a:extLst>
          </p:cNvPr>
          <p:cNvSpPr>
            <a:spLocks xmlns:a="http://schemas.openxmlformats.org/drawingml/2006/main" noGrp="1"/>
          </p:cNvSpPr>
          <p:nvPr/>
        </p:nvSpPr>
        <p:spPr>
          <a:xfrm xmlns:a="http://schemas.openxmlformats.org/drawingml/2006/main">
            <a:off x="2571750" y="34290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8" name="">
            <a:extLst xmlns:a="http://schemas.openxmlformats.org/drawingml/2006/main">
              <a:ext uri="{FF2B5EF4-FFF2-40B4-BE49-F238E27FC236}">
                <a16:creationId xmlns:a16="http://schemas.microsoft.com/office/drawing/2014/main" id="{20FFE071-0056-43D2-AD0A-6C6DF64B2937}"/>
              </a:ext>
            </a:extLst>
          </p:cNvPr>
          <p:cNvSpPr>
            <a:spLocks xmlns:a="http://schemas.openxmlformats.org/drawingml/2006/main" noGrp="1"/>
          </p:cNvSpPr>
          <p:nvPr/>
        </p:nvSpPr>
        <p:spPr>
          <a:xfrm xmlns:a="http://schemas.openxmlformats.org/drawingml/2006/main">
            <a:off x="781050" y="36195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23B22"/>
                </a:solidFill>
              </a:defRPr>
            </a:pPr>
            <a:r>
              <a:rPr sz="1200" b="1">
                <a:solidFill>
                  <a:srgbClr val="C23B22"/>
                </a:solidFill>
              </a:rPr>
              <a:t>Backend</a:t>
            </a:r>
          </a:p>
        </p:txBody>
      </p:sp>
      <p:sp>
        <p:nvSpPr>
          <p:cNvPr id="19" name="">
            <a:extLst xmlns:a="http://schemas.openxmlformats.org/drawingml/2006/main">
              <a:ext uri="{FF2B5EF4-FFF2-40B4-BE49-F238E27FC236}">
                <a16:creationId xmlns:a16="http://schemas.microsoft.com/office/drawing/2014/main" id="{0B387FBC-5D74-49B9-A796-AD2849B8A505}"/>
              </a:ext>
            </a:extLst>
          </p:cNvPr>
          <p:cNvSpPr>
            <a:spLocks xmlns:a="http://schemas.openxmlformats.org/drawingml/2006/main" noGrp="1"/>
          </p:cNvSpPr>
          <p:nvPr/>
        </p:nvSpPr>
        <p:spPr>
          <a:xfrm xmlns:a="http://schemas.openxmlformats.org/drawingml/2006/main">
            <a:off x="2571750" y="36195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Fastify 5 • Zod 4 • pg 8</a:t>
            </a:r>
          </a:p>
        </p:txBody>
      </p:sp>
      <p:sp>
        <p:nvSpPr>
          <p:cNvPr id="20" name="">
            <a:extLst xmlns:a="http://schemas.openxmlformats.org/drawingml/2006/main">
              <a:ext uri="{FF2B5EF4-FFF2-40B4-BE49-F238E27FC236}">
                <a16:creationId xmlns:a16="http://schemas.microsoft.com/office/drawing/2014/main" id="{EB326022-7343-4612-A935-5F2BCD14912C}"/>
              </a:ext>
            </a:extLst>
          </p:cNvPr>
          <p:cNvSpPr>
            <a:spLocks xmlns:a="http://schemas.openxmlformats.org/drawingml/2006/main" noGrp="1"/>
          </p:cNvSpPr>
          <p:nvPr/>
        </p:nvSpPr>
        <p:spPr>
          <a:xfrm xmlns:a="http://schemas.openxmlformats.org/drawingml/2006/main">
            <a:off x="6572250" y="36195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API, validate và kết nối PostgreSQL</a:t>
            </a:r>
          </a:p>
        </p:txBody>
      </p:sp>
      <p:sp>
        <p:nvSpPr>
          <p:cNvPr id="21" name="">
            <a:extLst xmlns:a="http://schemas.openxmlformats.org/drawingml/2006/main">
              <a:ext uri="{FF2B5EF4-FFF2-40B4-BE49-F238E27FC236}">
                <a16:creationId xmlns:a16="http://schemas.microsoft.com/office/drawing/2014/main" id="{29101BD1-AED3-4F75-901F-D75DC1540227}"/>
              </a:ext>
            </a:extLst>
          </p:cNvPr>
          <p:cNvSpPr>
            <a:spLocks xmlns:a="http://schemas.openxmlformats.org/drawingml/2006/main" noGrp="1"/>
          </p:cNvSpPr>
          <p:nvPr/>
        </p:nvSpPr>
        <p:spPr>
          <a:xfrm xmlns:a="http://schemas.openxmlformats.org/drawingml/2006/main">
            <a:off x="2571750" y="41148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2" name="">
            <a:extLst xmlns:a="http://schemas.openxmlformats.org/drawingml/2006/main">
              <a:ext uri="{FF2B5EF4-FFF2-40B4-BE49-F238E27FC236}">
                <a16:creationId xmlns:a16="http://schemas.microsoft.com/office/drawing/2014/main" id="{F22FE0DF-EE4E-4547-927B-B59BDF8173DF}"/>
              </a:ext>
            </a:extLst>
          </p:cNvPr>
          <p:cNvSpPr>
            <a:spLocks xmlns:a="http://schemas.openxmlformats.org/drawingml/2006/main" noGrp="1"/>
          </p:cNvSpPr>
          <p:nvPr/>
        </p:nvSpPr>
        <p:spPr>
          <a:xfrm xmlns:a="http://schemas.openxmlformats.org/drawingml/2006/main">
            <a:off x="781050" y="43053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568C9"/>
                </a:solidFill>
              </a:defRPr>
            </a:pPr>
            <a:r>
              <a:rPr sz="1200" b="1">
                <a:solidFill>
                  <a:srgbClr val="1568C9"/>
                </a:solidFill>
              </a:rPr>
              <a:t>Quality</a:t>
            </a:r>
          </a:p>
        </p:txBody>
      </p:sp>
      <p:sp>
        <p:nvSpPr>
          <p:cNvPr id="23" name="">
            <a:extLst xmlns:a="http://schemas.openxmlformats.org/drawingml/2006/main">
              <a:ext uri="{FF2B5EF4-FFF2-40B4-BE49-F238E27FC236}">
                <a16:creationId xmlns:a16="http://schemas.microsoft.com/office/drawing/2014/main" id="{FA5F1F59-9482-40A1-B3DC-6CC4F4BB067D}"/>
              </a:ext>
            </a:extLst>
          </p:cNvPr>
          <p:cNvSpPr>
            <a:spLocks xmlns:a="http://schemas.openxmlformats.org/drawingml/2006/main" noGrp="1"/>
          </p:cNvSpPr>
          <p:nvPr/>
        </p:nvSpPr>
        <p:spPr>
          <a:xfrm xmlns:a="http://schemas.openxmlformats.org/drawingml/2006/main">
            <a:off x="2571750" y="43053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Vitest 4 • Oxlint</a:t>
            </a:r>
          </a:p>
        </p:txBody>
      </p:sp>
      <p:sp>
        <p:nvSpPr>
          <p:cNvPr id="24" name="">
            <a:extLst xmlns:a="http://schemas.openxmlformats.org/drawingml/2006/main">
              <a:ext uri="{FF2B5EF4-FFF2-40B4-BE49-F238E27FC236}">
                <a16:creationId xmlns:a16="http://schemas.microsoft.com/office/drawing/2014/main" id="{CF693D01-F02F-4622-9AF0-43E77EB15FF6}"/>
              </a:ext>
            </a:extLst>
          </p:cNvPr>
          <p:cNvSpPr>
            <a:spLocks xmlns:a="http://schemas.openxmlformats.org/drawingml/2006/main" noGrp="1"/>
          </p:cNvSpPr>
          <p:nvPr/>
        </p:nvSpPr>
        <p:spPr>
          <a:xfrm xmlns:a="http://schemas.openxmlformats.org/drawingml/2006/main">
            <a:off x="657225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Test và lint tự động</a:t>
            </a:r>
          </a:p>
        </p:txBody>
      </p:sp>
      <p:sp>
        <p:nvSpPr>
          <p:cNvPr id="25" name="">
            <a:extLst xmlns:a="http://schemas.openxmlformats.org/drawingml/2006/main">
              <a:ext uri="{FF2B5EF4-FFF2-40B4-BE49-F238E27FC236}">
                <a16:creationId xmlns:a16="http://schemas.microsoft.com/office/drawing/2014/main" id="{CA4B899D-92B4-45C5-AF35-E4306ECA3243}"/>
              </a:ext>
            </a:extLst>
          </p:cNvPr>
          <p:cNvSpPr>
            <a:spLocks xmlns:a="http://schemas.openxmlformats.org/drawingml/2006/main" noGrp="1"/>
          </p:cNvSpPr>
          <p:nvPr/>
        </p:nvSpPr>
        <p:spPr>
          <a:xfrm xmlns:a="http://schemas.openxmlformats.org/drawingml/2006/main">
            <a:off x="2571750" y="48006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6" name="">
            <a:extLst xmlns:a="http://schemas.openxmlformats.org/drawingml/2006/main">
              <a:ext uri="{FF2B5EF4-FFF2-40B4-BE49-F238E27FC236}">
                <a16:creationId xmlns:a16="http://schemas.microsoft.com/office/drawing/2014/main" id="{25E16496-8101-4542-8ABE-1F9F0EDF4EDB}"/>
              </a:ext>
            </a:extLst>
          </p:cNvPr>
          <p:cNvSpPr>
            <a:spLocks xmlns:a="http://schemas.openxmlformats.org/drawingml/2006/main" noGrp="1"/>
          </p:cNvSpPr>
          <p:nvPr/>
        </p:nvSpPr>
        <p:spPr>
          <a:xfrm xmlns:a="http://schemas.openxmlformats.org/drawingml/2006/main">
            <a:off x="781050" y="49911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23B22"/>
                </a:solidFill>
              </a:defRPr>
            </a:pPr>
            <a:r>
              <a:rPr sz="1200" b="1">
                <a:solidFill>
                  <a:srgbClr val="C23B22"/>
                </a:solidFill>
              </a:rPr>
              <a:t>Local infra</a:t>
            </a:r>
          </a:p>
        </p:txBody>
      </p:sp>
      <p:sp>
        <p:nvSpPr>
          <p:cNvPr id="27" name="">
            <a:extLst xmlns:a="http://schemas.openxmlformats.org/drawingml/2006/main">
              <a:ext uri="{FF2B5EF4-FFF2-40B4-BE49-F238E27FC236}">
                <a16:creationId xmlns:a16="http://schemas.microsoft.com/office/drawing/2014/main" id="{F128E477-3DA5-438C-9D30-1267BFB45CA0}"/>
              </a:ext>
            </a:extLst>
          </p:cNvPr>
          <p:cNvSpPr>
            <a:spLocks xmlns:a="http://schemas.openxmlformats.org/drawingml/2006/main" noGrp="1"/>
          </p:cNvSpPr>
          <p:nvPr/>
        </p:nvSpPr>
        <p:spPr>
          <a:xfrm xmlns:a="http://schemas.openxmlformats.org/drawingml/2006/main">
            <a:off x="2571750" y="49911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01A16"/>
                </a:solidFill>
              </a:defRPr>
            </a:pPr>
            <a:r>
              <a:rPr sz="1650" b="1">
                <a:solidFill>
                  <a:srgbClr val="201A16"/>
                </a:solidFill>
              </a:rPr>
              <a:t>PostgreSQL 17 • Mailpit • MinIO</a:t>
            </a:r>
          </a:p>
        </p:txBody>
      </p:sp>
      <p:sp>
        <p:nvSpPr>
          <p:cNvPr id="28" name="">
            <a:extLst xmlns:a="http://schemas.openxmlformats.org/drawingml/2006/main">
              <a:ext uri="{FF2B5EF4-FFF2-40B4-BE49-F238E27FC236}">
                <a16:creationId xmlns:a16="http://schemas.microsoft.com/office/drawing/2014/main" id="{489B8EA1-735E-4D24-8D7F-BFE224670E60}"/>
              </a:ext>
            </a:extLst>
          </p:cNvPr>
          <p:cNvSpPr>
            <a:spLocks xmlns:a="http://schemas.openxmlformats.org/drawingml/2006/main" noGrp="1"/>
          </p:cNvSpPr>
          <p:nvPr/>
        </p:nvSpPr>
        <p:spPr>
          <a:xfrm xmlns:a="http://schemas.openxmlformats.org/drawingml/2006/main">
            <a:off x="6572250" y="49911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Dữ liệu, email thử và file</a:t>
            </a:r>
          </a:p>
        </p:txBody>
      </p:sp>
      <p:sp>
        <p:nvSpPr>
          <p:cNvPr id="29" name="">
            <a:extLst xmlns:a="http://schemas.openxmlformats.org/drawingml/2006/main">
              <a:ext uri="{FF2B5EF4-FFF2-40B4-BE49-F238E27FC236}">
                <a16:creationId xmlns:a16="http://schemas.microsoft.com/office/drawing/2014/main" id="{A61BFF9C-EF18-4733-B777-AF340D436F68}"/>
              </a:ext>
            </a:extLst>
          </p:cNvPr>
          <p:cNvSpPr>
            <a:spLocks xmlns:a="http://schemas.openxmlformats.org/drawingml/2006/main" noGrp="1"/>
          </p:cNvSpPr>
          <p:nvPr/>
        </p:nvSpPr>
        <p:spPr>
          <a:xfrm xmlns:a="http://schemas.openxmlformats.org/drawingml/2006/main">
            <a:off x="2571750" y="5486400"/>
            <a:ext cx="8477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30" name="">
            <a:extLst xmlns:a="http://schemas.openxmlformats.org/drawingml/2006/main">
              <a:ext uri="{FF2B5EF4-FFF2-40B4-BE49-F238E27FC236}">
                <a16:creationId xmlns:a16="http://schemas.microsoft.com/office/drawing/2014/main" id="{2EDB0FFB-3353-4B72-951C-7BDAF0CCA5EF}"/>
              </a:ext>
            </a:extLst>
          </p:cNvPr>
          <p:cNvSpPr>
            <a:spLocks xmlns:a="http://schemas.openxmlformats.org/drawingml/2006/main" noGrp="1"/>
          </p:cNvSpPr>
          <p:nvPr/>
        </p:nvSpPr>
        <p:spPr>
          <a:xfrm xmlns:a="http://schemas.openxmlformats.org/drawingml/2006/main">
            <a:off x="685800" y="5734050"/>
            <a:ext cx="10820400" cy="457200"/>
          </a:xfrm>
          <a:prstGeom xmlns:a="http://schemas.openxmlformats.org/drawingml/2006/main" prst="roundRect">
            <a:avLst>
              <a:gd name="adj" fmla="val 29167"/>
            </a:avLst>
          </a:prstGeom>
          <a:solidFill xmlns:a="http://schemas.openxmlformats.org/drawingml/2006/main">
            <a:srgbClr val="F1ECE5"/>
          </a:solidFill>
          <a:ln xmlns:a="http://schemas.openxmlformats.org/drawingml/2006/main" w="9525">
            <a:solidFill>
              <a:srgbClr val="F1ECE5"/>
            </a:solidFill>
            <a:prstDash val="solid"/>
          </a:ln>
        </p:spPr>
      </p:sp>
      <p:sp>
        <p:nvSpPr>
          <p:cNvPr id="31" name="">
            <a:extLst xmlns:a="http://schemas.openxmlformats.org/drawingml/2006/main">
              <a:ext uri="{FF2B5EF4-FFF2-40B4-BE49-F238E27FC236}">
                <a16:creationId xmlns:a16="http://schemas.microsoft.com/office/drawing/2014/main" id="{67EEC2E8-FF9B-4FE0-B465-5237E69581BD}"/>
              </a:ext>
            </a:extLst>
          </p:cNvPr>
          <p:cNvSpPr>
            <a:spLocks xmlns:a="http://schemas.openxmlformats.org/drawingml/2006/main" noGrp="1"/>
          </p:cNvSpPr>
          <p:nvPr/>
        </p:nvSpPr>
        <p:spPr>
          <a:xfrm xmlns:a="http://schemas.openxmlformats.org/drawingml/2006/main">
            <a:off x="895350" y="5800725"/>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01A16"/>
                </a:solidFill>
              </a:defRPr>
            </a:pPr>
            <a:r>
              <a:rPr sz="1275" b="1">
                <a:solidFill>
                  <a:srgbClr val="201A16"/>
                </a:solidFill>
              </a:rPr>
              <a:t>Chưa cài/chưa chốt: React Router, ORM (Prisma hoặc Drizzle), session/JWT và thư viện hash mật khẩu.</a:t>
            </a:r>
          </a:p>
        </p:txBody>
      </p:sp>
    </p:spTree>
    <p:extLst>
      <p:ext uri="{BB962C8B-B14F-4D97-AF65-F5344CB8AC3E}">
        <p14:creationId xmlns:p14="http://schemas.microsoft.com/office/powerpoint/2010/main" val="1303853517"/>
      </p:ext>
    </p:extLst>
  </p:cSld>
</p:sld>
</file>

<file path=ppt/slides/slide1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7BA737F-2C2D-4666-BA9E-1DB7319F1B9B}"/>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7CF1917C-68D4-417D-9502-96ED2BF4EE89}"/>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Frontend: React, TypeScript, Vite và Tailwind</a:t>
            </a:r>
          </a:p>
        </p:txBody>
      </p:sp>
      <p:sp>
        <p:nvSpPr>
          <p:cNvPr id="3" name="">
            <a:extLst xmlns:a="http://schemas.openxmlformats.org/drawingml/2006/main">
              <a:ext uri="{FF2B5EF4-FFF2-40B4-BE49-F238E27FC236}">
                <a16:creationId xmlns:a16="http://schemas.microsoft.com/office/drawing/2014/main" id="{AB691824-3C8F-476A-9197-F6CC3CA9147A}"/>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AE584967-7964-4FEF-9FF8-7BF79CF960D2}"/>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2719C6DD-F8C5-432E-A3A0-F02CED49F1B3}"/>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12</a:t>
            </a:r>
          </a:p>
        </p:txBody>
      </p:sp>
      <p:sp>
        <p:nvSpPr>
          <p:cNvPr id="6" name="">
            <a:extLst xmlns:a="http://schemas.openxmlformats.org/drawingml/2006/main">
              <a:ext uri="{FF2B5EF4-FFF2-40B4-BE49-F238E27FC236}">
                <a16:creationId xmlns:a16="http://schemas.microsoft.com/office/drawing/2014/main" id="{6AC95967-9774-4166-A32E-435B12FB74E8}"/>
              </a:ext>
            </a:extLst>
          </p:cNvPr>
          <p:cNvSpPr>
            <a:spLocks xmlns:a="http://schemas.openxmlformats.org/drawingml/2006/main" noGrp="1"/>
          </p:cNvSpPr>
          <p:nvPr/>
        </p:nvSpPr>
        <p:spPr>
          <a:xfrm xmlns:a="http://schemas.openxmlformats.org/drawingml/2006/main">
            <a:off x="685800" y="17145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React</a:t>
            </a:r>
          </a:p>
        </p:txBody>
      </p:sp>
      <p:sp>
        <p:nvSpPr>
          <p:cNvPr id="7" name="">
            <a:extLst xmlns:a="http://schemas.openxmlformats.org/drawingml/2006/main">
              <a:ext uri="{FF2B5EF4-FFF2-40B4-BE49-F238E27FC236}">
                <a16:creationId xmlns:a16="http://schemas.microsoft.com/office/drawing/2014/main" id="{B58384F8-9616-416F-8756-4A98E291CFC4}"/>
              </a:ext>
            </a:extLst>
          </p:cNvPr>
          <p:cNvSpPr>
            <a:spLocks xmlns:a="http://schemas.openxmlformats.org/drawingml/2006/main" noGrp="1"/>
          </p:cNvSpPr>
          <p:nvPr/>
        </p:nvSpPr>
        <p:spPr>
          <a:xfrm xmlns:a="http://schemas.openxmlformats.org/drawingml/2006/main">
            <a:off x="6858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B5F55"/>
                </a:solidFill>
              </a:defRPr>
            </a:pPr>
            <a:r>
              <a:rPr sz="1575" b="0">
                <a:solidFill>
                  <a:srgbClr val="6B5F55"/>
                </a:solidFill>
              </a:rPr>
              <a:t>Chia trang thành component</a:t>
            </a:r>
          </a:p>
        </p:txBody>
      </p:sp>
      <p:sp>
        <p:nvSpPr>
          <p:cNvPr id="8" name="">
            <a:extLst xmlns:a="http://schemas.openxmlformats.org/drawingml/2006/main">
              <a:ext uri="{FF2B5EF4-FFF2-40B4-BE49-F238E27FC236}">
                <a16:creationId xmlns:a16="http://schemas.microsoft.com/office/drawing/2014/main" id="{07BD41A7-32B6-4E8E-9323-6DB11BE7B837}"/>
              </a:ext>
            </a:extLst>
          </p:cNvPr>
          <p:cNvSpPr>
            <a:spLocks xmlns:a="http://schemas.openxmlformats.org/drawingml/2006/main" noGrp="1"/>
          </p:cNvSpPr>
          <p:nvPr/>
        </p:nvSpPr>
        <p:spPr>
          <a:xfrm xmlns:a="http://schemas.openxmlformats.org/drawingml/2006/main">
            <a:off x="685800" y="27813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TypeScript</a:t>
            </a:r>
          </a:p>
        </p:txBody>
      </p:sp>
      <p:sp>
        <p:nvSpPr>
          <p:cNvPr id="9" name="">
            <a:extLst xmlns:a="http://schemas.openxmlformats.org/drawingml/2006/main">
              <a:ext uri="{FF2B5EF4-FFF2-40B4-BE49-F238E27FC236}">
                <a16:creationId xmlns:a16="http://schemas.microsoft.com/office/drawing/2014/main" id="{4FFF1AD2-A1FE-41D0-A355-AA4D78183F3D}"/>
              </a:ext>
            </a:extLst>
          </p:cNvPr>
          <p:cNvSpPr>
            <a:spLocks xmlns:a="http://schemas.openxmlformats.org/drawingml/2006/main" noGrp="1"/>
          </p:cNvSpPr>
          <p:nvPr/>
        </p:nvSpPr>
        <p:spPr>
          <a:xfrm xmlns:a="http://schemas.openxmlformats.org/drawingml/2006/main">
            <a:off x="685800" y="3219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B5F55"/>
                </a:solidFill>
              </a:defRPr>
            </a:pPr>
            <a:r>
              <a:rPr sz="1575" b="0">
                <a:solidFill>
                  <a:srgbClr val="6B5F55"/>
                </a:solidFill>
              </a:rPr>
              <a:t>Giảm lỗi khi truyền dữ liệu</a:t>
            </a:r>
          </a:p>
        </p:txBody>
      </p:sp>
      <p:sp>
        <p:nvSpPr>
          <p:cNvPr id="10" name="">
            <a:extLst xmlns:a="http://schemas.openxmlformats.org/drawingml/2006/main">
              <a:ext uri="{FF2B5EF4-FFF2-40B4-BE49-F238E27FC236}">
                <a16:creationId xmlns:a16="http://schemas.microsoft.com/office/drawing/2014/main" id="{B640DD1C-783B-4EEB-8879-0A381ADD747B}"/>
              </a:ext>
            </a:extLst>
          </p:cNvPr>
          <p:cNvSpPr>
            <a:spLocks xmlns:a="http://schemas.openxmlformats.org/drawingml/2006/main" noGrp="1"/>
          </p:cNvSpPr>
          <p:nvPr/>
        </p:nvSpPr>
        <p:spPr>
          <a:xfrm xmlns:a="http://schemas.openxmlformats.org/drawingml/2006/main">
            <a:off x="685800" y="3848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Vite + Tailwind</a:t>
            </a:r>
          </a:p>
        </p:txBody>
      </p:sp>
      <p:sp>
        <p:nvSpPr>
          <p:cNvPr id="11" name="">
            <a:extLst xmlns:a="http://schemas.openxmlformats.org/drawingml/2006/main">
              <a:ext uri="{FF2B5EF4-FFF2-40B4-BE49-F238E27FC236}">
                <a16:creationId xmlns:a16="http://schemas.microsoft.com/office/drawing/2014/main" id="{81D7E3C3-DC1A-4AB2-93C0-6DBFC9F69E32}"/>
              </a:ext>
            </a:extLst>
          </p:cNvPr>
          <p:cNvSpPr>
            <a:spLocks xmlns:a="http://schemas.openxmlformats.org/drawingml/2006/main" noGrp="1"/>
          </p:cNvSpPr>
          <p:nvPr/>
        </p:nvSpPr>
        <p:spPr>
          <a:xfrm xmlns:a="http://schemas.openxmlformats.org/drawingml/2006/main">
            <a:off x="685800" y="42862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Chạy nhanh và giữ giao diện nhất quán</a:t>
            </a:r>
          </a:p>
        </p:txBody>
      </p:sp>
      <p:sp>
        <p:nvSpPr>
          <p:cNvPr id="12" name="">
            <a:extLst xmlns:a="http://schemas.openxmlformats.org/drawingml/2006/main">
              <a:ext uri="{FF2B5EF4-FFF2-40B4-BE49-F238E27FC236}">
                <a16:creationId xmlns:a16="http://schemas.microsoft.com/office/drawing/2014/main" id="{B37253F4-A07B-4B7C-8A4F-8C35B4AB4CEA}"/>
              </a:ext>
            </a:extLst>
          </p:cNvPr>
          <p:cNvSpPr>
            <a:spLocks xmlns:a="http://schemas.openxmlformats.org/drawingml/2006/main" noGrp="1"/>
          </p:cNvSpPr>
          <p:nvPr/>
        </p:nvSpPr>
        <p:spPr>
          <a:xfrm xmlns:a="http://schemas.openxmlformats.org/drawingml/2006/main">
            <a:off x="5524500" y="1657350"/>
            <a:ext cx="5981700" cy="3733800"/>
          </a:xfrm>
          <a:prstGeom xmlns:a="http://schemas.openxmlformats.org/drawingml/2006/main" prst="roundRect">
            <a:avLst>
              <a:gd name="adj" fmla="val 4592"/>
            </a:avLst>
          </a:prstGeom>
          <a:solidFill xmlns:a="http://schemas.openxmlformats.org/drawingml/2006/main">
            <a:srgbClr val="0B172A"/>
          </a:solidFill>
          <a:ln xmlns:a="http://schemas.openxmlformats.org/drawingml/2006/main" w="9525">
            <a:solidFill>
              <a:srgbClr val="0B172A"/>
            </a:solidFill>
            <a:prstDash val="solid"/>
          </a:ln>
        </p:spPr>
      </p:sp>
      <p:sp>
        <p:nvSpPr>
          <p:cNvPr id="13" name="">
            <a:extLst xmlns:a="http://schemas.openxmlformats.org/drawingml/2006/main">
              <a:ext uri="{FF2B5EF4-FFF2-40B4-BE49-F238E27FC236}">
                <a16:creationId xmlns:a16="http://schemas.microsoft.com/office/drawing/2014/main" id="{576D477B-F2F2-45FE-A15E-896017BE0797}"/>
              </a:ext>
            </a:extLst>
          </p:cNvPr>
          <p:cNvSpPr>
            <a:spLocks xmlns:a="http://schemas.openxmlformats.org/drawingml/2006/main" noGrp="1"/>
          </p:cNvSpPr>
          <p:nvPr/>
        </p:nvSpPr>
        <p:spPr>
          <a:xfrm xmlns:a="http://schemas.openxmlformats.org/drawingml/2006/main">
            <a:off x="5734050" y="1809750"/>
            <a:ext cx="5562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RÚT GỌN TỪ HomePage.tsx</a:t>
            </a:r>
          </a:p>
        </p:txBody>
      </p:sp>
      <p:sp>
        <p:nvSpPr>
          <p:cNvPr id="14" name="">
            <a:extLst xmlns:a="http://schemas.openxmlformats.org/drawingml/2006/main">
              <a:ext uri="{FF2B5EF4-FFF2-40B4-BE49-F238E27FC236}">
                <a16:creationId xmlns:a16="http://schemas.microsoft.com/office/drawing/2014/main" id="{78446408-5E6D-432A-863A-E1BD6F4F3956}"/>
              </a:ext>
            </a:extLst>
          </p:cNvPr>
          <p:cNvSpPr>
            <a:spLocks xmlns:a="http://schemas.openxmlformats.org/drawingml/2006/main" noGrp="1"/>
          </p:cNvSpPr>
          <p:nvPr/>
        </p:nvSpPr>
        <p:spPr>
          <a:xfrm xmlns:a="http://schemas.openxmlformats.org/drawingml/2006/main">
            <a:off x="5734050" y="2095500"/>
            <a:ext cx="5562600" cy="3181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export function HomePage() {</a:t>
            </a:r>
          </a:p>
          <a:p xmlns:a="http://schemas.openxmlformats.org/drawingml/2006/main">
            <a:pPr algn="l">
              <a:defRPr sz="1350" b="0">
                <a:solidFill>
                  <a:srgbClr val="E8EEF7"/>
                </a:solidFill>
              </a:defRPr>
            </a:pPr>
            <a:r>
              <a:rPr sz="1350" b="0">
                <a:solidFill>
                  <a:srgbClr val="E8EEF7"/>
                </a:solidFill>
              </a:rPr>
              <a:t>  return (</a:t>
            </a:r>
          </a:p>
          <a:p xmlns:a="http://schemas.openxmlformats.org/drawingml/2006/main">
            <a:pPr algn="l">
              <a:defRPr sz="1350" b="0">
                <a:solidFill>
                  <a:srgbClr val="E8EEF7"/>
                </a:solidFill>
              </a:defRPr>
            </a:pPr>
            <a:r>
              <a:rPr sz="1350" b="0">
                <a:solidFill>
                  <a:srgbClr val="E8EEF7"/>
                </a:solidFill>
              </a:rPr>
              <a:t>    &lt;main&gt;</a:t>
            </a:r>
          </a:p>
          <a:p xmlns:a="http://schemas.openxmlformats.org/drawingml/2006/main">
            <a:pPr algn="l">
              <a:defRPr sz="1350" b="0">
                <a:solidFill>
                  <a:srgbClr val="E8EEF7"/>
                </a:solidFill>
              </a:defRPr>
            </a:pPr>
            <a:r>
              <a:rPr sz="1350" b="0">
                <a:solidFill>
                  <a:srgbClr val="E8EEF7"/>
                </a:solidFill>
              </a:rPr>
              <a:t>      &lt;HeroSection /&gt;</a:t>
            </a:r>
          </a:p>
          <a:p xmlns:a="http://schemas.openxmlformats.org/drawingml/2006/main">
            <a:pPr algn="l">
              <a:defRPr sz="1350" b="0">
                <a:solidFill>
                  <a:srgbClr val="E8EEF7"/>
                </a:solidFill>
              </a:defRPr>
            </a:pPr>
            <a:r>
              <a:rPr sz="1350" b="0">
                <a:solidFill>
                  <a:srgbClr val="E8EEF7"/>
                </a:solidFill>
              </a:rPr>
              <a:t>      &lt;NewsSection /&gt;</a:t>
            </a:r>
          </a:p>
          <a:p xmlns:a="http://schemas.openxmlformats.org/drawingml/2006/main">
            <a:pPr algn="l">
              <a:defRPr sz="1350" b="0">
                <a:solidFill>
                  <a:srgbClr val="E8EEF7"/>
                </a:solidFill>
              </a:defRPr>
            </a:pPr>
            <a:r>
              <a:rPr sz="1350" b="0">
                <a:solidFill>
                  <a:srgbClr val="E8EEF7"/>
                </a:solidFill>
              </a:rPr>
              <a:t>    &lt;/main&gt;</a:t>
            </a:r>
          </a:p>
          <a:p xmlns:a="http://schemas.openxmlformats.org/drawingml/2006/main">
            <a:pPr algn="l">
              <a:defRPr sz="1350" b="0">
                <a:solidFill>
                  <a:srgbClr val="E8EEF7"/>
                </a:solidFill>
              </a:defRPr>
            </a:pPr>
            <a:r>
              <a:rPr sz="1350" b="0">
                <a:solidFill>
                  <a:srgbClr val="E8EEF7"/>
                </a:solidFill>
              </a:rPr>
              <a:t>  )</a:t>
            </a:r>
          </a:p>
          <a:p xmlns:a="http://schemas.openxmlformats.org/drawingml/2006/main">
            <a:pPr algn="l">
              <a:defRPr sz="1350" b="0">
                <a:solidFill>
                  <a:srgbClr val="E8EEF7"/>
                </a:solidFill>
              </a:defRPr>
            </a:pPr>
            <a:r>
              <a:rPr sz="1350" b="0">
                <a:solidFill>
                  <a:srgbClr val="E8EEF7"/>
                </a:solidFill>
              </a:rPr>
              <a:t>}</a:t>
            </a:r>
          </a:p>
        </p:txBody>
      </p:sp>
      <p:sp>
        <p:nvSpPr>
          <p:cNvPr id="15" name="">
            <a:extLst xmlns:a="http://schemas.openxmlformats.org/drawingml/2006/main">
              <a:ext uri="{FF2B5EF4-FFF2-40B4-BE49-F238E27FC236}">
                <a16:creationId xmlns:a16="http://schemas.microsoft.com/office/drawing/2014/main" id="{1706DA1E-42C6-42D3-AC7B-20AEF7E639E8}"/>
              </a:ext>
            </a:extLst>
          </p:cNvPr>
          <p:cNvSpPr>
            <a:spLocks xmlns:a="http://schemas.openxmlformats.org/drawingml/2006/main" noGrp="1"/>
          </p:cNvSpPr>
          <p:nvPr/>
        </p:nvSpPr>
        <p:spPr>
          <a:xfrm xmlns:a="http://schemas.openxmlformats.org/drawingml/2006/main">
            <a:off x="5524500" y="5524500"/>
            <a:ext cx="5981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568C9"/>
                </a:solidFill>
              </a:defRPr>
            </a:pPr>
            <a:r>
              <a:rPr sz="1350" b="1">
                <a:solidFill>
                  <a:srgbClr val="1568C9"/>
                </a:solidFill>
              </a:rPr>
              <a:t>Mỗi section là một phần việc có thể phát triển và kiểm tra riêng.</a:t>
            </a:r>
          </a:p>
        </p:txBody>
      </p:sp>
    </p:spTree>
    <p:extLst>
      <p:ext uri="{BB962C8B-B14F-4D97-AF65-F5344CB8AC3E}">
        <p14:creationId xmlns:p14="http://schemas.microsoft.com/office/powerpoint/2010/main" val="210576229"/>
      </p:ext>
    </p:extLst>
  </p:cSld>
</p:sld>
</file>

<file path=ppt/slides/slide1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AB4755D-7CCD-41C6-8A3A-1222AB3FBE5F}"/>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05C068F-2B1E-4359-9963-1FA9CE8E9F30}"/>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Frontend sẽ mở rộng từ một trang chủ sang nhiều route</a:t>
            </a:r>
          </a:p>
        </p:txBody>
      </p:sp>
      <p:sp>
        <p:nvSpPr>
          <p:cNvPr id="3" name="">
            <a:extLst xmlns:a="http://schemas.openxmlformats.org/drawingml/2006/main">
              <a:ext uri="{FF2B5EF4-FFF2-40B4-BE49-F238E27FC236}">
                <a16:creationId xmlns:a16="http://schemas.microsoft.com/office/drawing/2014/main" id="{4B2DC467-3F05-403A-A33E-47CF5307C642}"/>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BE429A3C-81A0-415C-9122-2BDC4ADC2E84}"/>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A842BAE0-5FE5-4857-B9A4-624EEC0BBA3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13</a:t>
            </a:r>
          </a:p>
        </p:txBody>
      </p:sp>
      <p:sp>
        <p:nvSpPr>
          <p:cNvPr id="6" name="">
            <a:extLst xmlns:a="http://schemas.openxmlformats.org/drawingml/2006/main">
              <a:ext uri="{FF2B5EF4-FFF2-40B4-BE49-F238E27FC236}">
                <a16:creationId xmlns:a16="http://schemas.microsoft.com/office/drawing/2014/main" id="{5AC73B69-C2B5-4138-BA28-A129D2C6E5F2}"/>
              </a:ext>
            </a:extLst>
          </p:cNvPr>
          <p:cNvSpPr>
            <a:spLocks xmlns:a="http://schemas.openxmlformats.org/drawingml/2006/main" noGrp="1"/>
          </p:cNvSpPr>
          <p:nvPr/>
        </p:nvSpPr>
        <p:spPr>
          <a:xfrm xmlns:a="http://schemas.openxmlformats.org/drawingml/2006/main">
            <a:off x="685800" y="16573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568C9"/>
                </a:solidFill>
              </a:defRPr>
            </a:pPr>
            <a:r>
              <a:rPr sz="1575" b="1">
                <a:solidFill>
                  <a:srgbClr val="1568C9"/>
                </a:solidFill>
              </a:rPr>
              <a:t>/</a:t>
            </a:r>
          </a:p>
        </p:txBody>
      </p:sp>
      <p:sp>
        <p:nvSpPr>
          <p:cNvPr id="7" name="">
            <a:extLst xmlns:a="http://schemas.openxmlformats.org/drawingml/2006/main">
              <a:ext uri="{FF2B5EF4-FFF2-40B4-BE49-F238E27FC236}">
                <a16:creationId xmlns:a16="http://schemas.microsoft.com/office/drawing/2014/main" id="{182AED51-834B-46B2-AF04-4D07D5E9CA7F}"/>
              </a:ext>
            </a:extLst>
          </p:cNvPr>
          <p:cNvSpPr>
            <a:spLocks xmlns:a="http://schemas.openxmlformats.org/drawingml/2006/main" noGrp="1"/>
          </p:cNvSpPr>
          <p:nvPr/>
        </p:nvSpPr>
        <p:spPr>
          <a:xfrm xmlns:a="http://schemas.openxmlformats.org/drawingml/2006/main">
            <a:off x="2495550" y="1657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Trang chủ</a:t>
            </a:r>
          </a:p>
        </p:txBody>
      </p:sp>
      <p:sp>
        <p:nvSpPr>
          <p:cNvPr id="8" name="">
            <a:extLst xmlns:a="http://schemas.openxmlformats.org/drawingml/2006/main">
              <a:ext uri="{FF2B5EF4-FFF2-40B4-BE49-F238E27FC236}">
                <a16:creationId xmlns:a16="http://schemas.microsoft.com/office/drawing/2014/main" id="{77DF2550-F3AA-4F21-B953-DC0916701290}"/>
              </a:ext>
            </a:extLst>
          </p:cNvPr>
          <p:cNvSpPr>
            <a:spLocks xmlns:a="http://schemas.openxmlformats.org/drawingml/2006/main" noGrp="1"/>
          </p:cNvSpPr>
          <p:nvPr/>
        </p:nvSpPr>
        <p:spPr>
          <a:xfrm xmlns:a="http://schemas.openxmlformats.org/drawingml/2006/main">
            <a:off x="2495550" y="20193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Đã có</a:t>
            </a:r>
          </a:p>
        </p:txBody>
      </p:sp>
      <p:sp>
        <p:nvSpPr>
          <p:cNvPr id="9" name="">
            <a:extLst xmlns:a="http://schemas.openxmlformats.org/drawingml/2006/main">
              <a:ext uri="{FF2B5EF4-FFF2-40B4-BE49-F238E27FC236}">
                <a16:creationId xmlns:a16="http://schemas.microsoft.com/office/drawing/2014/main" id="{DA077384-7376-4416-B50A-55C4D9737B96}"/>
              </a:ext>
            </a:extLst>
          </p:cNvPr>
          <p:cNvSpPr>
            <a:spLocks xmlns:a="http://schemas.openxmlformats.org/drawingml/2006/main" noGrp="1"/>
          </p:cNvSpPr>
          <p:nvPr/>
        </p:nvSpPr>
        <p:spPr>
          <a:xfrm xmlns:a="http://schemas.openxmlformats.org/drawingml/2006/main">
            <a:off x="685800" y="23622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75D8EE97-E19D-454D-9459-BD258E2B07B8}"/>
              </a:ext>
            </a:extLst>
          </p:cNvPr>
          <p:cNvSpPr>
            <a:spLocks xmlns:a="http://schemas.openxmlformats.org/drawingml/2006/main" noGrp="1"/>
          </p:cNvSpPr>
          <p:nvPr/>
        </p:nvSpPr>
        <p:spPr>
          <a:xfrm xmlns:a="http://schemas.openxmlformats.org/drawingml/2006/main">
            <a:off x="685800" y="26098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568C9"/>
                </a:solidFill>
              </a:defRPr>
            </a:pPr>
            <a:r>
              <a:rPr sz="1575" b="1">
                <a:solidFill>
                  <a:srgbClr val="1568C9"/>
                </a:solidFill>
              </a:rPr>
              <a:t>/tin-tuc</a:t>
            </a:r>
          </a:p>
        </p:txBody>
      </p:sp>
      <p:sp>
        <p:nvSpPr>
          <p:cNvPr id="11" name="">
            <a:extLst xmlns:a="http://schemas.openxmlformats.org/drawingml/2006/main">
              <a:ext uri="{FF2B5EF4-FFF2-40B4-BE49-F238E27FC236}">
                <a16:creationId xmlns:a16="http://schemas.microsoft.com/office/drawing/2014/main" id="{ACBCCD2F-B19B-4A34-A97D-6E36FB8E00F0}"/>
              </a:ext>
            </a:extLst>
          </p:cNvPr>
          <p:cNvSpPr>
            <a:spLocks xmlns:a="http://schemas.openxmlformats.org/drawingml/2006/main" noGrp="1"/>
          </p:cNvSpPr>
          <p:nvPr/>
        </p:nvSpPr>
        <p:spPr>
          <a:xfrm xmlns:a="http://schemas.openxmlformats.org/drawingml/2006/main">
            <a:off x="2495550" y="26098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Danh sách và chi tiết tin</a:t>
            </a:r>
          </a:p>
        </p:txBody>
      </p:sp>
      <p:sp>
        <p:nvSpPr>
          <p:cNvPr id="12" name="">
            <a:extLst xmlns:a="http://schemas.openxmlformats.org/drawingml/2006/main">
              <a:ext uri="{FF2B5EF4-FFF2-40B4-BE49-F238E27FC236}">
                <a16:creationId xmlns:a16="http://schemas.microsoft.com/office/drawing/2014/main" id="{9E77DD2C-DA78-4564-BCA7-BEAFEC41C775}"/>
              </a:ext>
            </a:extLst>
          </p:cNvPr>
          <p:cNvSpPr>
            <a:spLocks xmlns:a="http://schemas.openxmlformats.org/drawingml/2006/main" noGrp="1"/>
          </p:cNvSpPr>
          <p:nvPr/>
        </p:nvSpPr>
        <p:spPr>
          <a:xfrm xmlns:a="http://schemas.openxmlformats.org/drawingml/2006/main">
            <a:off x="2495550" y="29718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FE-2</a:t>
            </a:r>
          </a:p>
        </p:txBody>
      </p:sp>
      <p:sp>
        <p:nvSpPr>
          <p:cNvPr id="13" name="">
            <a:extLst xmlns:a="http://schemas.openxmlformats.org/drawingml/2006/main">
              <a:ext uri="{FF2B5EF4-FFF2-40B4-BE49-F238E27FC236}">
                <a16:creationId xmlns:a16="http://schemas.microsoft.com/office/drawing/2014/main" id="{B0D7F991-60E5-4975-9375-208D8EF1D484}"/>
              </a:ext>
            </a:extLst>
          </p:cNvPr>
          <p:cNvSpPr>
            <a:spLocks xmlns:a="http://schemas.openxmlformats.org/drawingml/2006/main" noGrp="1"/>
          </p:cNvSpPr>
          <p:nvPr/>
        </p:nvSpPr>
        <p:spPr>
          <a:xfrm xmlns:a="http://schemas.openxmlformats.org/drawingml/2006/main">
            <a:off x="685800" y="33147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4" name="">
            <a:extLst xmlns:a="http://schemas.openxmlformats.org/drawingml/2006/main">
              <a:ext uri="{FF2B5EF4-FFF2-40B4-BE49-F238E27FC236}">
                <a16:creationId xmlns:a16="http://schemas.microsoft.com/office/drawing/2014/main" id="{C41D357A-C70D-4EFF-A479-8CD810ED9AA1}"/>
              </a:ext>
            </a:extLst>
          </p:cNvPr>
          <p:cNvSpPr>
            <a:spLocks xmlns:a="http://schemas.openxmlformats.org/drawingml/2006/main" noGrp="1"/>
          </p:cNvSpPr>
          <p:nvPr/>
        </p:nvSpPr>
        <p:spPr>
          <a:xfrm xmlns:a="http://schemas.openxmlformats.org/drawingml/2006/main">
            <a:off x="685800" y="35623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568C9"/>
                </a:solidFill>
              </a:defRPr>
            </a:pPr>
            <a:r>
              <a:rPr sz="1575" b="1">
                <a:solidFill>
                  <a:srgbClr val="1568C9"/>
                </a:solidFill>
              </a:rPr>
              <a:t>/su-kien</a:t>
            </a:r>
          </a:p>
        </p:txBody>
      </p:sp>
      <p:sp>
        <p:nvSpPr>
          <p:cNvPr id="15" name="">
            <a:extLst xmlns:a="http://schemas.openxmlformats.org/drawingml/2006/main">
              <a:ext uri="{FF2B5EF4-FFF2-40B4-BE49-F238E27FC236}">
                <a16:creationId xmlns:a16="http://schemas.microsoft.com/office/drawing/2014/main" id="{F56378EC-1CC5-468B-BFB4-FA95800AD9E0}"/>
              </a:ext>
            </a:extLst>
          </p:cNvPr>
          <p:cNvSpPr>
            <a:spLocks xmlns:a="http://schemas.openxmlformats.org/drawingml/2006/main" noGrp="1"/>
          </p:cNvSpPr>
          <p:nvPr/>
        </p:nvSpPr>
        <p:spPr>
          <a:xfrm xmlns:a="http://schemas.openxmlformats.org/drawingml/2006/main">
            <a:off x="2495550" y="3562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Danh sách và chi tiết sự kiện</a:t>
            </a:r>
          </a:p>
        </p:txBody>
      </p:sp>
      <p:sp>
        <p:nvSpPr>
          <p:cNvPr id="16" name="">
            <a:extLst xmlns:a="http://schemas.openxmlformats.org/drawingml/2006/main">
              <a:ext uri="{FF2B5EF4-FFF2-40B4-BE49-F238E27FC236}">
                <a16:creationId xmlns:a16="http://schemas.microsoft.com/office/drawing/2014/main" id="{47AF8D2B-1E52-4F5F-BE90-652C42997590}"/>
              </a:ext>
            </a:extLst>
          </p:cNvPr>
          <p:cNvSpPr>
            <a:spLocks xmlns:a="http://schemas.openxmlformats.org/drawingml/2006/main" noGrp="1"/>
          </p:cNvSpPr>
          <p:nvPr/>
        </p:nvSpPr>
        <p:spPr>
          <a:xfrm xmlns:a="http://schemas.openxmlformats.org/drawingml/2006/main">
            <a:off x="2495550" y="39243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FE-2</a:t>
            </a:r>
          </a:p>
        </p:txBody>
      </p:sp>
      <p:sp>
        <p:nvSpPr>
          <p:cNvPr id="17" name="">
            <a:extLst xmlns:a="http://schemas.openxmlformats.org/drawingml/2006/main">
              <a:ext uri="{FF2B5EF4-FFF2-40B4-BE49-F238E27FC236}">
                <a16:creationId xmlns:a16="http://schemas.microsoft.com/office/drawing/2014/main" id="{13F74445-28E3-44DF-89E8-2519ED4901C5}"/>
              </a:ext>
            </a:extLst>
          </p:cNvPr>
          <p:cNvSpPr>
            <a:spLocks xmlns:a="http://schemas.openxmlformats.org/drawingml/2006/main" noGrp="1"/>
          </p:cNvSpPr>
          <p:nvPr/>
        </p:nvSpPr>
        <p:spPr>
          <a:xfrm xmlns:a="http://schemas.openxmlformats.org/drawingml/2006/main">
            <a:off x="685800" y="42672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8" name="">
            <a:extLst xmlns:a="http://schemas.openxmlformats.org/drawingml/2006/main">
              <a:ext uri="{FF2B5EF4-FFF2-40B4-BE49-F238E27FC236}">
                <a16:creationId xmlns:a16="http://schemas.microsoft.com/office/drawing/2014/main" id="{08B4800F-6A72-43B7-AAAF-7728A2A0F5FD}"/>
              </a:ext>
            </a:extLst>
          </p:cNvPr>
          <p:cNvSpPr>
            <a:spLocks xmlns:a="http://schemas.openxmlformats.org/drawingml/2006/main" noGrp="1"/>
          </p:cNvSpPr>
          <p:nvPr/>
        </p:nvSpPr>
        <p:spPr>
          <a:xfrm xmlns:a="http://schemas.openxmlformats.org/drawingml/2006/main">
            <a:off x="685800" y="45148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568C9"/>
                </a:solidFill>
              </a:defRPr>
            </a:pPr>
            <a:r>
              <a:rPr sz="1575" b="1">
                <a:solidFill>
                  <a:srgbClr val="1568C9"/>
                </a:solidFill>
              </a:rPr>
              <a:t>/du-an</a:t>
            </a:r>
          </a:p>
        </p:txBody>
      </p:sp>
      <p:sp>
        <p:nvSpPr>
          <p:cNvPr id="19" name="">
            <a:extLst xmlns:a="http://schemas.openxmlformats.org/drawingml/2006/main">
              <a:ext uri="{FF2B5EF4-FFF2-40B4-BE49-F238E27FC236}">
                <a16:creationId xmlns:a16="http://schemas.microsoft.com/office/drawing/2014/main" id="{1A7079E8-31F8-461B-BD68-2126311CFAED}"/>
              </a:ext>
            </a:extLst>
          </p:cNvPr>
          <p:cNvSpPr>
            <a:spLocks xmlns:a="http://schemas.openxmlformats.org/drawingml/2006/main" noGrp="1"/>
          </p:cNvSpPr>
          <p:nvPr/>
        </p:nvSpPr>
        <p:spPr>
          <a:xfrm xmlns:a="http://schemas.openxmlformats.org/drawingml/2006/main">
            <a:off x="2495550" y="45148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Danh sách và chi tiết dự án</a:t>
            </a:r>
          </a:p>
        </p:txBody>
      </p:sp>
      <p:sp>
        <p:nvSpPr>
          <p:cNvPr id="20" name="">
            <a:extLst xmlns:a="http://schemas.openxmlformats.org/drawingml/2006/main">
              <a:ext uri="{FF2B5EF4-FFF2-40B4-BE49-F238E27FC236}">
                <a16:creationId xmlns:a16="http://schemas.microsoft.com/office/drawing/2014/main" id="{86F5EC50-EA7D-4A72-9FA7-C71B86D57086}"/>
              </a:ext>
            </a:extLst>
          </p:cNvPr>
          <p:cNvSpPr>
            <a:spLocks xmlns:a="http://schemas.openxmlformats.org/drawingml/2006/main" noGrp="1"/>
          </p:cNvSpPr>
          <p:nvPr/>
        </p:nvSpPr>
        <p:spPr>
          <a:xfrm xmlns:a="http://schemas.openxmlformats.org/drawingml/2006/main">
            <a:off x="2495550" y="48768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FE-3</a:t>
            </a:r>
          </a:p>
        </p:txBody>
      </p:sp>
      <p:sp>
        <p:nvSpPr>
          <p:cNvPr id="21" name="">
            <a:extLst xmlns:a="http://schemas.openxmlformats.org/drawingml/2006/main">
              <a:ext uri="{FF2B5EF4-FFF2-40B4-BE49-F238E27FC236}">
                <a16:creationId xmlns:a16="http://schemas.microsoft.com/office/drawing/2014/main" id="{12A40C63-E01B-4AD4-BA0D-58FD4A5E379A}"/>
              </a:ext>
            </a:extLst>
          </p:cNvPr>
          <p:cNvSpPr>
            <a:spLocks xmlns:a="http://schemas.openxmlformats.org/drawingml/2006/main" noGrp="1"/>
          </p:cNvSpPr>
          <p:nvPr/>
        </p:nvSpPr>
        <p:spPr>
          <a:xfrm xmlns:a="http://schemas.openxmlformats.org/drawingml/2006/main">
            <a:off x="685800" y="52197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2" name="">
            <a:extLst xmlns:a="http://schemas.openxmlformats.org/drawingml/2006/main">
              <a:ext uri="{FF2B5EF4-FFF2-40B4-BE49-F238E27FC236}">
                <a16:creationId xmlns:a16="http://schemas.microsoft.com/office/drawing/2014/main" id="{BA3AC1FF-E078-4569-B2A2-73A3D86CCE98}"/>
              </a:ext>
            </a:extLst>
          </p:cNvPr>
          <p:cNvSpPr>
            <a:spLocks xmlns:a="http://schemas.openxmlformats.org/drawingml/2006/main" noGrp="1"/>
          </p:cNvSpPr>
          <p:nvPr/>
        </p:nvSpPr>
        <p:spPr>
          <a:xfrm xmlns:a="http://schemas.openxmlformats.org/drawingml/2006/main">
            <a:off x="6191250" y="16573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23B22"/>
                </a:solidFill>
              </a:defRPr>
            </a:pPr>
            <a:r>
              <a:rPr sz="1575" b="1">
                <a:solidFill>
                  <a:srgbClr val="C23B22"/>
                </a:solidFill>
              </a:rPr>
              <a:t>/gia-nhap</a:t>
            </a:r>
          </a:p>
        </p:txBody>
      </p:sp>
      <p:sp>
        <p:nvSpPr>
          <p:cNvPr id="23" name="">
            <a:extLst xmlns:a="http://schemas.openxmlformats.org/drawingml/2006/main">
              <a:ext uri="{FF2B5EF4-FFF2-40B4-BE49-F238E27FC236}">
                <a16:creationId xmlns:a16="http://schemas.microsoft.com/office/drawing/2014/main" id="{7C8A3682-B512-4C81-9789-6915E29EC0CD}"/>
              </a:ext>
            </a:extLst>
          </p:cNvPr>
          <p:cNvSpPr>
            <a:spLocks xmlns:a="http://schemas.openxmlformats.org/drawingml/2006/main" noGrp="1"/>
          </p:cNvSpPr>
          <p:nvPr/>
        </p:nvSpPr>
        <p:spPr>
          <a:xfrm xmlns:a="http://schemas.openxmlformats.org/drawingml/2006/main">
            <a:off x="8001000" y="1657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Form ứng tuyển</a:t>
            </a:r>
          </a:p>
        </p:txBody>
      </p:sp>
      <p:sp>
        <p:nvSpPr>
          <p:cNvPr id="24" name="">
            <a:extLst xmlns:a="http://schemas.openxmlformats.org/drawingml/2006/main">
              <a:ext uri="{FF2B5EF4-FFF2-40B4-BE49-F238E27FC236}">
                <a16:creationId xmlns:a16="http://schemas.microsoft.com/office/drawing/2014/main" id="{7FBD1E68-CE28-452D-ADD4-7CCE1FB0EFE7}"/>
              </a:ext>
            </a:extLst>
          </p:cNvPr>
          <p:cNvSpPr>
            <a:spLocks xmlns:a="http://schemas.openxmlformats.org/drawingml/2006/main" noGrp="1"/>
          </p:cNvSpPr>
          <p:nvPr/>
        </p:nvSpPr>
        <p:spPr>
          <a:xfrm xmlns:a="http://schemas.openxmlformats.org/drawingml/2006/main">
            <a:off x="8001000" y="20193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FE-3</a:t>
            </a:r>
          </a:p>
        </p:txBody>
      </p:sp>
      <p:sp>
        <p:nvSpPr>
          <p:cNvPr id="25" name="">
            <a:extLst xmlns:a="http://schemas.openxmlformats.org/drawingml/2006/main">
              <a:ext uri="{FF2B5EF4-FFF2-40B4-BE49-F238E27FC236}">
                <a16:creationId xmlns:a16="http://schemas.microsoft.com/office/drawing/2014/main" id="{15F1E5AD-84BE-4A97-A310-B87E7C9036A2}"/>
              </a:ext>
            </a:extLst>
          </p:cNvPr>
          <p:cNvSpPr>
            <a:spLocks xmlns:a="http://schemas.openxmlformats.org/drawingml/2006/main" noGrp="1"/>
          </p:cNvSpPr>
          <p:nvPr/>
        </p:nvSpPr>
        <p:spPr>
          <a:xfrm xmlns:a="http://schemas.openxmlformats.org/drawingml/2006/main">
            <a:off x="6191250" y="23622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6" name="">
            <a:extLst xmlns:a="http://schemas.openxmlformats.org/drawingml/2006/main">
              <a:ext uri="{FF2B5EF4-FFF2-40B4-BE49-F238E27FC236}">
                <a16:creationId xmlns:a16="http://schemas.microsoft.com/office/drawing/2014/main" id="{D18F2A1F-F5B9-4F22-810E-8A690EDEBA99}"/>
              </a:ext>
            </a:extLst>
          </p:cNvPr>
          <p:cNvSpPr>
            <a:spLocks xmlns:a="http://schemas.openxmlformats.org/drawingml/2006/main" noGrp="1"/>
          </p:cNvSpPr>
          <p:nvPr/>
        </p:nvSpPr>
        <p:spPr>
          <a:xfrm xmlns:a="http://schemas.openxmlformats.org/drawingml/2006/main">
            <a:off x="6191250" y="26098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23B22"/>
                </a:solidFill>
              </a:defRPr>
            </a:pPr>
            <a:r>
              <a:rPr sz="1575" b="1">
                <a:solidFill>
                  <a:srgbClr val="C23B22"/>
                </a:solidFill>
              </a:rPr>
              <a:t>/login</a:t>
            </a:r>
          </a:p>
        </p:txBody>
      </p:sp>
      <p:sp>
        <p:nvSpPr>
          <p:cNvPr id="27" name="">
            <a:extLst xmlns:a="http://schemas.openxmlformats.org/drawingml/2006/main">
              <a:ext uri="{FF2B5EF4-FFF2-40B4-BE49-F238E27FC236}">
                <a16:creationId xmlns:a16="http://schemas.microsoft.com/office/drawing/2014/main" id="{F5338F20-C923-4880-9951-DEA643BBF252}"/>
              </a:ext>
            </a:extLst>
          </p:cNvPr>
          <p:cNvSpPr>
            <a:spLocks xmlns:a="http://schemas.openxmlformats.org/drawingml/2006/main" noGrp="1"/>
          </p:cNvSpPr>
          <p:nvPr/>
        </p:nvSpPr>
        <p:spPr>
          <a:xfrm xmlns:a="http://schemas.openxmlformats.org/drawingml/2006/main">
            <a:off x="8001000" y="26098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Đăng nhập</a:t>
            </a:r>
          </a:p>
        </p:txBody>
      </p:sp>
      <p:sp>
        <p:nvSpPr>
          <p:cNvPr id="28" name="">
            <a:extLst xmlns:a="http://schemas.openxmlformats.org/drawingml/2006/main">
              <a:ext uri="{FF2B5EF4-FFF2-40B4-BE49-F238E27FC236}">
                <a16:creationId xmlns:a16="http://schemas.microsoft.com/office/drawing/2014/main" id="{8408A01E-57A9-4339-94FA-DE95D072C5BD}"/>
              </a:ext>
            </a:extLst>
          </p:cNvPr>
          <p:cNvSpPr>
            <a:spLocks xmlns:a="http://schemas.openxmlformats.org/drawingml/2006/main" noGrp="1"/>
          </p:cNvSpPr>
          <p:nvPr/>
        </p:nvSpPr>
        <p:spPr>
          <a:xfrm xmlns:a="http://schemas.openxmlformats.org/drawingml/2006/main">
            <a:off x="8001000" y="29718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FE-1</a:t>
            </a:r>
          </a:p>
        </p:txBody>
      </p:sp>
      <p:sp>
        <p:nvSpPr>
          <p:cNvPr id="29" name="">
            <a:extLst xmlns:a="http://schemas.openxmlformats.org/drawingml/2006/main">
              <a:ext uri="{FF2B5EF4-FFF2-40B4-BE49-F238E27FC236}">
                <a16:creationId xmlns:a16="http://schemas.microsoft.com/office/drawing/2014/main" id="{C7C3491A-8492-4F8C-95D2-F28A483CEADA}"/>
              </a:ext>
            </a:extLst>
          </p:cNvPr>
          <p:cNvSpPr>
            <a:spLocks xmlns:a="http://schemas.openxmlformats.org/drawingml/2006/main" noGrp="1"/>
          </p:cNvSpPr>
          <p:nvPr/>
        </p:nvSpPr>
        <p:spPr>
          <a:xfrm xmlns:a="http://schemas.openxmlformats.org/drawingml/2006/main">
            <a:off x="6191250" y="33147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30" name="">
            <a:extLst xmlns:a="http://schemas.openxmlformats.org/drawingml/2006/main">
              <a:ext uri="{FF2B5EF4-FFF2-40B4-BE49-F238E27FC236}">
                <a16:creationId xmlns:a16="http://schemas.microsoft.com/office/drawing/2014/main" id="{5E8C2441-FB60-45C1-93DD-942E0567BA00}"/>
              </a:ext>
            </a:extLst>
          </p:cNvPr>
          <p:cNvSpPr>
            <a:spLocks xmlns:a="http://schemas.openxmlformats.org/drawingml/2006/main" noGrp="1"/>
          </p:cNvSpPr>
          <p:nvPr/>
        </p:nvSpPr>
        <p:spPr>
          <a:xfrm xmlns:a="http://schemas.openxmlformats.org/drawingml/2006/main">
            <a:off x="6191250" y="35623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23B22"/>
                </a:solidFill>
              </a:defRPr>
            </a:pPr>
            <a:r>
              <a:rPr sz="1575" b="1">
                <a:solidFill>
                  <a:srgbClr val="C23B22"/>
                </a:solidFill>
              </a:rPr>
              <a:t>/admin</a:t>
            </a:r>
          </a:p>
        </p:txBody>
      </p:sp>
      <p:sp>
        <p:nvSpPr>
          <p:cNvPr id="31" name="">
            <a:extLst xmlns:a="http://schemas.openxmlformats.org/drawingml/2006/main">
              <a:ext uri="{FF2B5EF4-FFF2-40B4-BE49-F238E27FC236}">
                <a16:creationId xmlns:a16="http://schemas.microsoft.com/office/drawing/2014/main" id="{8C4105E8-9693-4927-AFE7-F4975EB4C115}"/>
              </a:ext>
            </a:extLst>
          </p:cNvPr>
          <p:cNvSpPr>
            <a:spLocks xmlns:a="http://schemas.openxmlformats.org/drawingml/2006/main" noGrp="1"/>
          </p:cNvSpPr>
          <p:nvPr/>
        </p:nvSpPr>
        <p:spPr>
          <a:xfrm xmlns:a="http://schemas.openxmlformats.org/drawingml/2006/main">
            <a:off x="8001000" y="35623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01A16"/>
                </a:solidFill>
              </a:defRPr>
            </a:pPr>
            <a:r>
              <a:rPr sz="1500" b="1">
                <a:solidFill>
                  <a:srgbClr val="201A16"/>
                </a:solidFill>
              </a:rPr>
              <a:t>CMS và duyệt hồ sơ</a:t>
            </a:r>
          </a:p>
        </p:txBody>
      </p:sp>
      <p:sp>
        <p:nvSpPr>
          <p:cNvPr id="32" name="">
            <a:extLst xmlns:a="http://schemas.openxmlformats.org/drawingml/2006/main">
              <a:ext uri="{FF2B5EF4-FFF2-40B4-BE49-F238E27FC236}">
                <a16:creationId xmlns:a16="http://schemas.microsoft.com/office/drawing/2014/main" id="{D67F38D5-2A0B-4D92-AB95-AB202E091B3B}"/>
              </a:ext>
            </a:extLst>
          </p:cNvPr>
          <p:cNvSpPr>
            <a:spLocks xmlns:a="http://schemas.openxmlformats.org/drawingml/2006/main" noGrp="1"/>
          </p:cNvSpPr>
          <p:nvPr/>
        </p:nvSpPr>
        <p:spPr>
          <a:xfrm xmlns:a="http://schemas.openxmlformats.org/drawingml/2006/main">
            <a:off x="8001000" y="39243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B5F55"/>
                </a:solidFill>
              </a:defRPr>
            </a:pPr>
            <a:r>
              <a:rPr sz="1050" b="0">
                <a:solidFill>
                  <a:srgbClr val="6B5F55"/>
                </a:solidFill>
              </a:rPr>
              <a:t>FE-4</a:t>
            </a:r>
          </a:p>
        </p:txBody>
      </p:sp>
      <p:sp>
        <p:nvSpPr>
          <p:cNvPr id="33" name="">
            <a:extLst xmlns:a="http://schemas.openxmlformats.org/drawingml/2006/main">
              <a:ext uri="{FF2B5EF4-FFF2-40B4-BE49-F238E27FC236}">
                <a16:creationId xmlns:a16="http://schemas.microsoft.com/office/drawing/2014/main" id="{74547E02-0741-4933-8C49-0F4BC6AA2318}"/>
              </a:ext>
            </a:extLst>
          </p:cNvPr>
          <p:cNvSpPr>
            <a:spLocks xmlns:a="http://schemas.openxmlformats.org/drawingml/2006/main" noGrp="1"/>
          </p:cNvSpPr>
          <p:nvPr/>
        </p:nvSpPr>
        <p:spPr>
          <a:xfrm xmlns:a="http://schemas.openxmlformats.org/drawingml/2006/main">
            <a:off x="6191250" y="4267200"/>
            <a:ext cx="45720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34" name="">
            <a:extLst xmlns:a="http://schemas.openxmlformats.org/drawingml/2006/main">
              <a:ext uri="{FF2B5EF4-FFF2-40B4-BE49-F238E27FC236}">
                <a16:creationId xmlns:a16="http://schemas.microsoft.com/office/drawing/2014/main" id="{431BD9EE-6419-4A37-807D-BC57E46D1F08}"/>
              </a:ext>
            </a:extLst>
          </p:cNvPr>
          <p:cNvSpPr>
            <a:spLocks xmlns:a="http://schemas.openxmlformats.org/drawingml/2006/main" noGrp="1"/>
          </p:cNvSpPr>
          <p:nvPr/>
        </p:nvSpPr>
        <p:spPr>
          <a:xfrm xmlns:a="http://schemas.openxmlformats.org/drawingml/2006/main">
            <a:off x="6191250" y="4648200"/>
            <a:ext cx="4819650" cy="914400"/>
          </a:xfrm>
          <a:prstGeom xmlns:a="http://schemas.openxmlformats.org/drawingml/2006/main" prst="roundRect">
            <a:avLst>
              <a:gd name="adj" fmla="val 18750"/>
            </a:avLst>
          </a:prstGeom>
          <a:solidFill xmlns:a="http://schemas.openxmlformats.org/drawingml/2006/main">
            <a:srgbClr val="DCEAFB"/>
          </a:solidFill>
          <a:ln xmlns:a="http://schemas.openxmlformats.org/drawingml/2006/main" w="9525">
            <a:solidFill>
              <a:srgbClr val="DCEAFB"/>
            </a:solidFill>
            <a:prstDash val="solid"/>
          </a:ln>
        </p:spPr>
      </p:sp>
      <p:sp>
        <p:nvSpPr>
          <p:cNvPr id="35" name="">
            <a:extLst xmlns:a="http://schemas.openxmlformats.org/drawingml/2006/main">
              <a:ext uri="{FF2B5EF4-FFF2-40B4-BE49-F238E27FC236}">
                <a16:creationId xmlns:a16="http://schemas.microsoft.com/office/drawing/2014/main" id="{15D64931-E8EE-4156-B33F-45727EF929FF}"/>
              </a:ext>
            </a:extLst>
          </p:cNvPr>
          <p:cNvSpPr>
            <a:spLocks xmlns:a="http://schemas.openxmlformats.org/drawingml/2006/main" noGrp="1"/>
          </p:cNvSpPr>
          <p:nvPr/>
        </p:nvSpPr>
        <p:spPr>
          <a:xfrm xmlns:a="http://schemas.openxmlformats.org/drawingml/2006/main">
            <a:off x="6438900" y="4819650"/>
            <a:ext cx="432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3E7A"/>
                </a:solidFill>
              </a:defRPr>
            </a:pPr>
            <a:r>
              <a:rPr sz="1500" b="1">
                <a:solidFill>
                  <a:srgbClr val="0B3E7A"/>
                </a:solidFill>
              </a:rPr>
              <a:t>FE-1 tạo router và layout trước; các trang còn lại mới có khung để tích hợp.</a:t>
            </a:r>
          </a:p>
        </p:txBody>
      </p:sp>
    </p:spTree>
    <p:extLst>
      <p:ext uri="{BB962C8B-B14F-4D97-AF65-F5344CB8AC3E}">
        <p14:creationId xmlns:p14="http://schemas.microsoft.com/office/powerpoint/2010/main" val="168788886"/>
      </p:ext>
    </p:extLst>
  </p:cSld>
</p:sld>
</file>

<file path=ppt/slides/slide1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6D04C1-84D7-4124-87D6-A8077952836D}"/>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AEB6AB80-C444-438B-ABAC-F3B8E878E532}"/>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Backend: Fastify nhận request và trả JSON</a:t>
            </a:r>
          </a:p>
        </p:txBody>
      </p:sp>
      <p:sp>
        <p:nvSpPr>
          <p:cNvPr id="3" name="">
            <a:extLst xmlns:a="http://schemas.openxmlformats.org/drawingml/2006/main">
              <a:ext uri="{FF2B5EF4-FFF2-40B4-BE49-F238E27FC236}">
                <a16:creationId xmlns:a16="http://schemas.microsoft.com/office/drawing/2014/main" id="{C3040A53-22B0-42CB-A45D-609D95AC374C}"/>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A1B85D00-DB12-4C57-B5D4-C8E2A649EBC5}"/>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7C5F16BA-7E01-43D8-81B2-ECA242369AD3}"/>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14</a:t>
            </a:r>
          </a:p>
        </p:txBody>
      </p:sp>
      <p:sp>
        <p:nvSpPr>
          <p:cNvPr id="6" name="">
            <a:extLst xmlns:a="http://schemas.openxmlformats.org/drawingml/2006/main">
              <a:ext uri="{FF2B5EF4-FFF2-40B4-BE49-F238E27FC236}">
                <a16:creationId xmlns:a16="http://schemas.microsoft.com/office/drawing/2014/main" id="{AD198CD6-4FDA-439E-ACCC-F37743A1F38E}"/>
              </a:ext>
            </a:extLst>
          </p:cNvPr>
          <p:cNvSpPr>
            <a:spLocks xmlns:a="http://schemas.openxmlformats.org/drawingml/2006/main" noGrp="1"/>
          </p:cNvSpPr>
          <p:nvPr/>
        </p:nvSpPr>
        <p:spPr>
          <a:xfrm xmlns:a="http://schemas.openxmlformats.org/drawingml/2006/main">
            <a:off x="685800" y="1657350"/>
            <a:ext cx="5715000" cy="3429000"/>
          </a:xfrm>
          <a:prstGeom xmlns:a="http://schemas.openxmlformats.org/drawingml/2006/main" prst="roundRect">
            <a:avLst>
              <a:gd name="adj" fmla="val 5000"/>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35FA1D63-1F65-472D-A45B-749C5F334786}"/>
              </a:ext>
            </a:extLst>
          </p:cNvPr>
          <p:cNvSpPr>
            <a:spLocks xmlns:a="http://schemas.openxmlformats.org/drawingml/2006/main" noGrp="1"/>
          </p:cNvSpPr>
          <p:nvPr/>
        </p:nvSpPr>
        <p:spPr>
          <a:xfrm xmlns:a="http://schemas.openxmlformats.org/drawingml/2006/main">
            <a:off x="895350" y="1809750"/>
            <a:ext cx="529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CODE HIỆN CÓ • app.ts</a:t>
            </a:r>
          </a:p>
        </p:txBody>
      </p:sp>
      <p:sp>
        <p:nvSpPr>
          <p:cNvPr id="8" name="">
            <a:extLst xmlns:a="http://schemas.openxmlformats.org/drawingml/2006/main">
              <a:ext uri="{FF2B5EF4-FFF2-40B4-BE49-F238E27FC236}">
                <a16:creationId xmlns:a16="http://schemas.microsoft.com/office/drawing/2014/main" id="{D621EB5F-CB60-4D1A-98F1-001B098A5B9A}"/>
              </a:ext>
            </a:extLst>
          </p:cNvPr>
          <p:cNvSpPr>
            <a:spLocks xmlns:a="http://schemas.openxmlformats.org/drawingml/2006/main" noGrp="1"/>
          </p:cNvSpPr>
          <p:nvPr/>
        </p:nvSpPr>
        <p:spPr>
          <a:xfrm xmlns:a="http://schemas.openxmlformats.org/drawingml/2006/main">
            <a:off x="895350" y="2095500"/>
            <a:ext cx="52959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const app = Fastify()</a:t>
            </a:r>
          </a:p>
          <a:p xmlns:a="http://schemas.openxmlformats.org/drawingml/2006/main">
            <a:r>
              <a:t/>
            </a:r>
          </a:p>
          <a:p xmlns:a="http://schemas.openxmlformats.org/drawingml/2006/main">
            <a:pPr algn="l">
              <a:defRPr sz="1350" b="0">
                <a:solidFill>
                  <a:srgbClr val="E8EEF7"/>
                </a:solidFill>
              </a:defRPr>
            </a:pPr>
            <a:r>
              <a:rPr sz="1350" b="0">
                <a:solidFill>
                  <a:srgbClr val="E8EEF7"/>
                </a:solidFill>
              </a:rPr>
              <a:t>app.get('/health', async () =&gt; ({</a:t>
            </a:r>
          </a:p>
          <a:p xmlns:a="http://schemas.openxmlformats.org/drawingml/2006/main">
            <a:pPr algn="l">
              <a:defRPr sz="1350" b="0">
                <a:solidFill>
                  <a:srgbClr val="E8EEF7"/>
                </a:solidFill>
              </a:defRPr>
            </a:pPr>
            <a:r>
              <a:rPr sz="1350" b="0">
                <a:solidFill>
                  <a:srgbClr val="E8EEF7"/>
                </a:solidFill>
              </a:rPr>
              <a:t>  status: 'ok',</a:t>
            </a:r>
          </a:p>
          <a:p xmlns:a="http://schemas.openxmlformats.org/drawingml/2006/main">
            <a:pPr algn="l">
              <a:defRPr sz="1350" b="0">
                <a:solidFill>
                  <a:srgbClr val="E8EEF7"/>
                </a:solidFill>
              </a:defRPr>
            </a:pPr>
            <a:r>
              <a:rPr sz="1350" b="0">
                <a:solidFill>
                  <a:srgbClr val="E8EEF7"/>
                </a:solidFill>
              </a:rPr>
              <a:t>  service: 'apc-api',</a:t>
            </a:r>
          </a:p>
          <a:p xmlns:a="http://schemas.openxmlformats.org/drawingml/2006/main">
            <a:pPr algn="l">
              <a:defRPr sz="1350" b="0">
                <a:solidFill>
                  <a:srgbClr val="E8EEF7"/>
                </a:solidFill>
              </a:defRPr>
            </a:pPr>
            <a:r>
              <a:rPr sz="1350" b="0">
                <a:solidFill>
                  <a:srgbClr val="E8EEF7"/>
                </a:solidFill>
              </a:rPr>
              <a:t>}))</a:t>
            </a:r>
          </a:p>
        </p:txBody>
      </p:sp>
      <p:sp>
        <p:nvSpPr>
          <p:cNvPr id="9" name="">
            <a:extLst xmlns:a="http://schemas.openxmlformats.org/drawingml/2006/main">
              <a:ext uri="{FF2B5EF4-FFF2-40B4-BE49-F238E27FC236}">
                <a16:creationId xmlns:a16="http://schemas.microsoft.com/office/drawing/2014/main" id="{D378C60D-B2E9-4FFE-9B54-C59651D301C1}"/>
              </a:ext>
            </a:extLst>
          </p:cNvPr>
          <p:cNvSpPr>
            <a:spLocks xmlns:a="http://schemas.openxmlformats.org/drawingml/2006/main" noGrp="1"/>
          </p:cNvSpPr>
          <p:nvPr/>
        </p:nvSpPr>
        <p:spPr>
          <a:xfrm xmlns:a="http://schemas.openxmlformats.org/drawingml/2006/main">
            <a:off x="6953250" y="17526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GET</a:t>
            </a:r>
          </a:p>
        </p:txBody>
      </p:sp>
      <p:sp>
        <p:nvSpPr>
          <p:cNvPr id="10" name="">
            <a:extLst xmlns:a="http://schemas.openxmlformats.org/drawingml/2006/main">
              <a:ext uri="{FF2B5EF4-FFF2-40B4-BE49-F238E27FC236}">
                <a16:creationId xmlns:a16="http://schemas.microsoft.com/office/drawing/2014/main" id="{1EDE9F2A-C65A-435B-839A-AF711A32168B}"/>
              </a:ext>
            </a:extLst>
          </p:cNvPr>
          <p:cNvSpPr>
            <a:spLocks xmlns:a="http://schemas.openxmlformats.org/drawingml/2006/main" noGrp="1"/>
          </p:cNvSpPr>
          <p:nvPr/>
        </p:nvSpPr>
        <p:spPr>
          <a:xfrm xmlns:a="http://schemas.openxmlformats.org/drawingml/2006/main">
            <a:off x="8096250" y="17526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B5F55"/>
                </a:solidFill>
              </a:defRPr>
            </a:pPr>
            <a:r>
              <a:rPr sz="1575" b="0">
                <a:solidFill>
                  <a:srgbClr val="6B5F55"/>
                </a:solidFill>
              </a:rPr>
              <a:t>Hành động đọc dữ liệu</a:t>
            </a:r>
          </a:p>
        </p:txBody>
      </p:sp>
      <p:sp>
        <p:nvSpPr>
          <p:cNvPr id="11" name="">
            <a:extLst xmlns:a="http://schemas.openxmlformats.org/drawingml/2006/main">
              <a:ext uri="{FF2B5EF4-FFF2-40B4-BE49-F238E27FC236}">
                <a16:creationId xmlns:a16="http://schemas.microsoft.com/office/drawing/2014/main" id="{C0E57734-331F-479C-9283-9DC83AFCD5A3}"/>
              </a:ext>
            </a:extLst>
          </p:cNvPr>
          <p:cNvSpPr>
            <a:spLocks xmlns:a="http://schemas.openxmlformats.org/drawingml/2006/main" noGrp="1"/>
          </p:cNvSpPr>
          <p:nvPr/>
        </p:nvSpPr>
        <p:spPr>
          <a:xfrm xmlns:a="http://schemas.openxmlformats.org/drawingml/2006/main">
            <a:off x="6953250" y="24574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/health</a:t>
            </a:r>
          </a:p>
        </p:txBody>
      </p:sp>
      <p:sp>
        <p:nvSpPr>
          <p:cNvPr id="12" name="">
            <a:extLst xmlns:a="http://schemas.openxmlformats.org/drawingml/2006/main">
              <a:ext uri="{FF2B5EF4-FFF2-40B4-BE49-F238E27FC236}">
                <a16:creationId xmlns:a16="http://schemas.microsoft.com/office/drawing/2014/main" id="{74F51C0E-8F7C-4377-B3CB-AF11B7F65AEB}"/>
              </a:ext>
            </a:extLst>
          </p:cNvPr>
          <p:cNvSpPr>
            <a:spLocks xmlns:a="http://schemas.openxmlformats.org/drawingml/2006/main" noGrp="1"/>
          </p:cNvSpPr>
          <p:nvPr/>
        </p:nvSpPr>
        <p:spPr>
          <a:xfrm xmlns:a="http://schemas.openxmlformats.org/drawingml/2006/main">
            <a:off x="8858250" y="24574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B5F55"/>
                </a:solidFill>
              </a:defRPr>
            </a:pPr>
            <a:r>
              <a:rPr sz="1575" b="0">
                <a:solidFill>
                  <a:srgbClr val="6B5F55"/>
                </a:solidFill>
              </a:rPr>
              <a:t>Địa chỉ API</a:t>
            </a:r>
          </a:p>
        </p:txBody>
      </p:sp>
      <p:sp>
        <p:nvSpPr>
          <p:cNvPr id="13" name="">
            <a:extLst xmlns:a="http://schemas.openxmlformats.org/drawingml/2006/main">
              <a:ext uri="{FF2B5EF4-FFF2-40B4-BE49-F238E27FC236}">
                <a16:creationId xmlns:a16="http://schemas.microsoft.com/office/drawing/2014/main" id="{6459C7C1-B462-4E53-A943-291AA21A8AA8}"/>
              </a:ext>
            </a:extLst>
          </p:cNvPr>
          <p:cNvSpPr>
            <a:spLocks xmlns:a="http://schemas.openxmlformats.org/drawingml/2006/main" noGrp="1"/>
          </p:cNvSpPr>
          <p:nvPr/>
        </p:nvSpPr>
        <p:spPr>
          <a:xfrm xmlns:a="http://schemas.openxmlformats.org/drawingml/2006/main">
            <a:off x="6953250" y="31623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JSON</a:t>
            </a:r>
          </a:p>
        </p:txBody>
      </p:sp>
      <p:sp>
        <p:nvSpPr>
          <p:cNvPr id="14" name="">
            <a:extLst xmlns:a="http://schemas.openxmlformats.org/drawingml/2006/main">
              <a:ext uri="{FF2B5EF4-FFF2-40B4-BE49-F238E27FC236}">
                <a16:creationId xmlns:a16="http://schemas.microsoft.com/office/drawing/2014/main" id="{BFBCDE16-4046-4EA2-B763-09152E9CE88F}"/>
              </a:ext>
            </a:extLst>
          </p:cNvPr>
          <p:cNvSpPr>
            <a:spLocks xmlns:a="http://schemas.openxmlformats.org/drawingml/2006/main" noGrp="1"/>
          </p:cNvSpPr>
          <p:nvPr/>
        </p:nvSpPr>
        <p:spPr>
          <a:xfrm xmlns:a="http://schemas.openxmlformats.org/drawingml/2006/main">
            <a:off x="8096250" y="31623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B5F55"/>
                </a:solidFill>
              </a:defRPr>
            </a:pPr>
            <a:r>
              <a:rPr sz="1575" b="0">
                <a:solidFill>
                  <a:srgbClr val="6B5F55"/>
                </a:solidFill>
              </a:rPr>
              <a:t>Kết quả trả về cho Frontend</a:t>
            </a:r>
          </a:p>
        </p:txBody>
      </p:sp>
      <p:sp>
        <p:nvSpPr>
          <p:cNvPr id="15" name="">
            <a:extLst xmlns:a="http://schemas.openxmlformats.org/drawingml/2006/main">
              <a:ext uri="{FF2B5EF4-FFF2-40B4-BE49-F238E27FC236}">
                <a16:creationId xmlns:a16="http://schemas.microsoft.com/office/drawing/2014/main" id="{BDC59B7C-ABB9-4C1E-93A2-BCFBCB328B00}"/>
              </a:ext>
            </a:extLst>
          </p:cNvPr>
          <p:cNvSpPr>
            <a:spLocks xmlns:a="http://schemas.openxmlformats.org/drawingml/2006/main" noGrp="1"/>
          </p:cNvSpPr>
          <p:nvPr/>
        </p:nvSpPr>
        <p:spPr>
          <a:xfrm xmlns:a="http://schemas.openxmlformats.org/drawingml/2006/main">
            <a:off x="6953250" y="4114800"/>
            <a:ext cx="4095750" cy="971550"/>
          </a:xfrm>
          <a:prstGeom xmlns:a="http://schemas.openxmlformats.org/drawingml/2006/main" prst="roundRect">
            <a:avLst>
              <a:gd name="adj" fmla="val 17647"/>
            </a:avLst>
          </a:prstGeom>
          <a:solidFill xmlns:a="http://schemas.openxmlformats.org/drawingml/2006/main">
            <a:srgbClr val="F6DED6"/>
          </a:solidFill>
          <a:ln xmlns:a="http://schemas.openxmlformats.org/drawingml/2006/main" w="9525">
            <a:solidFill>
              <a:srgbClr val="F6DED6"/>
            </a:solidFill>
            <a:prstDash val="solid"/>
          </a:ln>
        </p:spPr>
      </p:sp>
      <p:sp>
        <p:nvSpPr>
          <p:cNvPr id="16" name="">
            <a:extLst xmlns:a="http://schemas.openxmlformats.org/drawingml/2006/main">
              <a:ext uri="{FF2B5EF4-FFF2-40B4-BE49-F238E27FC236}">
                <a16:creationId xmlns:a16="http://schemas.microsoft.com/office/drawing/2014/main" id="{C44D0101-801F-4D84-8262-401296B7E0EF}"/>
              </a:ext>
            </a:extLst>
          </p:cNvPr>
          <p:cNvSpPr>
            <a:spLocks xmlns:a="http://schemas.openxmlformats.org/drawingml/2006/main" noGrp="1"/>
          </p:cNvSpPr>
          <p:nvPr/>
        </p:nvSpPr>
        <p:spPr>
          <a:xfrm xmlns:a="http://schemas.openxmlformats.org/drawingml/2006/main">
            <a:off x="7200900" y="426720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841F11"/>
                </a:solidFill>
              </a:defRPr>
            </a:pPr>
            <a:r>
              <a:rPr sz="1575" b="1">
                <a:solidFill>
                  <a:srgbClr val="841F11"/>
                </a:solidFill>
              </a:rPr>
              <a:t>Frontend có thể ẩn nút, nhưng Backend vẫn phải kiểm tra quyền.</a:t>
            </a:r>
          </a:p>
        </p:txBody>
      </p:sp>
    </p:spTree>
    <p:extLst>
      <p:ext uri="{BB962C8B-B14F-4D97-AF65-F5344CB8AC3E}">
        <p14:creationId xmlns:p14="http://schemas.microsoft.com/office/powerpoint/2010/main" val="659215683"/>
      </p:ext>
    </p:extLst>
  </p:cSld>
</p:sld>
</file>

<file path=ppt/slides/slide1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EE4D296-C6ED-4987-B6E2-6176AF3F4BE1}"/>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CC2B601-3C53-4977-9B93-A9F37F476E6D}"/>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Database Sprint 1 cần sáu nhóm dữ liệu nền</a:t>
            </a:r>
          </a:p>
        </p:txBody>
      </p:sp>
      <p:sp>
        <p:nvSpPr>
          <p:cNvPr id="3" name="">
            <a:extLst xmlns:a="http://schemas.openxmlformats.org/drawingml/2006/main">
              <a:ext uri="{FF2B5EF4-FFF2-40B4-BE49-F238E27FC236}">
                <a16:creationId xmlns:a16="http://schemas.microsoft.com/office/drawing/2014/main" id="{3B09D15C-8149-49A6-B774-59523246373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E0E2B4FA-0B38-4735-A39E-A4F305C7FE93}"/>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D5531EE3-5402-4A33-A027-043A6290BCDB}"/>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15</a:t>
            </a:r>
          </a:p>
        </p:txBody>
      </p:sp>
      <p:sp>
        <p:nvSpPr>
          <p:cNvPr id="6" name="">
            <a:extLst xmlns:a="http://schemas.openxmlformats.org/drawingml/2006/main">
              <a:ext uri="{FF2B5EF4-FFF2-40B4-BE49-F238E27FC236}">
                <a16:creationId xmlns:a16="http://schemas.microsoft.com/office/drawing/2014/main" id="{48DF1D46-A363-4A4F-94DD-97C58B7B696E}"/>
              </a:ext>
            </a:extLst>
          </p:cNvPr>
          <p:cNvSpPr>
            <a:spLocks xmlns:a="http://schemas.openxmlformats.org/drawingml/2006/main" noGrp="1"/>
          </p:cNvSpPr>
          <p:nvPr/>
        </p:nvSpPr>
        <p:spPr>
          <a:xfrm xmlns:a="http://schemas.openxmlformats.org/drawingml/2006/main">
            <a:off x="685800" y="1676400"/>
            <a:ext cx="3162300" cy="1428750"/>
          </a:xfrm>
          <a:prstGeom xmlns:a="http://schemas.openxmlformats.org/drawingml/2006/main" prst="roundRect">
            <a:avLst>
              <a:gd name="adj" fmla="val 13333"/>
            </a:avLst>
          </a:prstGeom>
          <a:solidFill xmlns:a="http://schemas.openxmlformats.org/drawingml/2006/main">
            <a:srgbClr val="F6DED6"/>
          </a:solidFill>
          <a:ln xmlns:a="http://schemas.openxmlformats.org/drawingml/2006/main" w="9525">
            <a:solidFill>
              <a:srgbClr val="F6DED6"/>
            </a:solidFill>
            <a:prstDash val="solid"/>
          </a:ln>
        </p:spPr>
      </p:sp>
      <p:sp>
        <p:nvSpPr>
          <p:cNvPr id="7" name="">
            <a:extLst xmlns:a="http://schemas.openxmlformats.org/drawingml/2006/main">
              <a:ext uri="{FF2B5EF4-FFF2-40B4-BE49-F238E27FC236}">
                <a16:creationId xmlns:a16="http://schemas.microsoft.com/office/drawing/2014/main" id="{F466B492-F1D4-4036-957C-6E007225BB19}"/>
              </a:ext>
            </a:extLst>
          </p:cNvPr>
          <p:cNvSpPr>
            <a:spLocks xmlns:a="http://schemas.openxmlformats.org/drawingml/2006/main" noGrp="1"/>
          </p:cNvSpPr>
          <p:nvPr/>
        </p:nvSpPr>
        <p:spPr>
          <a:xfrm xmlns:a="http://schemas.openxmlformats.org/drawingml/2006/main">
            <a:off x="914400" y="18859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23B22"/>
                </a:solidFill>
              </a:defRPr>
            </a:pPr>
            <a:r>
              <a:rPr sz="2025" b="1">
                <a:solidFill>
                  <a:srgbClr val="C23B22"/>
                </a:solidFill>
              </a:rPr>
              <a:t>user</a:t>
            </a:r>
          </a:p>
        </p:txBody>
      </p:sp>
      <p:sp>
        <p:nvSpPr>
          <p:cNvPr id="8" name="">
            <a:extLst xmlns:a="http://schemas.openxmlformats.org/drawingml/2006/main">
              <a:ext uri="{FF2B5EF4-FFF2-40B4-BE49-F238E27FC236}">
                <a16:creationId xmlns:a16="http://schemas.microsoft.com/office/drawing/2014/main" id="{0B9953A4-87A4-4A94-BEC3-B94840FF038C}"/>
              </a:ext>
            </a:extLst>
          </p:cNvPr>
          <p:cNvSpPr>
            <a:spLocks xmlns:a="http://schemas.openxmlformats.org/drawingml/2006/main" noGrp="1"/>
          </p:cNvSpPr>
          <p:nvPr/>
        </p:nvSpPr>
        <p:spPr>
          <a:xfrm xmlns:a="http://schemas.openxmlformats.org/drawingml/2006/main">
            <a:off x="914400" y="241935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Tài khoản và hồ sơ cơ bản</a:t>
            </a:r>
          </a:p>
        </p:txBody>
      </p:sp>
      <p:sp>
        <p:nvSpPr>
          <p:cNvPr id="9" name="">
            <a:extLst xmlns:a="http://schemas.openxmlformats.org/drawingml/2006/main">
              <a:ext uri="{FF2B5EF4-FFF2-40B4-BE49-F238E27FC236}">
                <a16:creationId xmlns:a16="http://schemas.microsoft.com/office/drawing/2014/main" id="{41A281D4-1DFC-4995-ADC9-AEA66F3988C3}"/>
              </a:ext>
            </a:extLst>
          </p:cNvPr>
          <p:cNvSpPr>
            <a:spLocks xmlns:a="http://schemas.openxmlformats.org/drawingml/2006/main" noGrp="1"/>
          </p:cNvSpPr>
          <p:nvPr/>
        </p:nvSpPr>
        <p:spPr>
          <a:xfrm xmlns:a="http://schemas.openxmlformats.org/drawingml/2006/main">
            <a:off x="4286250" y="1676400"/>
            <a:ext cx="3162300" cy="1428750"/>
          </a:xfrm>
          <a:prstGeom xmlns:a="http://schemas.openxmlformats.org/drawingml/2006/main" prst="roundRect">
            <a:avLst>
              <a:gd name="adj" fmla="val 13333"/>
            </a:avLst>
          </a:prstGeom>
          <a:solidFill xmlns:a="http://schemas.openxmlformats.org/drawingml/2006/main">
            <a:srgbClr val="FCEACA"/>
          </a:solidFill>
          <a:ln xmlns:a="http://schemas.openxmlformats.org/drawingml/2006/main" w="9525">
            <a:solidFill>
              <a:srgbClr val="FCEACA"/>
            </a:solidFill>
            <a:prstDash val="solid"/>
          </a:ln>
        </p:spPr>
      </p:sp>
      <p:sp>
        <p:nvSpPr>
          <p:cNvPr id="10" name="">
            <a:extLst xmlns:a="http://schemas.openxmlformats.org/drawingml/2006/main">
              <a:ext uri="{FF2B5EF4-FFF2-40B4-BE49-F238E27FC236}">
                <a16:creationId xmlns:a16="http://schemas.microsoft.com/office/drawing/2014/main" id="{C0CF893E-CF43-409D-B5EB-F9A85BB267D2}"/>
              </a:ext>
            </a:extLst>
          </p:cNvPr>
          <p:cNvSpPr>
            <a:spLocks xmlns:a="http://schemas.openxmlformats.org/drawingml/2006/main" noGrp="1"/>
          </p:cNvSpPr>
          <p:nvPr/>
        </p:nvSpPr>
        <p:spPr>
          <a:xfrm xmlns:a="http://schemas.openxmlformats.org/drawingml/2006/main">
            <a:off x="4514850" y="18859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0A202"/>
                </a:solidFill>
              </a:defRPr>
            </a:pPr>
            <a:r>
              <a:rPr sz="2025" b="1">
                <a:solidFill>
                  <a:srgbClr val="F0A202"/>
                </a:solidFill>
              </a:rPr>
              <a:t>role</a:t>
            </a:r>
          </a:p>
        </p:txBody>
      </p:sp>
      <p:sp>
        <p:nvSpPr>
          <p:cNvPr id="11" name="">
            <a:extLst xmlns:a="http://schemas.openxmlformats.org/drawingml/2006/main">
              <a:ext uri="{FF2B5EF4-FFF2-40B4-BE49-F238E27FC236}">
                <a16:creationId xmlns:a16="http://schemas.microsoft.com/office/drawing/2014/main" id="{917EB759-12AD-443B-BBA2-EB21B083BE7B}"/>
              </a:ext>
            </a:extLst>
          </p:cNvPr>
          <p:cNvSpPr>
            <a:spLocks xmlns:a="http://schemas.openxmlformats.org/drawingml/2006/main" noGrp="1"/>
          </p:cNvSpPr>
          <p:nvPr/>
        </p:nvSpPr>
        <p:spPr>
          <a:xfrm xmlns:a="http://schemas.openxmlformats.org/drawingml/2006/main">
            <a:off x="4514850" y="241935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Vai trò và quyền truy cập</a:t>
            </a:r>
          </a:p>
        </p:txBody>
      </p:sp>
      <p:sp>
        <p:nvSpPr>
          <p:cNvPr id="12" name="">
            <a:extLst xmlns:a="http://schemas.openxmlformats.org/drawingml/2006/main">
              <a:ext uri="{FF2B5EF4-FFF2-40B4-BE49-F238E27FC236}">
                <a16:creationId xmlns:a16="http://schemas.microsoft.com/office/drawing/2014/main" id="{BCADD252-7201-460E-A037-171D101D6BE8}"/>
              </a:ext>
            </a:extLst>
          </p:cNvPr>
          <p:cNvSpPr>
            <a:spLocks xmlns:a="http://schemas.openxmlformats.org/drawingml/2006/main" noGrp="1"/>
          </p:cNvSpPr>
          <p:nvPr/>
        </p:nvSpPr>
        <p:spPr>
          <a:xfrm xmlns:a="http://schemas.openxmlformats.org/drawingml/2006/main">
            <a:off x="7886700" y="1676400"/>
            <a:ext cx="3162300" cy="1428750"/>
          </a:xfrm>
          <a:prstGeom xmlns:a="http://schemas.openxmlformats.org/drawingml/2006/main" prst="roundRect">
            <a:avLst>
              <a:gd name="adj" fmla="val 13333"/>
            </a:avLst>
          </a:prstGeom>
          <a:solidFill xmlns:a="http://schemas.openxmlformats.org/drawingml/2006/main">
            <a:srgbClr val="DCEAFB"/>
          </a:solidFill>
          <a:ln xmlns:a="http://schemas.openxmlformats.org/drawingml/2006/main" w="9525">
            <a:solidFill>
              <a:srgbClr val="DCEAFB"/>
            </a:solidFill>
            <a:prstDash val="solid"/>
          </a:ln>
        </p:spPr>
      </p:sp>
      <p:sp>
        <p:nvSpPr>
          <p:cNvPr id="13" name="">
            <a:extLst xmlns:a="http://schemas.openxmlformats.org/drawingml/2006/main">
              <a:ext uri="{FF2B5EF4-FFF2-40B4-BE49-F238E27FC236}">
                <a16:creationId xmlns:a16="http://schemas.microsoft.com/office/drawing/2014/main" id="{18647D88-9615-45F9-8CE0-296EFC095474}"/>
              </a:ext>
            </a:extLst>
          </p:cNvPr>
          <p:cNvSpPr>
            <a:spLocks xmlns:a="http://schemas.openxmlformats.org/drawingml/2006/main" noGrp="1"/>
          </p:cNvSpPr>
          <p:nvPr/>
        </p:nvSpPr>
        <p:spPr>
          <a:xfrm xmlns:a="http://schemas.openxmlformats.org/drawingml/2006/main">
            <a:off x="8115300" y="188595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568C9"/>
                </a:solidFill>
              </a:defRPr>
            </a:pPr>
            <a:r>
              <a:rPr sz="2025" b="1">
                <a:solidFill>
                  <a:srgbClr val="1568C9"/>
                </a:solidFill>
              </a:rPr>
              <a:t>news</a:t>
            </a:r>
          </a:p>
        </p:txBody>
      </p:sp>
      <p:sp>
        <p:nvSpPr>
          <p:cNvPr id="14" name="">
            <a:extLst xmlns:a="http://schemas.openxmlformats.org/drawingml/2006/main">
              <a:ext uri="{FF2B5EF4-FFF2-40B4-BE49-F238E27FC236}">
                <a16:creationId xmlns:a16="http://schemas.microsoft.com/office/drawing/2014/main" id="{9BC99B40-057E-4E46-8071-47788BF69A46}"/>
              </a:ext>
            </a:extLst>
          </p:cNvPr>
          <p:cNvSpPr>
            <a:spLocks xmlns:a="http://schemas.openxmlformats.org/drawingml/2006/main" noGrp="1"/>
          </p:cNvSpPr>
          <p:nvPr/>
        </p:nvSpPr>
        <p:spPr>
          <a:xfrm xmlns:a="http://schemas.openxmlformats.org/drawingml/2006/main">
            <a:off x="8115300" y="241935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Tin tức và trạng thái công bố</a:t>
            </a:r>
          </a:p>
        </p:txBody>
      </p:sp>
      <p:sp>
        <p:nvSpPr>
          <p:cNvPr id="15" name="">
            <a:extLst xmlns:a="http://schemas.openxmlformats.org/drawingml/2006/main">
              <a:ext uri="{FF2B5EF4-FFF2-40B4-BE49-F238E27FC236}">
                <a16:creationId xmlns:a16="http://schemas.microsoft.com/office/drawing/2014/main" id="{A6C4E93A-AAD6-4E63-B22E-B42E4BA66426}"/>
              </a:ext>
            </a:extLst>
          </p:cNvPr>
          <p:cNvSpPr>
            <a:spLocks xmlns:a="http://schemas.openxmlformats.org/drawingml/2006/main" noGrp="1"/>
          </p:cNvSpPr>
          <p:nvPr/>
        </p:nvSpPr>
        <p:spPr>
          <a:xfrm xmlns:a="http://schemas.openxmlformats.org/drawingml/2006/main">
            <a:off x="685800" y="3486150"/>
            <a:ext cx="3162300" cy="1428750"/>
          </a:xfrm>
          <a:prstGeom xmlns:a="http://schemas.openxmlformats.org/drawingml/2006/main" prst="roundRect">
            <a:avLst>
              <a:gd name="adj" fmla="val 13333"/>
            </a:avLst>
          </a:prstGeom>
          <a:solidFill xmlns:a="http://schemas.openxmlformats.org/drawingml/2006/main">
            <a:srgbClr val="DCEAFB"/>
          </a:solidFill>
          <a:ln xmlns:a="http://schemas.openxmlformats.org/drawingml/2006/main" w="9525">
            <a:solidFill>
              <a:srgbClr val="DCEAFB"/>
            </a:solidFill>
            <a:prstDash val="solid"/>
          </a:ln>
        </p:spPr>
      </p:sp>
      <p:sp>
        <p:nvSpPr>
          <p:cNvPr id="16" name="">
            <a:extLst xmlns:a="http://schemas.openxmlformats.org/drawingml/2006/main">
              <a:ext uri="{FF2B5EF4-FFF2-40B4-BE49-F238E27FC236}">
                <a16:creationId xmlns:a16="http://schemas.microsoft.com/office/drawing/2014/main" id="{A74C2C62-6D13-4503-8C62-A2593C523173}"/>
              </a:ext>
            </a:extLst>
          </p:cNvPr>
          <p:cNvSpPr>
            <a:spLocks xmlns:a="http://schemas.openxmlformats.org/drawingml/2006/main" noGrp="1"/>
          </p:cNvSpPr>
          <p:nvPr/>
        </p:nvSpPr>
        <p:spPr>
          <a:xfrm xmlns:a="http://schemas.openxmlformats.org/drawingml/2006/main">
            <a:off x="914400" y="36957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568C9"/>
                </a:solidFill>
              </a:defRPr>
            </a:pPr>
            <a:r>
              <a:rPr sz="2025" b="1">
                <a:solidFill>
                  <a:srgbClr val="1568C9"/>
                </a:solidFill>
              </a:rPr>
              <a:t>event</a:t>
            </a:r>
          </a:p>
        </p:txBody>
      </p:sp>
      <p:sp>
        <p:nvSpPr>
          <p:cNvPr id="17" name="">
            <a:extLst xmlns:a="http://schemas.openxmlformats.org/drawingml/2006/main">
              <a:ext uri="{FF2B5EF4-FFF2-40B4-BE49-F238E27FC236}">
                <a16:creationId xmlns:a16="http://schemas.microsoft.com/office/drawing/2014/main" id="{91151C5D-67D5-451E-AF2A-B7E8DB232774}"/>
              </a:ext>
            </a:extLst>
          </p:cNvPr>
          <p:cNvSpPr>
            <a:spLocks xmlns:a="http://schemas.openxmlformats.org/drawingml/2006/main" noGrp="1"/>
          </p:cNvSpPr>
          <p:nvPr/>
        </p:nvSpPr>
        <p:spPr>
          <a:xfrm xmlns:a="http://schemas.openxmlformats.org/drawingml/2006/main">
            <a:off x="914400" y="422910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Ngày, địa điểm và chuyên mục</a:t>
            </a:r>
          </a:p>
        </p:txBody>
      </p:sp>
      <p:sp>
        <p:nvSpPr>
          <p:cNvPr id="18" name="">
            <a:extLst xmlns:a="http://schemas.openxmlformats.org/drawingml/2006/main">
              <a:ext uri="{FF2B5EF4-FFF2-40B4-BE49-F238E27FC236}">
                <a16:creationId xmlns:a16="http://schemas.microsoft.com/office/drawing/2014/main" id="{934B9004-FC9C-4456-AE75-940E93699996}"/>
              </a:ext>
            </a:extLst>
          </p:cNvPr>
          <p:cNvSpPr>
            <a:spLocks xmlns:a="http://schemas.openxmlformats.org/drawingml/2006/main" noGrp="1"/>
          </p:cNvSpPr>
          <p:nvPr/>
        </p:nvSpPr>
        <p:spPr>
          <a:xfrm xmlns:a="http://schemas.openxmlformats.org/drawingml/2006/main">
            <a:off x="4286250" y="3486150"/>
            <a:ext cx="3162300" cy="1428750"/>
          </a:xfrm>
          <a:prstGeom xmlns:a="http://schemas.openxmlformats.org/drawingml/2006/main" prst="roundRect">
            <a:avLst>
              <a:gd name="adj" fmla="val 13333"/>
            </a:avLst>
          </a:prstGeom>
          <a:solidFill xmlns:a="http://schemas.openxmlformats.org/drawingml/2006/main">
            <a:srgbClr val="F6DED6"/>
          </a:solidFill>
          <a:ln xmlns:a="http://schemas.openxmlformats.org/drawingml/2006/main" w="9525">
            <a:solidFill>
              <a:srgbClr val="F6DED6"/>
            </a:solidFill>
            <a:prstDash val="solid"/>
          </a:ln>
        </p:spPr>
      </p:sp>
      <p:sp>
        <p:nvSpPr>
          <p:cNvPr id="19" name="">
            <a:extLst xmlns:a="http://schemas.openxmlformats.org/drawingml/2006/main">
              <a:ext uri="{FF2B5EF4-FFF2-40B4-BE49-F238E27FC236}">
                <a16:creationId xmlns:a16="http://schemas.microsoft.com/office/drawing/2014/main" id="{E32C0A1B-F31C-43F9-9A8F-8130BD8432F1}"/>
              </a:ext>
            </a:extLst>
          </p:cNvPr>
          <p:cNvSpPr>
            <a:spLocks xmlns:a="http://schemas.openxmlformats.org/drawingml/2006/main" noGrp="1"/>
          </p:cNvSpPr>
          <p:nvPr/>
        </p:nvSpPr>
        <p:spPr>
          <a:xfrm xmlns:a="http://schemas.openxmlformats.org/drawingml/2006/main">
            <a:off x="4514850" y="36957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23B22"/>
                </a:solidFill>
              </a:defRPr>
            </a:pPr>
            <a:r>
              <a:rPr sz="2025" b="1">
                <a:solidFill>
                  <a:srgbClr val="C23B22"/>
                </a:solidFill>
              </a:rPr>
              <a:t>project</a:t>
            </a:r>
          </a:p>
        </p:txBody>
      </p:sp>
      <p:sp>
        <p:nvSpPr>
          <p:cNvPr id="20" name="">
            <a:extLst xmlns:a="http://schemas.openxmlformats.org/drawingml/2006/main">
              <a:ext uri="{FF2B5EF4-FFF2-40B4-BE49-F238E27FC236}">
                <a16:creationId xmlns:a16="http://schemas.microsoft.com/office/drawing/2014/main" id="{33DD4F8D-7F17-46CB-B05D-2BD58BE4907A}"/>
              </a:ext>
            </a:extLst>
          </p:cNvPr>
          <p:cNvSpPr>
            <a:spLocks xmlns:a="http://schemas.openxmlformats.org/drawingml/2006/main" noGrp="1"/>
          </p:cNvSpPr>
          <p:nvPr/>
        </p:nvSpPr>
        <p:spPr>
          <a:xfrm xmlns:a="http://schemas.openxmlformats.org/drawingml/2006/main">
            <a:off x="4514850" y="422910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Mô tả, công nghệ và hình ảnh</a:t>
            </a:r>
          </a:p>
        </p:txBody>
      </p:sp>
      <p:sp>
        <p:nvSpPr>
          <p:cNvPr id="21" name="">
            <a:extLst xmlns:a="http://schemas.openxmlformats.org/drawingml/2006/main">
              <a:ext uri="{FF2B5EF4-FFF2-40B4-BE49-F238E27FC236}">
                <a16:creationId xmlns:a16="http://schemas.microsoft.com/office/drawing/2014/main" id="{08CCE593-E5E3-4648-A640-805953335A8D}"/>
              </a:ext>
            </a:extLst>
          </p:cNvPr>
          <p:cNvSpPr>
            <a:spLocks xmlns:a="http://schemas.openxmlformats.org/drawingml/2006/main" noGrp="1"/>
          </p:cNvSpPr>
          <p:nvPr/>
        </p:nvSpPr>
        <p:spPr>
          <a:xfrm xmlns:a="http://schemas.openxmlformats.org/drawingml/2006/main">
            <a:off x="7886700" y="3486150"/>
            <a:ext cx="3162300" cy="1428750"/>
          </a:xfrm>
          <a:prstGeom xmlns:a="http://schemas.openxmlformats.org/drawingml/2006/main" prst="roundRect">
            <a:avLst>
              <a:gd name="adj" fmla="val 13333"/>
            </a:avLst>
          </a:prstGeom>
          <a:solidFill xmlns:a="http://schemas.openxmlformats.org/drawingml/2006/main">
            <a:srgbClr val="FCEACA"/>
          </a:solidFill>
          <a:ln xmlns:a="http://schemas.openxmlformats.org/drawingml/2006/main" w="9525">
            <a:solidFill>
              <a:srgbClr val="FCEACA"/>
            </a:solidFill>
            <a:prstDash val="solid"/>
          </a:ln>
        </p:spPr>
      </p:sp>
      <p:sp>
        <p:nvSpPr>
          <p:cNvPr id="22" name="">
            <a:extLst xmlns:a="http://schemas.openxmlformats.org/drawingml/2006/main">
              <a:ext uri="{FF2B5EF4-FFF2-40B4-BE49-F238E27FC236}">
                <a16:creationId xmlns:a16="http://schemas.microsoft.com/office/drawing/2014/main" id="{B4EB5E91-640F-4B2F-9480-43E7A69AA90C}"/>
              </a:ext>
            </a:extLst>
          </p:cNvPr>
          <p:cNvSpPr>
            <a:spLocks xmlns:a="http://schemas.openxmlformats.org/drawingml/2006/main" noGrp="1"/>
          </p:cNvSpPr>
          <p:nvPr/>
        </p:nvSpPr>
        <p:spPr>
          <a:xfrm xmlns:a="http://schemas.openxmlformats.org/drawingml/2006/main">
            <a:off x="8115300" y="36957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0A202"/>
                </a:solidFill>
              </a:defRPr>
            </a:pPr>
            <a:r>
              <a:rPr sz="1575" b="1">
                <a:solidFill>
                  <a:srgbClr val="F0A202"/>
                </a:solidFill>
              </a:rPr>
              <a:t>membership_application</a:t>
            </a:r>
          </a:p>
        </p:txBody>
      </p:sp>
      <p:sp>
        <p:nvSpPr>
          <p:cNvPr id="23" name="">
            <a:extLst xmlns:a="http://schemas.openxmlformats.org/drawingml/2006/main">
              <a:ext uri="{FF2B5EF4-FFF2-40B4-BE49-F238E27FC236}">
                <a16:creationId xmlns:a16="http://schemas.microsoft.com/office/drawing/2014/main" id="{DC364372-CB1B-43F9-95D0-BCBCD709BD44}"/>
              </a:ext>
            </a:extLst>
          </p:cNvPr>
          <p:cNvSpPr>
            <a:spLocks xmlns:a="http://schemas.openxmlformats.org/drawingml/2006/main" noGrp="1"/>
          </p:cNvSpPr>
          <p:nvPr/>
        </p:nvSpPr>
        <p:spPr>
          <a:xfrm xmlns:a="http://schemas.openxmlformats.org/drawingml/2006/main">
            <a:off x="8115300" y="4229100"/>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Đơn gia nhập và trạng thái xử lý</a:t>
            </a:r>
          </a:p>
        </p:txBody>
      </p:sp>
      <p:sp>
        <p:nvSpPr>
          <p:cNvPr id="24" name="">
            <a:extLst xmlns:a="http://schemas.openxmlformats.org/drawingml/2006/main">
              <a:ext uri="{FF2B5EF4-FFF2-40B4-BE49-F238E27FC236}">
                <a16:creationId xmlns:a16="http://schemas.microsoft.com/office/drawing/2014/main" id="{8C1A04FC-4243-4E48-8C73-5E84F7628839}"/>
              </a:ext>
            </a:extLst>
          </p:cNvPr>
          <p:cNvSpPr>
            <a:spLocks xmlns:a="http://schemas.openxmlformats.org/drawingml/2006/main" noGrp="1"/>
          </p:cNvSpPr>
          <p:nvPr/>
        </p:nvSpPr>
        <p:spPr>
          <a:xfrm xmlns:a="http://schemas.openxmlformats.org/drawingml/2006/main">
            <a:off x="685800" y="53911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841F11"/>
                </a:solidFill>
              </a:defRPr>
            </a:pPr>
            <a:r>
              <a:rPr sz="1350" b="1">
                <a:solidFill>
                  <a:srgbClr val="841F11"/>
                </a:solidFill>
              </a:rPr>
              <a:t>ORM/migration vẫn cần chốt giữa Prisma và Drizzle trước khi BE-1 triển khai.</a:t>
            </a:r>
          </a:p>
        </p:txBody>
      </p:sp>
    </p:spTree>
    <p:extLst>
      <p:ext uri="{BB962C8B-B14F-4D97-AF65-F5344CB8AC3E}">
        <p14:creationId xmlns:p14="http://schemas.microsoft.com/office/powerpoint/2010/main" val="1056901670"/>
      </p:ext>
    </p:extLst>
  </p:cSld>
</p:sld>
</file>

<file path=ppt/slides/slide1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3E2183E-3224-49BE-92D7-B9EB29164B48}"/>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0583F3C3-99E5-430F-8B6E-522B74C98865}"/>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Zod validate config và dữ liệu đầu vào</a:t>
            </a:r>
          </a:p>
        </p:txBody>
      </p:sp>
      <p:sp>
        <p:nvSpPr>
          <p:cNvPr id="3" name="">
            <a:extLst xmlns:a="http://schemas.openxmlformats.org/drawingml/2006/main">
              <a:ext uri="{FF2B5EF4-FFF2-40B4-BE49-F238E27FC236}">
                <a16:creationId xmlns:a16="http://schemas.microsoft.com/office/drawing/2014/main" id="{36330640-0408-417E-A1B3-9B9F2BB06EBF}"/>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02FA9BD4-4D9C-4A20-ADA3-7882CAB5A7AF}"/>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90FF6F04-58F7-4D69-BE5C-80F07FE2523A}"/>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16</a:t>
            </a:r>
          </a:p>
        </p:txBody>
      </p:sp>
      <p:sp>
        <p:nvSpPr>
          <p:cNvPr id="6" name="">
            <a:extLst xmlns:a="http://schemas.openxmlformats.org/drawingml/2006/main">
              <a:ext uri="{FF2B5EF4-FFF2-40B4-BE49-F238E27FC236}">
                <a16:creationId xmlns:a16="http://schemas.microsoft.com/office/drawing/2014/main" id="{8ECED61C-B882-4733-8D7B-FD26F919FA4C}"/>
              </a:ext>
            </a:extLst>
          </p:cNvPr>
          <p:cNvSpPr>
            <a:spLocks xmlns:a="http://schemas.openxmlformats.org/drawingml/2006/main" noGrp="1"/>
          </p:cNvSpPr>
          <p:nvPr/>
        </p:nvSpPr>
        <p:spPr>
          <a:xfrm xmlns:a="http://schemas.openxmlformats.org/drawingml/2006/main">
            <a:off x="685800" y="1657350"/>
            <a:ext cx="6191250" cy="3543300"/>
          </a:xfrm>
          <a:prstGeom xmlns:a="http://schemas.openxmlformats.org/drawingml/2006/main" prst="roundRect">
            <a:avLst>
              <a:gd name="adj" fmla="val 4839"/>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F76222D8-9A26-4C97-8E45-4A6E5625DF1D}"/>
              </a:ext>
            </a:extLst>
          </p:cNvPr>
          <p:cNvSpPr>
            <a:spLocks xmlns:a="http://schemas.openxmlformats.org/drawingml/2006/main" noGrp="1"/>
          </p:cNvSpPr>
          <p:nvPr/>
        </p:nvSpPr>
        <p:spPr>
          <a:xfrm xmlns:a="http://schemas.openxmlformats.org/drawingml/2006/main">
            <a:off x="895350" y="1809750"/>
            <a:ext cx="577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RÚT GỌN TỪ config.ts</a:t>
            </a:r>
          </a:p>
        </p:txBody>
      </p:sp>
      <p:sp>
        <p:nvSpPr>
          <p:cNvPr id="8" name="">
            <a:extLst xmlns:a="http://schemas.openxmlformats.org/drawingml/2006/main">
              <a:ext uri="{FF2B5EF4-FFF2-40B4-BE49-F238E27FC236}">
                <a16:creationId xmlns:a16="http://schemas.microsoft.com/office/drawing/2014/main" id="{E5C5694F-17B7-494D-A670-131DF975E41A}"/>
              </a:ext>
            </a:extLst>
          </p:cNvPr>
          <p:cNvSpPr>
            <a:spLocks xmlns:a="http://schemas.openxmlformats.org/drawingml/2006/main" noGrp="1"/>
          </p:cNvSpPr>
          <p:nvPr/>
        </p:nvSpPr>
        <p:spPr>
          <a:xfrm xmlns:a="http://schemas.openxmlformats.org/drawingml/2006/main">
            <a:off x="895350" y="2095500"/>
            <a:ext cx="57721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const environmentSchema = z.object({</a:t>
            </a:r>
          </a:p>
          <a:p xmlns:a="http://schemas.openxmlformats.org/drawingml/2006/main">
            <a:pPr algn="l">
              <a:defRPr sz="1350" b="0">
                <a:solidFill>
                  <a:srgbClr val="E8EEF7"/>
                </a:solidFill>
              </a:defRPr>
            </a:pPr>
            <a:r>
              <a:rPr sz="1350" b="0">
                <a:solidFill>
                  <a:srgbClr val="E8EEF7"/>
                </a:solidFill>
              </a:rPr>
              <a:t>  API_PORT: z.coerce.number()</a:t>
            </a:r>
          </a:p>
          <a:p xmlns:a="http://schemas.openxmlformats.org/drawingml/2006/main">
            <a:pPr algn="l">
              <a:defRPr sz="1350" b="0">
                <a:solidFill>
                  <a:srgbClr val="E8EEF7"/>
                </a:solidFill>
              </a:defRPr>
            </a:pPr>
            <a:r>
              <a:rPr sz="1350" b="0">
                <a:solidFill>
                  <a:srgbClr val="E8EEF7"/>
                </a:solidFill>
              </a:rPr>
              <a:t>    .int().positive().default(3000),</a:t>
            </a:r>
          </a:p>
          <a:p xmlns:a="http://schemas.openxmlformats.org/drawingml/2006/main">
            <a:r>
              <a:t/>
            </a:r>
          </a:p>
          <a:p xmlns:a="http://schemas.openxmlformats.org/drawingml/2006/main">
            <a:pPr algn="l">
              <a:defRPr sz="1350" b="0">
                <a:solidFill>
                  <a:srgbClr val="E8EEF7"/>
                </a:solidFill>
              </a:defRPr>
            </a:pPr>
            <a:r>
              <a:rPr sz="1350" b="0">
                <a:solidFill>
                  <a:srgbClr val="E8EEF7"/>
                </a:solidFill>
              </a:rPr>
              <a:t>  DATABASE_URL: z.string(),</a:t>
            </a:r>
          </a:p>
          <a:p xmlns:a="http://schemas.openxmlformats.org/drawingml/2006/main">
            <a:pPr algn="l">
              <a:defRPr sz="1350" b="0">
                <a:solidFill>
                  <a:srgbClr val="E8EEF7"/>
                </a:solidFill>
              </a:defRPr>
            </a:pPr>
            <a:r>
              <a:rPr sz="1350" b="0">
                <a:solidFill>
                  <a:srgbClr val="E8EEF7"/>
                </a:solidFill>
              </a:rPr>
              <a:t>})</a:t>
            </a:r>
          </a:p>
        </p:txBody>
      </p:sp>
      <p:sp>
        <p:nvSpPr>
          <p:cNvPr id="9" name="">
            <a:extLst xmlns:a="http://schemas.openxmlformats.org/drawingml/2006/main">
              <a:ext uri="{FF2B5EF4-FFF2-40B4-BE49-F238E27FC236}">
                <a16:creationId xmlns:a16="http://schemas.microsoft.com/office/drawing/2014/main" id="{ABE2BBFD-80B8-4F2D-AAE2-E89F0006DA7C}"/>
              </a:ext>
            </a:extLst>
          </p:cNvPr>
          <p:cNvSpPr>
            <a:spLocks xmlns:a="http://schemas.openxmlformats.org/drawingml/2006/main" noGrp="1"/>
          </p:cNvSpPr>
          <p:nvPr/>
        </p:nvSpPr>
        <p:spPr>
          <a:xfrm xmlns:a="http://schemas.openxmlformats.org/drawingml/2006/main">
            <a:off x="7448550" y="2019300"/>
            <a:ext cx="285750" cy="2857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0" name="">
            <a:extLst xmlns:a="http://schemas.openxmlformats.org/drawingml/2006/main">
              <a:ext uri="{FF2B5EF4-FFF2-40B4-BE49-F238E27FC236}">
                <a16:creationId xmlns:a16="http://schemas.microsoft.com/office/drawing/2014/main" id="{4526F921-D6C6-4CEE-93C6-BFCBE92141F6}"/>
              </a:ext>
            </a:extLst>
          </p:cNvPr>
          <p:cNvSpPr>
            <a:spLocks xmlns:a="http://schemas.openxmlformats.org/drawingml/2006/main" noGrp="1"/>
          </p:cNvSpPr>
          <p:nvPr/>
        </p:nvSpPr>
        <p:spPr>
          <a:xfrm xmlns:a="http://schemas.openxmlformats.org/drawingml/2006/main">
            <a:off x="7886700" y="2000250"/>
            <a:ext cx="3371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201A16"/>
                </a:solidFill>
              </a:defRPr>
            </a:pPr>
            <a:r>
              <a:rPr sz="1650" b="0">
                <a:solidFill>
                  <a:srgbClr val="201A16"/>
                </a:solidFill>
              </a:rPr>
              <a:t>Cổng API phải là số nguyên dương</a:t>
            </a:r>
          </a:p>
        </p:txBody>
      </p:sp>
      <p:sp>
        <p:nvSpPr>
          <p:cNvPr id="11" name="">
            <a:extLst xmlns:a="http://schemas.openxmlformats.org/drawingml/2006/main">
              <a:ext uri="{FF2B5EF4-FFF2-40B4-BE49-F238E27FC236}">
                <a16:creationId xmlns:a16="http://schemas.microsoft.com/office/drawing/2014/main" id="{C644B42E-D141-43A4-A101-B92918C062E6}"/>
              </a:ext>
            </a:extLst>
          </p:cNvPr>
          <p:cNvSpPr>
            <a:spLocks xmlns:a="http://schemas.openxmlformats.org/drawingml/2006/main" noGrp="1"/>
          </p:cNvSpPr>
          <p:nvPr/>
        </p:nvSpPr>
        <p:spPr>
          <a:xfrm xmlns:a="http://schemas.openxmlformats.org/drawingml/2006/main">
            <a:off x="7448550" y="2895600"/>
            <a:ext cx="285750" cy="2857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D46D240D-13B7-4F85-A6D4-3401B04A92FE}"/>
              </a:ext>
            </a:extLst>
          </p:cNvPr>
          <p:cNvSpPr>
            <a:spLocks xmlns:a="http://schemas.openxmlformats.org/drawingml/2006/main" noGrp="1"/>
          </p:cNvSpPr>
          <p:nvPr/>
        </p:nvSpPr>
        <p:spPr>
          <a:xfrm xmlns:a="http://schemas.openxmlformats.org/drawingml/2006/main">
            <a:off x="7886700" y="2876550"/>
            <a:ext cx="3371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201A16"/>
                </a:solidFill>
              </a:defRPr>
            </a:pPr>
            <a:r>
              <a:rPr sz="1650" b="0">
                <a:solidFill>
                  <a:srgbClr val="201A16"/>
                </a:solidFill>
              </a:rPr>
              <a:t>Thiếu giá trị thì dùng mặc định 3000</a:t>
            </a:r>
          </a:p>
        </p:txBody>
      </p:sp>
      <p:sp>
        <p:nvSpPr>
          <p:cNvPr id="13" name="">
            <a:extLst xmlns:a="http://schemas.openxmlformats.org/drawingml/2006/main">
              <a:ext uri="{FF2B5EF4-FFF2-40B4-BE49-F238E27FC236}">
                <a16:creationId xmlns:a16="http://schemas.microsoft.com/office/drawing/2014/main" id="{7C9F7DA9-7670-4455-8EC7-AAA349FCF978}"/>
              </a:ext>
            </a:extLst>
          </p:cNvPr>
          <p:cNvSpPr>
            <a:spLocks xmlns:a="http://schemas.openxmlformats.org/drawingml/2006/main" noGrp="1"/>
          </p:cNvSpPr>
          <p:nvPr/>
        </p:nvSpPr>
        <p:spPr>
          <a:xfrm xmlns:a="http://schemas.openxmlformats.org/drawingml/2006/main">
            <a:off x="7448550" y="3771900"/>
            <a:ext cx="285750" cy="2857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4" name="">
            <a:extLst xmlns:a="http://schemas.openxmlformats.org/drawingml/2006/main">
              <a:ext uri="{FF2B5EF4-FFF2-40B4-BE49-F238E27FC236}">
                <a16:creationId xmlns:a16="http://schemas.microsoft.com/office/drawing/2014/main" id="{D30C3277-E92A-47DF-9E8F-481E614F4B24}"/>
              </a:ext>
            </a:extLst>
          </p:cNvPr>
          <p:cNvSpPr>
            <a:spLocks xmlns:a="http://schemas.openxmlformats.org/drawingml/2006/main" noGrp="1"/>
          </p:cNvSpPr>
          <p:nvPr/>
        </p:nvSpPr>
        <p:spPr>
          <a:xfrm xmlns:a="http://schemas.openxmlformats.org/drawingml/2006/main">
            <a:off x="7886700" y="3752850"/>
            <a:ext cx="3371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201A16"/>
                </a:solidFill>
              </a:defRPr>
            </a:pPr>
            <a:r>
              <a:rPr sz="1650" b="0">
                <a:solidFill>
                  <a:srgbClr val="201A16"/>
                </a:solidFill>
              </a:rPr>
              <a:t>Cấu hình sai: dừng sớm và báo lỗi rõ</a:t>
            </a:r>
          </a:p>
        </p:txBody>
      </p:sp>
      <p:sp>
        <p:nvSpPr>
          <p:cNvPr id="15" name="">
            <a:extLst xmlns:a="http://schemas.openxmlformats.org/drawingml/2006/main">
              <a:ext uri="{FF2B5EF4-FFF2-40B4-BE49-F238E27FC236}">
                <a16:creationId xmlns:a16="http://schemas.microsoft.com/office/drawing/2014/main" id="{DCAFBB73-8315-4411-B230-3CADC5484116}"/>
              </a:ext>
            </a:extLst>
          </p:cNvPr>
          <p:cNvSpPr>
            <a:spLocks xmlns:a="http://schemas.openxmlformats.org/drawingml/2006/main" noGrp="1"/>
          </p:cNvSpPr>
          <p:nvPr/>
        </p:nvSpPr>
        <p:spPr>
          <a:xfrm xmlns:a="http://schemas.openxmlformats.org/drawingml/2006/main">
            <a:off x="7448550" y="4800600"/>
            <a:ext cx="3810000" cy="762000"/>
          </a:xfrm>
          <a:prstGeom xmlns:a="http://schemas.openxmlformats.org/drawingml/2006/main" prst="roundRect">
            <a:avLst>
              <a:gd name="adj" fmla="val 22500"/>
            </a:avLst>
          </a:prstGeom>
          <a:solidFill xmlns:a="http://schemas.openxmlformats.org/drawingml/2006/main">
            <a:srgbClr val="FCEACA"/>
          </a:solidFill>
          <a:ln xmlns:a="http://schemas.openxmlformats.org/drawingml/2006/main" w="9525">
            <a:solidFill>
              <a:srgbClr val="FCEACA"/>
            </a:solidFill>
            <a:prstDash val="solid"/>
          </a:ln>
        </p:spPr>
      </p:sp>
      <p:sp>
        <p:nvSpPr>
          <p:cNvPr id="16" name="">
            <a:extLst xmlns:a="http://schemas.openxmlformats.org/drawingml/2006/main">
              <a:ext uri="{FF2B5EF4-FFF2-40B4-BE49-F238E27FC236}">
                <a16:creationId xmlns:a16="http://schemas.microsoft.com/office/drawing/2014/main" id="{F9CB82B8-5FAF-40BE-A8D8-171D213DB3EE}"/>
              </a:ext>
            </a:extLst>
          </p:cNvPr>
          <p:cNvSpPr>
            <a:spLocks xmlns:a="http://schemas.openxmlformats.org/drawingml/2006/main" noGrp="1"/>
          </p:cNvSpPr>
          <p:nvPr/>
        </p:nvSpPr>
        <p:spPr>
          <a:xfrm xmlns:a="http://schemas.openxmlformats.org/drawingml/2006/main">
            <a:off x="7677150" y="4953000"/>
            <a:ext cx="335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B4500"/>
                </a:solidFill>
              </a:defRPr>
            </a:pPr>
            <a:r>
              <a:rPr sz="1350" b="1">
                <a:solidFill>
                  <a:srgbClr val="6B4500"/>
                </a:solidFill>
              </a:rPr>
              <a:t>Hiện dùng cho environment; sẽ tái dùng cho request schema.</a:t>
            </a:r>
          </a:p>
        </p:txBody>
      </p:sp>
    </p:spTree>
    <p:extLst>
      <p:ext uri="{BB962C8B-B14F-4D97-AF65-F5344CB8AC3E}">
        <p14:creationId xmlns:p14="http://schemas.microsoft.com/office/powerpoint/2010/main" val="888763178"/>
      </p:ext>
    </p:extLst>
  </p:cSld>
</p:sld>
</file>

<file path=ppt/slides/slide1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3288CAA-2337-4ECE-AD87-087E102BA619}"/>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132A6008-21CC-4221-A781-9EDAB908B057}"/>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Đăng nhập và phân quyền là hai bước khác nhau</a:t>
            </a:r>
          </a:p>
        </p:txBody>
      </p:sp>
      <p:sp>
        <p:nvSpPr>
          <p:cNvPr id="3" name="">
            <a:extLst xmlns:a="http://schemas.openxmlformats.org/drawingml/2006/main">
              <a:ext uri="{FF2B5EF4-FFF2-40B4-BE49-F238E27FC236}">
                <a16:creationId xmlns:a16="http://schemas.microsoft.com/office/drawing/2014/main" id="{2C550949-0004-4C21-9F36-87E3FDA007C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B79F762E-F989-4120-8C7C-4635038F4D2E}"/>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C191323C-B4BF-49DB-99EA-372D7E3D119F}"/>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17</a:t>
            </a:r>
          </a:p>
        </p:txBody>
      </p:sp>
      <p:sp>
        <p:nvSpPr>
          <p:cNvPr id="6" name="">
            <a:extLst xmlns:a="http://schemas.openxmlformats.org/drawingml/2006/main">
              <a:ext uri="{FF2B5EF4-FFF2-40B4-BE49-F238E27FC236}">
                <a16:creationId xmlns:a16="http://schemas.microsoft.com/office/drawing/2014/main" id="{D03D10A7-E792-43D7-9506-9B73ADE851B3}"/>
              </a:ext>
            </a:extLst>
          </p:cNvPr>
          <p:cNvSpPr>
            <a:spLocks xmlns:a="http://schemas.openxmlformats.org/drawingml/2006/main" noGrp="1"/>
          </p:cNvSpPr>
          <p:nvPr/>
        </p:nvSpPr>
        <p:spPr>
          <a:xfrm xmlns:a="http://schemas.openxmlformats.org/drawingml/2006/main">
            <a:off x="685800" y="1962150"/>
            <a:ext cx="2381250" cy="1866900"/>
          </a:xfrm>
          <a:prstGeom xmlns:a="http://schemas.openxmlformats.org/drawingml/2006/main" prst="roundRect">
            <a:avLst>
              <a:gd name="adj" fmla="val 10204"/>
            </a:avLst>
          </a:prstGeom>
          <a:solidFill xmlns:a="http://schemas.openxmlformats.org/drawingml/2006/main">
            <a:srgbClr val="FFFFFF"/>
          </a:solidFill>
          <a:ln xmlns:a="http://schemas.openxmlformats.org/drawingml/2006/main" w="9525">
            <a:solidFill>
              <a:srgbClr val="E7DFD5"/>
            </a:solidFill>
            <a:prstDash val="solid"/>
          </a:ln>
        </p:spPr>
      </p:sp>
      <p:sp>
        <p:nvSpPr>
          <p:cNvPr id="7" name="">
            <a:extLst xmlns:a="http://schemas.openxmlformats.org/drawingml/2006/main">
              <a:ext uri="{FF2B5EF4-FFF2-40B4-BE49-F238E27FC236}">
                <a16:creationId xmlns:a16="http://schemas.microsoft.com/office/drawing/2014/main" id="{07195A23-FEB9-45F2-A342-C69F0DAFBF72}"/>
              </a:ext>
            </a:extLst>
          </p:cNvPr>
          <p:cNvSpPr>
            <a:spLocks xmlns:a="http://schemas.openxmlformats.org/drawingml/2006/main" noGrp="1"/>
          </p:cNvSpPr>
          <p:nvPr/>
        </p:nvSpPr>
        <p:spPr>
          <a:xfrm xmlns:a="http://schemas.openxmlformats.org/drawingml/2006/main">
            <a:off x="895350" y="220980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68C9"/>
                </a:solidFill>
              </a:defRPr>
            </a:pPr>
            <a:r>
              <a:rPr sz="1650" b="1">
                <a:solidFill>
                  <a:srgbClr val="1568C9"/>
                </a:solidFill>
              </a:rPr>
              <a:t>1. Login</a:t>
            </a:r>
          </a:p>
        </p:txBody>
      </p:sp>
      <p:sp>
        <p:nvSpPr>
          <p:cNvPr id="8" name="">
            <a:extLst xmlns:a="http://schemas.openxmlformats.org/drawingml/2006/main">
              <a:ext uri="{FF2B5EF4-FFF2-40B4-BE49-F238E27FC236}">
                <a16:creationId xmlns:a16="http://schemas.microsoft.com/office/drawing/2014/main" id="{139BD3FC-9636-4A86-9FA0-52D327CE66B3}"/>
              </a:ext>
            </a:extLst>
          </p:cNvPr>
          <p:cNvSpPr>
            <a:spLocks xmlns:a="http://schemas.openxmlformats.org/drawingml/2006/main" noGrp="1"/>
          </p:cNvSpPr>
          <p:nvPr/>
        </p:nvSpPr>
        <p:spPr>
          <a:xfrm xmlns:a="http://schemas.openxmlformats.org/drawingml/2006/main">
            <a:off x="895350" y="2781300"/>
            <a:ext cx="1962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Email/mật khẩu gửi tới POST /auth/login</a:t>
            </a:r>
          </a:p>
        </p:txBody>
      </p:sp>
      <p:sp>
        <p:nvSpPr>
          <p:cNvPr id="9" name="">
            <a:extLst xmlns:a="http://schemas.openxmlformats.org/drawingml/2006/main">
              <a:ext uri="{FF2B5EF4-FFF2-40B4-BE49-F238E27FC236}">
                <a16:creationId xmlns:a16="http://schemas.microsoft.com/office/drawing/2014/main" id="{C69FCCE9-0C56-446F-9453-007DE6D89D4F}"/>
              </a:ext>
            </a:extLst>
          </p:cNvPr>
          <p:cNvSpPr>
            <a:spLocks xmlns:a="http://schemas.openxmlformats.org/drawingml/2006/main" noGrp="1"/>
          </p:cNvSpPr>
          <p:nvPr/>
        </p:nvSpPr>
        <p:spPr>
          <a:xfrm xmlns:a="http://schemas.openxmlformats.org/drawingml/2006/main">
            <a:off x="3486150" y="1962150"/>
            <a:ext cx="2381250" cy="1866900"/>
          </a:xfrm>
          <a:prstGeom xmlns:a="http://schemas.openxmlformats.org/drawingml/2006/main" prst="roundRect">
            <a:avLst>
              <a:gd name="adj" fmla="val 10204"/>
            </a:avLst>
          </a:prstGeom>
          <a:solidFill xmlns:a="http://schemas.openxmlformats.org/drawingml/2006/main">
            <a:srgbClr val="FFFFFF"/>
          </a:solidFill>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58C29D63-1852-4808-93EF-C2637ADAF4DC}"/>
              </a:ext>
            </a:extLst>
          </p:cNvPr>
          <p:cNvSpPr>
            <a:spLocks xmlns:a="http://schemas.openxmlformats.org/drawingml/2006/main" noGrp="1"/>
          </p:cNvSpPr>
          <p:nvPr/>
        </p:nvSpPr>
        <p:spPr>
          <a:xfrm xmlns:a="http://schemas.openxmlformats.org/drawingml/2006/main">
            <a:off x="3695700" y="220980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C23B22"/>
                </a:solidFill>
              </a:defRPr>
            </a:pPr>
            <a:r>
              <a:rPr sz="1650" b="1">
                <a:solidFill>
                  <a:srgbClr val="C23B22"/>
                </a:solidFill>
              </a:rPr>
              <a:t>2. Xác thực</a:t>
            </a:r>
          </a:p>
        </p:txBody>
      </p:sp>
      <p:sp>
        <p:nvSpPr>
          <p:cNvPr id="11" name="">
            <a:extLst xmlns:a="http://schemas.openxmlformats.org/drawingml/2006/main">
              <a:ext uri="{FF2B5EF4-FFF2-40B4-BE49-F238E27FC236}">
                <a16:creationId xmlns:a16="http://schemas.microsoft.com/office/drawing/2014/main" id="{E411A003-23DC-466B-8E6A-179049E3BD89}"/>
              </a:ext>
            </a:extLst>
          </p:cNvPr>
          <p:cNvSpPr>
            <a:spLocks xmlns:a="http://schemas.openxmlformats.org/drawingml/2006/main" noGrp="1"/>
          </p:cNvSpPr>
          <p:nvPr/>
        </p:nvSpPr>
        <p:spPr>
          <a:xfrm xmlns:a="http://schemas.openxmlformats.org/drawingml/2006/main">
            <a:off x="3695700" y="2781300"/>
            <a:ext cx="1962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Verify mật khẩu đã hash; tạo session hoặc JWT</a:t>
            </a:r>
          </a:p>
        </p:txBody>
      </p:sp>
      <p:sp>
        <p:nvSpPr>
          <p:cNvPr id="12" name="">
            <a:extLst xmlns:a="http://schemas.openxmlformats.org/drawingml/2006/main">
              <a:ext uri="{FF2B5EF4-FFF2-40B4-BE49-F238E27FC236}">
                <a16:creationId xmlns:a16="http://schemas.microsoft.com/office/drawing/2014/main" id="{F39867A1-3E20-487F-B9E8-066716DF2964}"/>
              </a:ext>
            </a:extLst>
          </p:cNvPr>
          <p:cNvSpPr>
            <a:spLocks xmlns:a="http://schemas.openxmlformats.org/drawingml/2006/main" noGrp="1"/>
          </p:cNvSpPr>
          <p:nvPr/>
        </p:nvSpPr>
        <p:spPr>
          <a:xfrm xmlns:a="http://schemas.openxmlformats.org/drawingml/2006/main">
            <a:off x="6286500" y="1962150"/>
            <a:ext cx="2381250" cy="1866900"/>
          </a:xfrm>
          <a:prstGeom xmlns:a="http://schemas.openxmlformats.org/drawingml/2006/main" prst="roundRect">
            <a:avLst>
              <a:gd name="adj" fmla="val 10204"/>
            </a:avLst>
          </a:prstGeom>
          <a:solidFill xmlns:a="http://schemas.openxmlformats.org/drawingml/2006/main">
            <a:srgbClr val="FFFFFF"/>
          </a:solidFill>
          <a:ln xmlns:a="http://schemas.openxmlformats.org/drawingml/2006/main" w="9525">
            <a:solidFill>
              <a:srgbClr val="E7DFD5"/>
            </a:solidFill>
            <a:prstDash val="solid"/>
          </a:ln>
        </p:spPr>
      </p:sp>
      <p:sp>
        <p:nvSpPr>
          <p:cNvPr id="13" name="">
            <a:extLst xmlns:a="http://schemas.openxmlformats.org/drawingml/2006/main">
              <a:ext uri="{FF2B5EF4-FFF2-40B4-BE49-F238E27FC236}">
                <a16:creationId xmlns:a16="http://schemas.microsoft.com/office/drawing/2014/main" id="{3F572DD0-A836-4DF5-ACDD-E30719CAA89F}"/>
              </a:ext>
            </a:extLst>
          </p:cNvPr>
          <p:cNvSpPr>
            <a:spLocks xmlns:a="http://schemas.openxmlformats.org/drawingml/2006/main" noGrp="1"/>
          </p:cNvSpPr>
          <p:nvPr/>
        </p:nvSpPr>
        <p:spPr>
          <a:xfrm xmlns:a="http://schemas.openxmlformats.org/drawingml/2006/main">
            <a:off x="6496050" y="220980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0A202"/>
                </a:solidFill>
              </a:defRPr>
            </a:pPr>
            <a:r>
              <a:rPr sz="1650" b="1">
                <a:solidFill>
                  <a:srgbClr val="F0A202"/>
                </a:solidFill>
              </a:rPr>
              <a:t>3. Nhận diện</a:t>
            </a:r>
          </a:p>
        </p:txBody>
      </p:sp>
      <p:sp>
        <p:nvSpPr>
          <p:cNvPr id="14" name="">
            <a:extLst xmlns:a="http://schemas.openxmlformats.org/drawingml/2006/main">
              <a:ext uri="{FF2B5EF4-FFF2-40B4-BE49-F238E27FC236}">
                <a16:creationId xmlns:a16="http://schemas.microsoft.com/office/drawing/2014/main" id="{E3F9E274-8368-4E84-8F3D-3821D4A9488A}"/>
              </a:ext>
            </a:extLst>
          </p:cNvPr>
          <p:cNvSpPr>
            <a:spLocks xmlns:a="http://schemas.openxmlformats.org/drawingml/2006/main" noGrp="1"/>
          </p:cNvSpPr>
          <p:nvPr/>
        </p:nvSpPr>
        <p:spPr>
          <a:xfrm xmlns:a="http://schemas.openxmlformats.org/drawingml/2006/main">
            <a:off x="6496050" y="2781300"/>
            <a:ext cx="1962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/auth/me trả user và vai trò hiện tại</a:t>
            </a:r>
          </a:p>
        </p:txBody>
      </p:sp>
      <p:sp>
        <p:nvSpPr>
          <p:cNvPr id="15" name="">
            <a:extLst xmlns:a="http://schemas.openxmlformats.org/drawingml/2006/main">
              <a:ext uri="{FF2B5EF4-FFF2-40B4-BE49-F238E27FC236}">
                <a16:creationId xmlns:a16="http://schemas.microsoft.com/office/drawing/2014/main" id="{2C5A56C1-7615-4943-A4CE-DCE42A0E142D}"/>
              </a:ext>
            </a:extLst>
          </p:cNvPr>
          <p:cNvSpPr>
            <a:spLocks xmlns:a="http://schemas.openxmlformats.org/drawingml/2006/main" noGrp="1"/>
          </p:cNvSpPr>
          <p:nvPr/>
        </p:nvSpPr>
        <p:spPr>
          <a:xfrm xmlns:a="http://schemas.openxmlformats.org/drawingml/2006/main">
            <a:off x="9086850" y="1962150"/>
            <a:ext cx="2381250" cy="1866900"/>
          </a:xfrm>
          <a:prstGeom xmlns:a="http://schemas.openxmlformats.org/drawingml/2006/main" prst="roundRect">
            <a:avLst>
              <a:gd name="adj" fmla="val 10204"/>
            </a:avLst>
          </a:prstGeom>
          <a:solidFill xmlns:a="http://schemas.openxmlformats.org/drawingml/2006/main">
            <a:srgbClr val="FFFFFF"/>
          </a:solidFill>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0FBBDFDD-FA6E-4B71-89E6-A9F2E16CB201}"/>
              </a:ext>
            </a:extLst>
          </p:cNvPr>
          <p:cNvSpPr>
            <a:spLocks xmlns:a="http://schemas.openxmlformats.org/drawingml/2006/main" noGrp="1"/>
          </p:cNvSpPr>
          <p:nvPr/>
        </p:nvSpPr>
        <p:spPr>
          <a:xfrm xmlns:a="http://schemas.openxmlformats.org/drawingml/2006/main">
            <a:off x="9296400" y="220980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0E9F6E"/>
                </a:solidFill>
              </a:defRPr>
            </a:pPr>
            <a:r>
              <a:rPr sz="1650" b="1">
                <a:solidFill>
                  <a:srgbClr val="0E9F6E"/>
                </a:solidFill>
              </a:rPr>
              <a:t>4. Kiểm quyền</a:t>
            </a:r>
          </a:p>
        </p:txBody>
      </p:sp>
      <p:sp>
        <p:nvSpPr>
          <p:cNvPr id="17" name="">
            <a:extLst xmlns:a="http://schemas.openxmlformats.org/drawingml/2006/main">
              <a:ext uri="{FF2B5EF4-FFF2-40B4-BE49-F238E27FC236}">
                <a16:creationId xmlns:a16="http://schemas.microsoft.com/office/drawing/2014/main" id="{C3F0CC7D-B426-4E41-A135-DE806D8B866E}"/>
              </a:ext>
            </a:extLst>
          </p:cNvPr>
          <p:cNvSpPr>
            <a:spLocks xmlns:a="http://schemas.openxmlformats.org/drawingml/2006/main" noGrp="1"/>
          </p:cNvSpPr>
          <p:nvPr/>
        </p:nvSpPr>
        <p:spPr>
          <a:xfrm xmlns:a="http://schemas.openxmlformats.org/drawingml/2006/main">
            <a:off x="9296400" y="2781300"/>
            <a:ext cx="1962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B5F55"/>
                </a:solidFill>
              </a:defRPr>
            </a:pPr>
            <a:r>
              <a:rPr sz="1350" b="0">
                <a:solidFill>
                  <a:srgbClr val="6B5F55"/>
                </a:solidFill>
              </a:rPr>
              <a:t>Middleware cho phép hoặc trả 403</a:t>
            </a:r>
          </a:p>
        </p:txBody>
      </p:sp>
      <p:cxnSp>
        <p:nvCxnSpPr>
          <p:cNvPr id="40" name=""/>
          <p:cNvCxnSpPr>
            <a:stCxn xmlns:a="http://schemas.openxmlformats.org/drawingml/2006/main" id="6" idx="3"/>
            <a:endCxn xmlns:a="http://schemas.openxmlformats.org/drawingml/2006/main" id="9" idx="1"/>
          </p:cNvCxnSpPr>
          <p:nvPr/>
        </p:nvCxnSpPr>
        <p:spPr>
          <a:xfrm xmlns:a="http://schemas.openxmlformats.org/drawingml/2006/main">
            <a:off x="3067050" y="2895600"/>
            <a:ext cx="4191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1" name=""/>
          <p:cNvCxnSpPr>
            <a:stCxn xmlns:a="http://schemas.openxmlformats.org/drawingml/2006/main" id="9" idx="3"/>
            <a:endCxn xmlns:a="http://schemas.openxmlformats.org/drawingml/2006/main" id="12" idx="1"/>
          </p:cNvCxnSpPr>
          <p:nvPr/>
        </p:nvCxnSpPr>
        <p:spPr>
          <a:xfrm xmlns:a="http://schemas.openxmlformats.org/drawingml/2006/main">
            <a:off x="5867400" y="2895600"/>
            <a:ext cx="4191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2" name=""/>
          <p:cNvCxnSpPr>
            <a:stCxn xmlns:a="http://schemas.openxmlformats.org/drawingml/2006/main" id="12" idx="3"/>
            <a:endCxn xmlns:a="http://schemas.openxmlformats.org/drawingml/2006/main" id="15" idx="1"/>
          </p:cNvCxnSpPr>
          <p:nvPr/>
        </p:nvCxnSpPr>
        <p:spPr>
          <a:xfrm xmlns:a="http://schemas.openxmlformats.org/drawingml/2006/main">
            <a:off x="8667750" y="2895600"/>
            <a:ext cx="4191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sp>
        <p:nvSpPr>
          <p:cNvPr id="21" name="">
            <a:extLst xmlns:a="http://schemas.openxmlformats.org/drawingml/2006/main">
              <a:ext uri="{FF2B5EF4-FFF2-40B4-BE49-F238E27FC236}">
                <a16:creationId xmlns:a16="http://schemas.microsoft.com/office/drawing/2014/main" id="{048E9D4B-EFD8-41DC-82B4-8B791DCCD1D8}"/>
              </a:ext>
            </a:extLst>
          </p:cNvPr>
          <p:cNvSpPr>
            <a:spLocks xmlns:a="http://schemas.openxmlformats.org/drawingml/2006/main" noGrp="1"/>
          </p:cNvSpPr>
          <p:nvPr/>
        </p:nvSpPr>
        <p:spPr>
          <a:xfrm xmlns:a="http://schemas.openxmlformats.org/drawingml/2006/main">
            <a:off x="685800" y="4400550"/>
            <a:ext cx="10782300" cy="1066800"/>
          </a:xfrm>
          <a:prstGeom xmlns:a="http://schemas.openxmlformats.org/drawingml/2006/main" prst="roundRect">
            <a:avLst>
              <a:gd name="adj" fmla="val 16071"/>
            </a:avLst>
          </a:prstGeom>
          <a:solidFill xmlns:a="http://schemas.openxmlformats.org/drawingml/2006/main">
            <a:srgbClr val="081A33"/>
          </a:solidFill>
          <a:ln xmlns:a="http://schemas.openxmlformats.org/drawingml/2006/main" w="9525">
            <a:solidFill>
              <a:srgbClr val="081A33"/>
            </a:solidFill>
            <a:prstDash val="solid"/>
          </a:ln>
        </p:spPr>
      </p:sp>
      <p:sp>
        <p:nvSpPr>
          <p:cNvPr id="22" name="">
            <a:extLst xmlns:a="http://schemas.openxmlformats.org/drawingml/2006/main">
              <a:ext uri="{FF2B5EF4-FFF2-40B4-BE49-F238E27FC236}">
                <a16:creationId xmlns:a16="http://schemas.microsoft.com/office/drawing/2014/main" id="{27B66724-B135-4F1D-9D39-17B38B5C751F}"/>
              </a:ext>
            </a:extLst>
          </p:cNvPr>
          <p:cNvSpPr>
            <a:spLocks xmlns:a="http://schemas.openxmlformats.org/drawingml/2006/main" noGrp="1"/>
          </p:cNvSpPr>
          <p:nvPr/>
        </p:nvSpPr>
        <p:spPr>
          <a:xfrm xmlns:a="http://schemas.openxmlformats.org/drawingml/2006/main">
            <a:off x="914400" y="4572000"/>
            <a:ext cx="10325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Authentication: bạn là ai?     •     Authorization/RBAC: bạn được làm gì?</a:t>
            </a:r>
          </a:p>
        </p:txBody>
      </p:sp>
    </p:spTree>
    <p:extLst>
      <p:ext uri="{BB962C8B-B14F-4D97-AF65-F5344CB8AC3E}">
        <p14:creationId xmlns:p14="http://schemas.microsoft.com/office/powerpoint/2010/main" val="750397975"/>
      </p:ext>
    </p:extLst>
  </p:cSld>
</p:sld>
</file>

<file path=ppt/slides/slide1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3189C7-E1BE-4088-B3F8-5390C3A442CE}"/>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CDF5E8AB-789F-4617-88CE-BC70C491989F}"/>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PostgreSQL, MinIO và Mailpit có ba mục đích riêng</a:t>
            </a:r>
          </a:p>
        </p:txBody>
      </p:sp>
      <p:sp>
        <p:nvSpPr>
          <p:cNvPr id="3" name="">
            <a:extLst xmlns:a="http://schemas.openxmlformats.org/drawingml/2006/main">
              <a:ext uri="{FF2B5EF4-FFF2-40B4-BE49-F238E27FC236}">
                <a16:creationId xmlns:a16="http://schemas.microsoft.com/office/drawing/2014/main" id="{28D2713E-8ECF-4CEA-896C-4B37AE25AB4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BBD7BAEC-70A0-48F9-96B0-6F7A13E96955}"/>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E69C46EA-5057-4554-87A8-5CCAFC9BF39B}"/>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18</a:t>
            </a:r>
          </a:p>
        </p:txBody>
      </p:sp>
      <p:sp>
        <p:nvSpPr>
          <p:cNvPr id="6" name="">
            <a:extLst xmlns:a="http://schemas.openxmlformats.org/drawingml/2006/main">
              <a:ext uri="{FF2B5EF4-FFF2-40B4-BE49-F238E27FC236}">
                <a16:creationId xmlns:a16="http://schemas.microsoft.com/office/drawing/2014/main" id="{41FDED56-D1C4-45A9-9CC2-C1DA09B7A8FA}"/>
              </a:ext>
            </a:extLst>
          </p:cNvPr>
          <p:cNvSpPr>
            <a:spLocks xmlns:a="http://schemas.openxmlformats.org/drawingml/2006/main" noGrp="1"/>
          </p:cNvSpPr>
          <p:nvPr/>
        </p:nvSpPr>
        <p:spPr>
          <a:xfrm xmlns:a="http://schemas.openxmlformats.org/drawingml/2006/main">
            <a:off x="685800" y="1790700"/>
            <a:ext cx="3162300" cy="3429000"/>
          </a:xfrm>
          <a:prstGeom xmlns:a="http://schemas.openxmlformats.org/drawingml/2006/main" prst="roundRect">
            <a:avLst>
              <a:gd name="adj" fmla="val 7229"/>
            </a:avLst>
          </a:prstGeom>
          <a:solidFill xmlns:a="http://schemas.openxmlformats.org/drawingml/2006/main">
            <a:srgbClr val="DCEAFB"/>
          </a:solidFill>
          <a:ln xmlns:a="http://schemas.openxmlformats.org/drawingml/2006/main" w="9525">
            <a:solidFill>
              <a:srgbClr val="DCEAFB"/>
            </a:solidFill>
            <a:prstDash val="solid"/>
          </a:ln>
        </p:spPr>
      </p:sp>
      <p:sp>
        <p:nvSpPr>
          <p:cNvPr id="7" name="">
            <a:extLst xmlns:a="http://schemas.openxmlformats.org/drawingml/2006/main">
              <a:ext uri="{FF2B5EF4-FFF2-40B4-BE49-F238E27FC236}">
                <a16:creationId xmlns:a16="http://schemas.microsoft.com/office/drawing/2014/main" id="{8ED34ADE-4E56-4AFE-8112-6F12A6DDCFAD}"/>
              </a:ext>
            </a:extLst>
          </p:cNvPr>
          <p:cNvSpPr>
            <a:spLocks xmlns:a="http://schemas.openxmlformats.org/drawingml/2006/main" noGrp="1"/>
          </p:cNvSpPr>
          <p:nvPr/>
        </p:nvSpPr>
        <p:spPr>
          <a:xfrm xmlns:a="http://schemas.openxmlformats.org/drawingml/2006/main">
            <a:off x="952500" y="2057400"/>
            <a:ext cx="685800" cy="6858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DB</a:t>
            </a:r>
          </a:p>
        </p:txBody>
      </p:sp>
      <p:sp>
        <p:nvSpPr>
          <p:cNvPr id="8" name="">
            <a:extLst xmlns:a="http://schemas.openxmlformats.org/drawingml/2006/main">
              <a:ext uri="{FF2B5EF4-FFF2-40B4-BE49-F238E27FC236}">
                <a16:creationId xmlns:a16="http://schemas.microsoft.com/office/drawing/2014/main" id="{E7001A61-82FE-4A68-8AC3-E18C7BA751DA}"/>
              </a:ext>
            </a:extLst>
          </p:cNvPr>
          <p:cNvSpPr>
            <a:spLocks xmlns:a="http://schemas.openxmlformats.org/drawingml/2006/main" noGrp="1"/>
          </p:cNvSpPr>
          <p:nvPr/>
        </p:nvSpPr>
        <p:spPr>
          <a:xfrm xmlns:a="http://schemas.openxmlformats.org/drawingml/2006/main">
            <a:off x="952500" y="297180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01A16"/>
                </a:solidFill>
              </a:defRPr>
            </a:pPr>
            <a:r>
              <a:rPr sz="2175" b="1">
                <a:solidFill>
                  <a:srgbClr val="201A16"/>
                </a:solidFill>
              </a:rPr>
              <a:t>PostgreSQL</a:t>
            </a:r>
          </a:p>
        </p:txBody>
      </p:sp>
      <p:sp>
        <p:nvSpPr>
          <p:cNvPr id="9" name="">
            <a:extLst xmlns:a="http://schemas.openxmlformats.org/drawingml/2006/main">
              <a:ext uri="{FF2B5EF4-FFF2-40B4-BE49-F238E27FC236}">
                <a16:creationId xmlns:a16="http://schemas.microsoft.com/office/drawing/2014/main" id="{5B8C3691-41AD-4356-BD95-47E7E660AFC3}"/>
              </a:ext>
            </a:extLst>
          </p:cNvPr>
          <p:cNvSpPr>
            <a:spLocks xmlns:a="http://schemas.openxmlformats.org/drawingml/2006/main" noGrp="1"/>
          </p:cNvSpPr>
          <p:nvPr/>
        </p:nvSpPr>
        <p:spPr>
          <a:xfrm xmlns:a="http://schemas.openxmlformats.org/drawingml/2006/main">
            <a:off x="952500" y="36004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User, vai trò, tin tức, sự kiện, hồ sơ</a:t>
            </a:r>
          </a:p>
        </p:txBody>
      </p:sp>
      <p:sp>
        <p:nvSpPr>
          <p:cNvPr id="10" name="">
            <a:extLst xmlns:a="http://schemas.openxmlformats.org/drawingml/2006/main">
              <a:ext uri="{FF2B5EF4-FFF2-40B4-BE49-F238E27FC236}">
                <a16:creationId xmlns:a16="http://schemas.microsoft.com/office/drawing/2014/main" id="{C81B11FC-BBCC-4E6D-9555-E6A518DF18DB}"/>
              </a:ext>
            </a:extLst>
          </p:cNvPr>
          <p:cNvSpPr>
            <a:spLocks xmlns:a="http://schemas.openxmlformats.org/drawingml/2006/main" noGrp="1"/>
          </p:cNvSpPr>
          <p:nvPr/>
        </p:nvSpPr>
        <p:spPr>
          <a:xfrm xmlns:a="http://schemas.openxmlformats.org/drawingml/2006/main">
            <a:off x="4286250" y="1790700"/>
            <a:ext cx="3162300" cy="3429000"/>
          </a:xfrm>
          <a:prstGeom xmlns:a="http://schemas.openxmlformats.org/drawingml/2006/main" prst="roundRect">
            <a:avLst>
              <a:gd name="adj" fmla="val 7229"/>
            </a:avLst>
          </a:prstGeom>
          <a:solidFill xmlns:a="http://schemas.openxmlformats.org/drawingml/2006/main">
            <a:srgbClr val="F6DED6"/>
          </a:solidFill>
          <a:ln xmlns:a="http://schemas.openxmlformats.org/drawingml/2006/main" w="9525">
            <a:solidFill>
              <a:srgbClr val="F6DED6"/>
            </a:solidFill>
            <a:prstDash val="solid"/>
          </a:ln>
        </p:spPr>
      </p:sp>
      <p:sp>
        <p:nvSpPr>
          <p:cNvPr id="11" name="">
            <a:extLst xmlns:a="http://schemas.openxmlformats.org/drawingml/2006/main">
              <a:ext uri="{FF2B5EF4-FFF2-40B4-BE49-F238E27FC236}">
                <a16:creationId xmlns:a16="http://schemas.microsoft.com/office/drawing/2014/main" id="{3B9DDE66-07B7-4976-9DB2-9CE260A4C984}"/>
              </a:ext>
            </a:extLst>
          </p:cNvPr>
          <p:cNvSpPr>
            <a:spLocks xmlns:a="http://schemas.openxmlformats.org/drawingml/2006/main" noGrp="1"/>
          </p:cNvSpPr>
          <p:nvPr/>
        </p:nvSpPr>
        <p:spPr>
          <a:xfrm xmlns:a="http://schemas.openxmlformats.org/drawingml/2006/main">
            <a:off x="4552950" y="2057400"/>
            <a:ext cx="685800" cy="6858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FILE</a:t>
            </a:r>
          </a:p>
        </p:txBody>
      </p:sp>
      <p:sp>
        <p:nvSpPr>
          <p:cNvPr id="12" name="">
            <a:extLst xmlns:a="http://schemas.openxmlformats.org/drawingml/2006/main">
              <a:ext uri="{FF2B5EF4-FFF2-40B4-BE49-F238E27FC236}">
                <a16:creationId xmlns:a16="http://schemas.microsoft.com/office/drawing/2014/main" id="{C53C1645-F897-4C60-8F65-FF09D86F0AF1}"/>
              </a:ext>
            </a:extLst>
          </p:cNvPr>
          <p:cNvSpPr>
            <a:spLocks xmlns:a="http://schemas.openxmlformats.org/drawingml/2006/main" noGrp="1"/>
          </p:cNvSpPr>
          <p:nvPr/>
        </p:nvSpPr>
        <p:spPr>
          <a:xfrm xmlns:a="http://schemas.openxmlformats.org/drawingml/2006/main">
            <a:off x="4552950" y="297180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01A16"/>
                </a:solidFill>
              </a:defRPr>
            </a:pPr>
            <a:r>
              <a:rPr sz="2175" b="1">
                <a:solidFill>
                  <a:srgbClr val="201A16"/>
                </a:solidFill>
              </a:rPr>
              <a:t>MinIO</a:t>
            </a:r>
          </a:p>
        </p:txBody>
      </p:sp>
      <p:sp>
        <p:nvSpPr>
          <p:cNvPr id="13" name="">
            <a:extLst xmlns:a="http://schemas.openxmlformats.org/drawingml/2006/main">
              <a:ext uri="{FF2B5EF4-FFF2-40B4-BE49-F238E27FC236}">
                <a16:creationId xmlns:a16="http://schemas.microsoft.com/office/drawing/2014/main" id="{A5E6007D-D333-4BF9-9CE3-C43D5AB49A49}"/>
              </a:ext>
            </a:extLst>
          </p:cNvPr>
          <p:cNvSpPr>
            <a:spLocks xmlns:a="http://schemas.openxmlformats.org/drawingml/2006/main" noGrp="1"/>
          </p:cNvSpPr>
          <p:nvPr/>
        </p:nvSpPr>
        <p:spPr>
          <a:xfrm xmlns:a="http://schemas.openxmlformats.org/drawingml/2006/main">
            <a:off x="4552950" y="36004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Ảnh bài viết, ảnh dự án và tệp upload</a:t>
            </a:r>
          </a:p>
        </p:txBody>
      </p:sp>
      <p:sp>
        <p:nvSpPr>
          <p:cNvPr id="14" name="">
            <a:extLst xmlns:a="http://schemas.openxmlformats.org/drawingml/2006/main">
              <a:ext uri="{FF2B5EF4-FFF2-40B4-BE49-F238E27FC236}">
                <a16:creationId xmlns:a16="http://schemas.microsoft.com/office/drawing/2014/main" id="{30A85669-0B91-4B91-B2C8-E00918001469}"/>
              </a:ext>
            </a:extLst>
          </p:cNvPr>
          <p:cNvSpPr>
            <a:spLocks xmlns:a="http://schemas.openxmlformats.org/drawingml/2006/main" noGrp="1"/>
          </p:cNvSpPr>
          <p:nvPr/>
        </p:nvSpPr>
        <p:spPr>
          <a:xfrm xmlns:a="http://schemas.openxmlformats.org/drawingml/2006/main">
            <a:off x="7886700" y="1790700"/>
            <a:ext cx="3162300" cy="3429000"/>
          </a:xfrm>
          <a:prstGeom xmlns:a="http://schemas.openxmlformats.org/drawingml/2006/main" prst="roundRect">
            <a:avLst>
              <a:gd name="adj" fmla="val 7229"/>
            </a:avLst>
          </a:prstGeom>
          <a:solidFill xmlns:a="http://schemas.openxmlformats.org/drawingml/2006/main">
            <a:srgbClr val="FCEACA"/>
          </a:solidFill>
          <a:ln xmlns:a="http://schemas.openxmlformats.org/drawingml/2006/main" w="9525">
            <a:solidFill>
              <a:srgbClr val="FCEACA"/>
            </a:solidFill>
            <a:prstDash val="solid"/>
          </a:ln>
        </p:spPr>
      </p:sp>
      <p:sp>
        <p:nvSpPr>
          <p:cNvPr id="15" name="">
            <a:extLst xmlns:a="http://schemas.openxmlformats.org/drawingml/2006/main">
              <a:ext uri="{FF2B5EF4-FFF2-40B4-BE49-F238E27FC236}">
                <a16:creationId xmlns:a16="http://schemas.microsoft.com/office/drawing/2014/main" id="{4DB04A47-FFCE-4B3D-B840-8D86EA8292FA}"/>
              </a:ext>
            </a:extLst>
          </p:cNvPr>
          <p:cNvSpPr>
            <a:spLocks xmlns:a="http://schemas.openxmlformats.org/drawingml/2006/main" noGrp="1"/>
          </p:cNvSpPr>
          <p:nvPr/>
        </p:nvSpPr>
        <p:spPr>
          <a:xfrm xmlns:a="http://schemas.openxmlformats.org/drawingml/2006/main">
            <a:off x="8153400" y="2057400"/>
            <a:ext cx="685800" cy="68580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MAIL</a:t>
            </a:r>
          </a:p>
        </p:txBody>
      </p:sp>
      <p:sp>
        <p:nvSpPr>
          <p:cNvPr id="16" name="">
            <a:extLst xmlns:a="http://schemas.openxmlformats.org/drawingml/2006/main">
              <a:ext uri="{FF2B5EF4-FFF2-40B4-BE49-F238E27FC236}">
                <a16:creationId xmlns:a16="http://schemas.microsoft.com/office/drawing/2014/main" id="{75B40C21-FC7E-4493-952C-1B1A2CC2460D}"/>
              </a:ext>
            </a:extLst>
          </p:cNvPr>
          <p:cNvSpPr>
            <a:spLocks xmlns:a="http://schemas.openxmlformats.org/drawingml/2006/main" noGrp="1"/>
          </p:cNvSpPr>
          <p:nvPr/>
        </p:nvSpPr>
        <p:spPr>
          <a:xfrm xmlns:a="http://schemas.openxmlformats.org/drawingml/2006/main">
            <a:off x="8153400" y="297180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01A16"/>
                </a:solidFill>
              </a:defRPr>
            </a:pPr>
            <a:r>
              <a:rPr sz="2175" b="1">
                <a:solidFill>
                  <a:srgbClr val="201A16"/>
                </a:solidFill>
              </a:rPr>
              <a:t>Mailpit</a:t>
            </a:r>
          </a:p>
        </p:txBody>
      </p:sp>
      <p:sp>
        <p:nvSpPr>
          <p:cNvPr id="17" name="">
            <a:extLst xmlns:a="http://schemas.openxmlformats.org/drawingml/2006/main">
              <a:ext uri="{FF2B5EF4-FFF2-40B4-BE49-F238E27FC236}">
                <a16:creationId xmlns:a16="http://schemas.microsoft.com/office/drawing/2014/main" id="{22E98710-2FA7-4F8D-8E61-9191EB8C9A45}"/>
              </a:ext>
            </a:extLst>
          </p:cNvPr>
          <p:cNvSpPr>
            <a:spLocks xmlns:a="http://schemas.openxmlformats.org/drawingml/2006/main" noGrp="1"/>
          </p:cNvSpPr>
          <p:nvPr/>
        </p:nvSpPr>
        <p:spPr>
          <a:xfrm xmlns:a="http://schemas.openxmlformats.org/drawingml/2006/main">
            <a:off x="8153400" y="3600450"/>
            <a:ext cx="2590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Nhận email thử nghiệm trên máy local</a:t>
            </a:r>
          </a:p>
        </p:txBody>
      </p:sp>
      <p:sp>
        <p:nvSpPr>
          <p:cNvPr id="18" name="">
            <a:extLst xmlns:a="http://schemas.openxmlformats.org/drawingml/2006/main">
              <a:ext uri="{FF2B5EF4-FFF2-40B4-BE49-F238E27FC236}">
                <a16:creationId xmlns:a16="http://schemas.microsoft.com/office/drawing/2014/main" id="{89A79186-7583-4786-8B43-8578DC307AD0}"/>
              </a:ext>
            </a:extLst>
          </p:cNvPr>
          <p:cNvSpPr>
            <a:spLocks xmlns:a="http://schemas.openxmlformats.org/drawingml/2006/main" noGrp="1"/>
          </p:cNvSpPr>
          <p:nvPr/>
        </p:nvSpPr>
        <p:spPr>
          <a:xfrm xmlns:a="http://schemas.openxmlformats.org/drawingml/2006/main">
            <a:off x="685800" y="55245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B5F55"/>
                </a:solidFill>
              </a:defRPr>
            </a:pPr>
            <a:r>
              <a:rPr sz="1350" b="1">
                <a:solidFill>
                  <a:srgbClr val="6B5F55"/>
                </a:solidFill>
              </a:rPr>
              <a:t>Mailpit không gửi email thật ra Internet.</a:t>
            </a:r>
          </a:p>
        </p:txBody>
      </p:sp>
    </p:spTree>
    <p:extLst>
      <p:ext uri="{BB962C8B-B14F-4D97-AF65-F5344CB8AC3E}">
        <p14:creationId xmlns:p14="http://schemas.microsoft.com/office/powerpoint/2010/main" val="1891032529"/>
      </p:ext>
    </p:extLst>
  </p:cSld>
</p:sld>
</file>

<file path=ppt/slides/slide1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D4AA826-3E98-4173-9F64-E39852412AB3}"/>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162FC815-546E-4045-866E-F83110C42317}"/>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Các API chính trong kế hoạch hiện tại</a:t>
            </a:r>
          </a:p>
        </p:txBody>
      </p:sp>
      <p:sp>
        <p:nvSpPr>
          <p:cNvPr id="3" name="">
            <a:extLst xmlns:a="http://schemas.openxmlformats.org/drawingml/2006/main">
              <a:ext uri="{FF2B5EF4-FFF2-40B4-BE49-F238E27FC236}">
                <a16:creationId xmlns:a16="http://schemas.microsoft.com/office/drawing/2014/main" id="{8439B03E-72CF-432C-91BC-FAE8B746609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E7B548AE-1DC3-4847-AF36-39B0DEF78EE0}"/>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0E510110-B877-4DC3-BCFB-124F0C1538B1}"/>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19</a:t>
            </a:r>
          </a:p>
        </p:txBody>
      </p:sp>
      <p:sp>
        <p:nvSpPr>
          <p:cNvPr id="6" name="">
            <a:extLst xmlns:a="http://schemas.openxmlformats.org/drawingml/2006/main">
              <a:ext uri="{FF2B5EF4-FFF2-40B4-BE49-F238E27FC236}">
                <a16:creationId xmlns:a16="http://schemas.microsoft.com/office/drawing/2014/main" id="{E65EB7E3-E760-4F1D-B5EA-E1BF06821823}"/>
              </a:ext>
            </a:extLst>
          </p:cNvPr>
          <p:cNvSpPr>
            <a:spLocks xmlns:a="http://schemas.openxmlformats.org/drawingml/2006/main" noGrp="1"/>
          </p:cNvSpPr>
          <p:nvPr/>
        </p:nvSpPr>
        <p:spPr>
          <a:xfrm xmlns:a="http://schemas.openxmlformats.org/drawingml/2006/main">
            <a:off x="781050" y="15811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C23B22"/>
                </a:solidFill>
              </a:defRPr>
            </a:pPr>
            <a:r>
              <a:rPr sz="1650" b="1">
                <a:solidFill>
                  <a:srgbClr val="C23B22"/>
                </a:solidFill>
              </a:rPr>
              <a:t>/auth</a:t>
            </a:r>
          </a:p>
        </p:txBody>
      </p:sp>
      <p:sp>
        <p:nvSpPr>
          <p:cNvPr id="7" name="">
            <a:extLst xmlns:a="http://schemas.openxmlformats.org/drawingml/2006/main">
              <a:ext uri="{FF2B5EF4-FFF2-40B4-BE49-F238E27FC236}">
                <a16:creationId xmlns:a16="http://schemas.microsoft.com/office/drawing/2014/main" id="{F7239F80-8ED9-4D27-AA2A-4CEC44ABF9A5}"/>
              </a:ext>
            </a:extLst>
          </p:cNvPr>
          <p:cNvSpPr>
            <a:spLocks xmlns:a="http://schemas.openxmlformats.org/drawingml/2006/main" noGrp="1"/>
          </p:cNvSpPr>
          <p:nvPr/>
        </p:nvSpPr>
        <p:spPr>
          <a:xfrm xmlns:a="http://schemas.openxmlformats.org/drawingml/2006/main">
            <a:off x="2952750" y="15811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login • logout • me</a:t>
            </a:r>
          </a:p>
        </p:txBody>
      </p:sp>
      <p:sp>
        <p:nvSpPr>
          <p:cNvPr id="8" name="">
            <a:extLst xmlns:a="http://schemas.openxmlformats.org/drawingml/2006/main">
              <a:ext uri="{FF2B5EF4-FFF2-40B4-BE49-F238E27FC236}">
                <a16:creationId xmlns:a16="http://schemas.microsoft.com/office/drawing/2014/main" id="{5C94F5A0-5C24-4197-94B2-EC7674F70B85}"/>
              </a:ext>
            </a:extLst>
          </p:cNvPr>
          <p:cNvSpPr>
            <a:spLocks xmlns:a="http://schemas.openxmlformats.org/drawingml/2006/main" noGrp="1"/>
          </p:cNvSpPr>
          <p:nvPr/>
        </p:nvSpPr>
        <p:spPr>
          <a:xfrm xmlns:a="http://schemas.openxmlformats.org/drawingml/2006/main">
            <a:off x="9486900" y="15811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BE-2</a:t>
            </a:r>
          </a:p>
        </p:txBody>
      </p:sp>
      <p:sp>
        <p:nvSpPr>
          <p:cNvPr id="9" name="">
            <a:extLst xmlns:a="http://schemas.openxmlformats.org/drawingml/2006/main">
              <a:ext uri="{FF2B5EF4-FFF2-40B4-BE49-F238E27FC236}">
                <a16:creationId xmlns:a16="http://schemas.microsoft.com/office/drawing/2014/main" id="{B0EA920D-31F0-484D-93B1-E552A9AB4FAA}"/>
              </a:ext>
            </a:extLst>
          </p:cNvPr>
          <p:cNvSpPr>
            <a:spLocks xmlns:a="http://schemas.openxmlformats.org/drawingml/2006/main" noGrp="1"/>
          </p:cNvSpPr>
          <p:nvPr/>
        </p:nvSpPr>
        <p:spPr>
          <a:xfrm xmlns:a="http://schemas.openxmlformats.org/drawingml/2006/main">
            <a:off x="2952750" y="20574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29831C4D-AF0A-43A5-85D1-A2A534109EB7}"/>
              </a:ext>
            </a:extLst>
          </p:cNvPr>
          <p:cNvSpPr>
            <a:spLocks xmlns:a="http://schemas.openxmlformats.org/drawingml/2006/main" noGrp="1"/>
          </p:cNvSpPr>
          <p:nvPr/>
        </p:nvSpPr>
        <p:spPr>
          <a:xfrm xmlns:a="http://schemas.openxmlformats.org/drawingml/2006/main">
            <a:off x="781050" y="22669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68C9"/>
                </a:solidFill>
              </a:defRPr>
            </a:pPr>
            <a:r>
              <a:rPr sz="1650" b="1">
                <a:solidFill>
                  <a:srgbClr val="1568C9"/>
                </a:solidFill>
              </a:rPr>
              <a:t>/news</a:t>
            </a:r>
          </a:p>
        </p:txBody>
      </p:sp>
      <p:sp>
        <p:nvSpPr>
          <p:cNvPr id="11" name="">
            <a:extLst xmlns:a="http://schemas.openxmlformats.org/drawingml/2006/main">
              <a:ext uri="{FF2B5EF4-FFF2-40B4-BE49-F238E27FC236}">
                <a16:creationId xmlns:a16="http://schemas.microsoft.com/office/drawing/2014/main" id="{66C2F1D4-02AA-4804-9E78-369377539BEE}"/>
              </a:ext>
            </a:extLst>
          </p:cNvPr>
          <p:cNvSpPr>
            <a:spLocks xmlns:a="http://schemas.openxmlformats.org/drawingml/2006/main" noGrp="1"/>
          </p:cNvSpPr>
          <p:nvPr/>
        </p:nvSpPr>
        <p:spPr>
          <a:xfrm xmlns:a="http://schemas.openxmlformats.org/drawingml/2006/main">
            <a:off x="2952750" y="22669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list • detail • create • update • delete</a:t>
            </a:r>
          </a:p>
        </p:txBody>
      </p:sp>
      <p:sp>
        <p:nvSpPr>
          <p:cNvPr id="12" name="">
            <a:extLst xmlns:a="http://schemas.openxmlformats.org/drawingml/2006/main">
              <a:ext uri="{FF2B5EF4-FFF2-40B4-BE49-F238E27FC236}">
                <a16:creationId xmlns:a16="http://schemas.microsoft.com/office/drawing/2014/main" id="{EE30EA0F-3097-4FDD-BBB2-A229C96B5C6D}"/>
              </a:ext>
            </a:extLst>
          </p:cNvPr>
          <p:cNvSpPr>
            <a:spLocks xmlns:a="http://schemas.openxmlformats.org/drawingml/2006/main" noGrp="1"/>
          </p:cNvSpPr>
          <p:nvPr/>
        </p:nvSpPr>
        <p:spPr>
          <a:xfrm xmlns:a="http://schemas.openxmlformats.org/drawingml/2006/main">
            <a:off x="9486900" y="22669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BE-3</a:t>
            </a:r>
          </a:p>
        </p:txBody>
      </p:sp>
      <p:sp>
        <p:nvSpPr>
          <p:cNvPr id="13" name="">
            <a:extLst xmlns:a="http://schemas.openxmlformats.org/drawingml/2006/main">
              <a:ext uri="{FF2B5EF4-FFF2-40B4-BE49-F238E27FC236}">
                <a16:creationId xmlns:a16="http://schemas.microsoft.com/office/drawing/2014/main" id="{726D91E7-89AF-4CAC-9084-EC4C8ED68AB6}"/>
              </a:ext>
            </a:extLst>
          </p:cNvPr>
          <p:cNvSpPr>
            <a:spLocks xmlns:a="http://schemas.openxmlformats.org/drawingml/2006/main" noGrp="1"/>
          </p:cNvSpPr>
          <p:nvPr/>
        </p:nvSpPr>
        <p:spPr>
          <a:xfrm xmlns:a="http://schemas.openxmlformats.org/drawingml/2006/main">
            <a:off x="2952750" y="27432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4" name="">
            <a:extLst xmlns:a="http://schemas.openxmlformats.org/drawingml/2006/main">
              <a:ext uri="{FF2B5EF4-FFF2-40B4-BE49-F238E27FC236}">
                <a16:creationId xmlns:a16="http://schemas.microsoft.com/office/drawing/2014/main" id="{FC7D07AD-5A81-43C6-8EAC-42AD5BE45EA0}"/>
              </a:ext>
            </a:extLst>
          </p:cNvPr>
          <p:cNvSpPr>
            <a:spLocks xmlns:a="http://schemas.openxmlformats.org/drawingml/2006/main" noGrp="1"/>
          </p:cNvSpPr>
          <p:nvPr/>
        </p:nvSpPr>
        <p:spPr>
          <a:xfrm xmlns:a="http://schemas.openxmlformats.org/drawingml/2006/main">
            <a:off x="781050" y="29527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0A202"/>
                </a:solidFill>
              </a:defRPr>
            </a:pPr>
            <a:r>
              <a:rPr sz="1650" b="1">
                <a:solidFill>
                  <a:srgbClr val="F0A202"/>
                </a:solidFill>
              </a:rPr>
              <a:t>/events</a:t>
            </a:r>
          </a:p>
        </p:txBody>
      </p:sp>
      <p:sp>
        <p:nvSpPr>
          <p:cNvPr id="15" name="">
            <a:extLst xmlns:a="http://schemas.openxmlformats.org/drawingml/2006/main">
              <a:ext uri="{FF2B5EF4-FFF2-40B4-BE49-F238E27FC236}">
                <a16:creationId xmlns:a16="http://schemas.microsoft.com/office/drawing/2014/main" id="{C0D07D5B-64BE-46DE-A23D-74E7C9464665}"/>
              </a:ext>
            </a:extLst>
          </p:cNvPr>
          <p:cNvSpPr>
            <a:spLocks xmlns:a="http://schemas.openxmlformats.org/drawingml/2006/main" noGrp="1"/>
          </p:cNvSpPr>
          <p:nvPr/>
        </p:nvSpPr>
        <p:spPr>
          <a:xfrm xmlns:a="http://schemas.openxmlformats.org/drawingml/2006/main">
            <a:off x="2952750" y="29527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list • detail • CRUD</a:t>
            </a:r>
          </a:p>
        </p:txBody>
      </p:sp>
      <p:sp>
        <p:nvSpPr>
          <p:cNvPr id="16" name="">
            <a:extLst xmlns:a="http://schemas.openxmlformats.org/drawingml/2006/main">
              <a:ext uri="{FF2B5EF4-FFF2-40B4-BE49-F238E27FC236}">
                <a16:creationId xmlns:a16="http://schemas.microsoft.com/office/drawing/2014/main" id="{0ACFAFFB-84C8-48A6-85B7-BB513D7577E7}"/>
              </a:ext>
            </a:extLst>
          </p:cNvPr>
          <p:cNvSpPr>
            <a:spLocks xmlns:a="http://schemas.openxmlformats.org/drawingml/2006/main" noGrp="1"/>
          </p:cNvSpPr>
          <p:nvPr/>
        </p:nvSpPr>
        <p:spPr>
          <a:xfrm xmlns:a="http://schemas.openxmlformats.org/drawingml/2006/main">
            <a:off x="9486900" y="29527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BE-3</a:t>
            </a:r>
          </a:p>
        </p:txBody>
      </p:sp>
      <p:sp>
        <p:nvSpPr>
          <p:cNvPr id="17" name="">
            <a:extLst xmlns:a="http://schemas.openxmlformats.org/drawingml/2006/main">
              <a:ext uri="{FF2B5EF4-FFF2-40B4-BE49-F238E27FC236}">
                <a16:creationId xmlns:a16="http://schemas.microsoft.com/office/drawing/2014/main" id="{24D744BA-C599-44A7-8226-B5EB7BC43277}"/>
              </a:ext>
            </a:extLst>
          </p:cNvPr>
          <p:cNvSpPr>
            <a:spLocks xmlns:a="http://schemas.openxmlformats.org/drawingml/2006/main" noGrp="1"/>
          </p:cNvSpPr>
          <p:nvPr/>
        </p:nvSpPr>
        <p:spPr>
          <a:xfrm xmlns:a="http://schemas.openxmlformats.org/drawingml/2006/main">
            <a:off x="2952750" y="34290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8" name="">
            <a:extLst xmlns:a="http://schemas.openxmlformats.org/drawingml/2006/main">
              <a:ext uri="{FF2B5EF4-FFF2-40B4-BE49-F238E27FC236}">
                <a16:creationId xmlns:a16="http://schemas.microsoft.com/office/drawing/2014/main" id="{0A916E09-CD24-4F5C-8EA6-D3713AFB86C9}"/>
              </a:ext>
            </a:extLst>
          </p:cNvPr>
          <p:cNvSpPr>
            <a:spLocks xmlns:a="http://schemas.openxmlformats.org/drawingml/2006/main" noGrp="1"/>
          </p:cNvSpPr>
          <p:nvPr/>
        </p:nvSpPr>
        <p:spPr>
          <a:xfrm xmlns:a="http://schemas.openxmlformats.org/drawingml/2006/main">
            <a:off x="781050" y="36385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68C9"/>
                </a:solidFill>
              </a:defRPr>
            </a:pPr>
            <a:r>
              <a:rPr sz="1650" b="1">
                <a:solidFill>
                  <a:srgbClr val="1568C9"/>
                </a:solidFill>
              </a:rPr>
              <a:t>/projects</a:t>
            </a:r>
          </a:p>
        </p:txBody>
      </p:sp>
      <p:sp>
        <p:nvSpPr>
          <p:cNvPr id="19" name="">
            <a:extLst xmlns:a="http://schemas.openxmlformats.org/drawingml/2006/main">
              <a:ext uri="{FF2B5EF4-FFF2-40B4-BE49-F238E27FC236}">
                <a16:creationId xmlns:a16="http://schemas.microsoft.com/office/drawing/2014/main" id="{D4EF7FA3-16BF-4897-AF5E-B8E3E368AEDA}"/>
              </a:ext>
            </a:extLst>
          </p:cNvPr>
          <p:cNvSpPr>
            <a:spLocks xmlns:a="http://schemas.openxmlformats.org/drawingml/2006/main" noGrp="1"/>
          </p:cNvSpPr>
          <p:nvPr/>
        </p:nvSpPr>
        <p:spPr>
          <a:xfrm xmlns:a="http://schemas.openxmlformats.org/drawingml/2006/main">
            <a:off x="2952750" y="36385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list • detail • CRUD</a:t>
            </a:r>
          </a:p>
        </p:txBody>
      </p:sp>
      <p:sp>
        <p:nvSpPr>
          <p:cNvPr id="20" name="">
            <a:extLst xmlns:a="http://schemas.openxmlformats.org/drawingml/2006/main">
              <a:ext uri="{FF2B5EF4-FFF2-40B4-BE49-F238E27FC236}">
                <a16:creationId xmlns:a16="http://schemas.microsoft.com/office/drawing/2014/main" id="{DD1B7853-BBF3-4814-94CE-3E26B85C2F56}"/>
              </a:ext>
            </a:extLst>
          </p:cNvPr>
          <p:cNvSpPr>
            <a:spLocks xmlns:a="http://schemas.openxmlformats.org/drawingml/2006/main" noGrp="1"/>
          </p:cNvSpPr>
          <p:nvPr/>
        </p:nvSpPr>
        <p:spPr>
          <a:xfrm xmlns:a="http://schemas.openxmlformats.org/drawingml/2006/main">
            <a:off x="9486900" y="36385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BE-3</a:t>
            </a:r>
          </a:p>
        </p:txBody>
      </p:sp>
      <p:sp>
        <p:nvSpPr>
          <p:cNvPr id="21" name="">
            <a:extLst xmlns:a="http://schemas.openxmlformats.org/drawingml/2006/main">
              <a:ext uri="{FF2B5EF4-FFF2-40B4-BE49-F238E27FC236}">
                <a16:creationId xmlns:a16="http://schemas.microsoft.com/office/drawing/2014/main" id="{FDC7E248-6FCD-4391-BDD2-1141D70D273E}"/>
              </a:ext>
            </a:extLst>
          </p:cNvPr>
          <p:cNvSpPr>
            <a:spLocks xmlns:a="http://schemas.openxmlformats.org/drawingml/2006/main" noGrp="1"/>
          </p:cNvSpPr>
          <p:nvPr/>
        </p:nvSpPr>
        <p:spPr>
          <a:xfrm xmlns:a="http://schemas.openxmlformats.org/drawingml/2006/main">
            <a:off x="2952750" y="41148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2" name="">
            <a:extLst xmlns:a="http://schemas.openxmlformats.org/drawingml/2006/main">
              <a:ext uri="{FF2B5EF4-FFF2-40B4-BE49-F238E27FC236}">
                <a16:creationId xmlns:a16="http://schemas.microsoft.com/office/drawing/2014/main" id="{3A7ECE21-0F26-4701-8564-E78E473412D8}"/>
              </a:ext>
            </a:extLst>
          </p:cNvPr>
          <p:cNvSpPr>
            <a:spLocks xmlns:a="http://schemas.openxmlformats.org/drawingml/2006/main" noGrp="1"/>
          </p:cNvSpPr>
          <p:nvPr/>
        </p:nvSpPr>
        <p:spPr>
          <a:xfrm xmlns:a="http://schemas.openxmlformats.org/drawingml/2006/main">
            <a:off x="781050" y="43243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C23B22"/>
                </a:solidFill>
              </a:defRPr>
            </a:pPr>
            <a:r>
              <a:rPr sz="1650" b="1">
                <a:solidFill>
                  <a:srgbClr val="C23B22"/>
                </a:solidFill>
              </a:rPr>
              <a:t>/upload</a:t>
            </a:r>
          </a:p>
        </p:txBody>
      </p:sp>
      <p:sp>
        <p:nvSpPr>
          <p:cNvPr id="23" name="">
            <a:extLst xmlns:a="http://schemas.openxmlformats.org/drawingml/2006/main">
              <a:ext uri="{FF2B5EF4-FFF2-40B4-BE49-F238E27FC236}">
                <a16:creationId xmlns:a16="http://schemas.microsoft.com/office/drawing/2014/main" id="{C09C43F0-422E-4579-B916-4A8F57B83D96}"/>
              </a:ext>
            </a:extLst>
          </p:cNvPr>
          <p:cNvSpPr>
            <a:spLocks xmlns:a="http://schemas.openxmlformats.org/drawingml/2006/main" noGrp="1"/>
          </p:cNvSpPr>
          <p:nvPr/>
        </p:nvSpPr>
        <p:spPr>
          <a:xfrm xmlns:a="http://schemas.openxmlformats.org/drawingml/2006/main">
            <a:off x="2952750" y="43243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multipart → MinIO → URL/key</a:t>
            </a:r>
          </a:p>
        </p:txBody>
      </p:sp>
      <p:sp>
        <p:nvSpPr>
          <p:cNvPr id="24" name="">
            <a:extLst xmlns:a="http://schemas.openxmlformats.org/drawingml/2006/main">
              <a:ext uri="{FF2B5EF4-FFF2-40B4-BE49-F238E27FC236}">
                <a16:creationId xmlns:a16="http://schemas.microsoft.com/office/drawing/2014/main" id="{612789A9-E478-4217-AD7B-5515589A0ABF}"/>
              </a:ext>
            </a:extLst>
          </p:cNvPr>
          <p:cNvSpPr>
            <a:spLocks xmlns:a="http://schemas.openxmlformats.org/drawingml/2006/main" noGrp="1"/>
          </p:cNvSpPr>
          <p:nvPr/>
        </p:nvSpPr>
        <p:spPr>
          <a:xfrm xmlns:a="http://schemas.openxmlformats.org/drawingml/2006/main">
            <a:off x="9486900" y="43243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BE-1</a:t>
            </a:r>
          </a:p>
        </p:txBody>
      </p:sp>
      <p:sp>
        <p:nvSpPr>
          <p:cNvPr id="25" name="">
            <a:extLst xmlns:a="http://schemas.openxmlformats.org/drawingml/2006/main">
              <a:ext uri="{FF2B5EF4-FFF2-40B4-BE49-F238E27FC236}">
                <a16:creationId xmlns:a16="http://schemas.microsoft.com/office/drawing/2014/main" id="{3AB2D49F-5140-4B4D-A888-83ED29CFABC2}"/>
              </a:ext>
            </a:extLst>
          </p:cNvPr>
          <p:cNvSpPr>
            <a:spLocks xmlns:a="http://schemas.openxmlformats.org/drawingml/2006/main" noGrp="1"/>
          </p:cNvSpPr>
          <p:nvPr/>
        </p:nvSpPr>
        <p:spPr>
          <a:xfrm xmlns:a="http://schemas.openxmlformats.org/drawingml/2006/main">
            <a:off x="2952750" y="48006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6" name="">
            <a:extLst xmlns:a="http://schemas.openxmlformats.org/drawingml/2006/main">
              <a:ext uri="{FF2B5EF4-FFF2-40B4-BE49-F238E27FC236}">
                <a16:creationId xmlns:a16="http://schemas.microsoft.com/office/drawing/2014/main" id="{2C337A31-E750-4166-9B06-D37A1879B41A}"/>
              </a:ext>
            </a:extLst>
          </p:cNvPr>
          <p:cNvSpPr>
            <a:spLocks xmlns:a="http://schemas.openxmlformats.org/drawingml/2006/main" noGrp="1"/>
          </p:cNvSpPr>
          <p:nvPr/>
        </p:nvSpPr>
        <p:spPr>
          <a:xfrm xmlns:a="http://schemas.openxmlformats.org/drawingml/2006/main">
            <a:off x="781050" y="50101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0A202"/>
                </a:solidFill>
              </a:defRPr>
            </a:pPr>
            <a:r>
              <a:rPr sz="1650" b="1">
                <a:solidFill>
                  <a:srgbClr val="F0A202"/>
                </a:solidFill>
              </a:rPr>
              <a:t>/applications</a:t>
            </a:r>
          </a:p>
        </p:txBody>
      </p:sp>
      <p:sp>
        <p:nvSpPr>
          <p:cNvPr id="27" name="">
            <a:extLst xmlns:a="http://schemas.openxmlformats.org/drawingml/2006/main">
              <a:ext uri="{FF2B5EF4-FFF2-40B4-BE49-F238E27FC236}">
                <a16:creationId xmlns:a16="http://schemas.microsoft.com/office/drawing/2014/main" id="{3D685C95-B2F2-49F2-BB7E-CB48548C39E4}"/>
              </a:ext>
            </a:extLst>
          </p:cNvPr>
          <p:cNvSpPr>
            <a:spLocks xmlns:a="http://schemas.openxmlformats.org/drawingml/2006/main" noGrp="1"/>
          </p:cNvSpPr>
          <p:nvPr/>
        </p:nvSpPr>
        <p:spPr>
          <a:xfrm xmlns:a="http://schemas.openxmlformats.org/drawingml/2006/main">
            <a:off x="2952750" y="5010150"/>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submit • list • approve • reject</a:t>
            </a:r>
          </a:p>
        </p:txBody>
      </p:sp>
      <p:sp>
        <p:nvSpPr>
          <p:cNvPr id="28" name="">
            <a:extLst xmlns:a="http://schemas.openxmlformats.org/drawingml/2006/main">
              <a:ext uri="{FF2B5EF4-FFF2-40B4-BE49-F238E27FC236}">
                <a16:creationId xmlns:a16="http://schemas.microsoft.com/office/drawing/2014/main" id="{40A32F52-DC6A-4117-94C6-8DAF2B073DBB}"/>
              </a:ext>
            </a:extLst>
          </p:cNvPr>
          <p:cNvSpPr>
            <a:spLocks xmlns:a="http://schemas.openxmlformats.org/drawingml/2006/main" noGrp="1"/>
          </p:cNvSpPr>
          <p:nvPr/>
        </p:nvSpPr>
        <p:spPr>
          <a:xfrm xmlns:a="http://schemas.openxmlformats.org/drawingml/2006/main">
            <a:off x="9486900" y="50101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B5F55"/>
                </a:solidFill>
              </a:defRPr>
            </a:pPr>
            <a:r>
              <a:rPr sz="1350" b="1">
                <a:solidFill>
                  <a:srgbClr val="6B5F55"/>
                </a:solidFill>
              </a:rPr>
              <a:t>BE-2</a:t>
            </a:r>
          </a:p>
        </p:txBody>
      </p:sp>
      <p:sp>
        <p:nvSpPr>
          <p:cNvPr id="29" name="">
            <a:extLst xmlns:a="http://schemas.openxmlformats.org/drawingml/2006/main">
              <a:ext uri="{FF2B5EF4-FFF2-40B4-BE49-F238E27FC236}">
                <a16:creationId xmlns:a16="http://schemas.microsoft.com/office/drawing/2014/main" id="{36221B19-F692-4E4B-8223-2A3DA5F3D848}"/>
              </a:ext>
            </a:extLst>
          </p:cNvPr>
          <p:cNvSpPr>
            <a:spLocks xmlns:a="http://schemas.openxmlformats.org/drawingml/2006/main" noGrp="1"/>
          </p:cNvSpPr>
          <p:nvPr/>
        </p:nvSpPr>
        <p:spPr>
          <a:xfrm xmlns:a="http://schemas.openxmlformats.org/drawingml/2006/main">
            <a:off x="2952750" y="5486400"/>
            <a:ext cx="78676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30" name="">
            <a:extLst xmlns:a="http://schemas.openxmlformats.org/drawingml/2006/main">
              <a:ext uri="{FF2B5EF4-FFF2-40B4-BE49-F238E27FC236}">
                <a16:creationId xmlns:a16="http://schemas.microsoft.com/office/drawing/2014/main" id="{8311752C-8549-49EB-83D3-E346BD68574A}"/>
              </a:ext>
            </a:extLst>
          </p:cNvPr>
          <p:cNvSpPr>
            <a:spLocks xmlns:a="http://schemas.openxmlformats.org/drawingml/2006/main" noGrp="1"/>
          </p:cNvSpPr>
          <p:nvPr/>
        </p:nvSpPr>
        <p:spPr>
          <a:xfrm xmlns:a="http://schemas.openxmlformats.org/drawingml/2006/main">
            <a:off x="685800" y="5829300"/>
            <a:ext cx="10820400" cy="400050"/>
          </a:xfrm>
          <a:prstGeom xmlns:a="http://schemas.openxmlformats.org/drawingml/2006/main" prst="roundRect">
            <a:avLst>
              <a:gd name="adj" fmla="val 28571"/>
            </a:avLst>
          </a:prstGeom>
          <a:solidFill xmlns:a="http://schemas.openxmlformats.org/drawingml/2006/main">
            <a:srgbClr val="F6DED6"/>
          </a:solidFill>
          <a:ln xmlns:a="http://schemas.openxmlformats.org/drawingml/2006/main" w="9525">
            <a:solidFill>
              <a:srgbClr val="F6DED6"/>
            </a:solidFill>
            <a:prstDash val="solid"/>
          </a:ln>
        </p:spPr>
      </p:sp>
      <p:sp>
        <p:nvSpPr>
          <p:cNvPr id="31" name="">
            <a:extLst xmlns:a="http://schemas.openxmlformats.org/drawingml/2006/main">
              <a:ext uri="{FF2B5EF4-FFF2-40B4-BE49-F238E27FC236}">
                <a16:creationId xmlns:a16="http://schemas.microsoft.com/office/drawing/2014/main" id="{8947610F-9689-45F1-8341-78B9A23EE1F0}"/>
              </a:ext>
            </a:extLst>
          </p:cNvPr>
          <p:cNvSpPr>
            <a:spLocks xmlns:a="http://schemas.openxmlformats.org/drawingml/2006/main" noGrp="1"/>
          </p:cNvSpPr>
          <p:nvPr/>
        </p:nvSpPr>
        <p:spPr>
          <a:xfrm xmlns:a="http://schemas.openxmlformats.org/drawingml/2006/main">
            <a:off x="857250" y="58674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841F11"/>
                </a:solidFill>
              </a:defRPr>
            </a:pPr>
            <a:r>
              <a:rPr sz="1200" b="1">
                <a:solidFill>
                  <a:srgbClr val="841F11"/>
                </a:solidFill>
              </a:rPr>
              <a:t>CRUD = Create • Read • Update • Delete. Các route ghi dữ liệu phải kiểm tra quyền ở Backend.</a:t>
            </a:r>
          </a:p>
        </p:txBody>
      </p:sp>
    </p:spTree>
    <p:extLst>
      <p:ext uri="{BB962C8B-B14F-4D97-AF65-F5344CB8AC3E}">
        <p14:creationId xmlns:p14="http://schemas.microsoft.com/office/powerpoint/2010/main" val="1864945765"/>
      </p:ext>
    </p:extLst>
  </p:cSld>
</p:sld>
</file>

<file path=ppt/slides/slide2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191ADF-CE1A-47E1-BC45-A825ADEB4389}"/>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3554801A-F643-4074-AB50-F25255924C82}"/>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Vì sao local chỉ đưa hạ tầng vào Docker?</a:t>
            </a:r>
          </a:p>
        </p:txBody>
      </p:sp>
      <p:sp>
        <p:nvSpPr>
          <p:cNvPr id="3" name="">
            <a:extLst xmlns:a="http://schemas.openxmlformats.org/drawingml/2006/main">
              <a:ext uri="{FF2B5EF4-FFF2-40B4-BE49-F238E27FC236}">
                <a16:creationId xmlns:a16="http://schemas.microsoft.com/office/drawing/2014/main" id="{664D72E8-F337-4505-8D3C-CF8244EEA3CB}"/>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0E7E049D-4DE8-4F8B-BD24-FDF5B673E59D}"/>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C6F336E0-2B22-4E99-821C-1C4C5B5B85B5}"/>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20</a:t>
            </a:r>
          </a:p>
        </p:txBody>
      </p:sp>
      <p:sp>
        <p:nvSpPr>
          <p:cNvPr id="6" name="">
            <a:extLst xmlns:a="http://schemas.openxmlformats.org/drawingml/2006/main">
              <a:ext uri="{FF2B5EF4-FFF2-40B4-BE49-F238E27FC236}">
                <a16:creationId xmlns:a16="http://schemas.microsoft.com/office/drawing/2014/main" id="{041FF395-9128-467A-8A1F-DD130B8CEAD7}"/>
              </a:ext>
            </a:extLst>
          </p:cNvPr>
          <p:cNvSpPr>
            <a:spLocks xmlns:a="http://schemas.openxmlformats.org/drawingml/2006/main" noGrp="1"/>
          </p:cNvSpPr>
          <p:nvPr/>
        </p:nvSpPr>
        <p:spPr>
          <a:xfrm xmlns:a="http://schemas.openxmlformats.org/drawingml/2006/main">
            <a:off x="685800" y="1695450"/>
            <a:ext cx="4953000" cy="3790950"/>
          </a:xfrm>
          <a:prstGeom xmlns:a="http://schemas.openxmlformats.org/drawingml/2006/main" prst="roundRect">
            <a:avLst>
              <a:gd name="adj" fmla="val 6030"/>
            </a:avLst>
          </a:prstGeom>
          <a:solidFill xmlns:a="http://schemas.openxmlformats.org/drawingml/2006/main">
            <a:srgbClr val="DCEAFB"/>
          </a:solidFill>
          <a:ln xmlns:a="http://schemas.openxmlformats.org/drawingml/2006/main" w="9525">
            <a:solidFill>
              <a:srgbClr val="DCEAFB"/>
            </a:solidFill>
            <a:prstDash val="solid"/>
          </a:ln>
        </p:spPr>
      </p:sp>
      <p:sp>
        <p:nvSpPr>
          <p:cNvPr id="7" name="">
            <a:extLst xmlns:a="http://schemas.openxmlformats.org/drawingml/2006/main">
              <a:ext uri="{FF2B5EF4-FFF2-40B4-BE49-F238E27FC236}">
                <a16:creationId xmlns:a16="http://schemas.microsoft.com/office/drawing/2014/main" id="{8152E756-DB1B-423F-B34F-6F523181E569}"/>
              </a:ext>
            </a:extLst>
          </p:cNvPr>
          <p:cNvSpPr>
            <a:spLocks xmlns:a="http://schemas.openxmlformats.org/drawingml/2006/main" noGrp="1"/>
          </p:cNvSpPr>
          <p:nvPr/>
        </p:nvSpPr>
        <p:spPr>
          <a:xfrm xmlns:a="http://schemas.openxmlformats.org/drawingml/2006/main">
            <a:off x="990600" y="1962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568C9"/>
                </a:solidFill>
              </a:defRPr>
            </a:pPr>
            <a:r>
              <a:rPr sz="1050" b="1">
                <a:solidFill>
                  <a:srgbClr val="1568C9"/>
                </a:solidFill>
              </a:rPr>
              <a:t>ĐƯA VÀO DOCKER</a:t>
            </a:r>
          </a:p>
        </p:txBody>
      </p:sp>
      <p:sp>
        <p:nvSpPr>
          <p:cNvPr id="8" name="">
            <a:extLst xmlns:a="http://schemas.openxmlformats.org/drawingml/2006/main">
              <a:ext uri="{FF2B5EF4-FFF2-40B4-BE49-F238E27FC236}">
                <a16:creationId xmlns:a16="http://schemas.microsoft.com/office/drawing/2014/main" id="{739E676D-5FF4-48B7-8A38-88B196893AD5}"/>
              </a:ext>
            </a:extLst>
          </p:cNvPr>
          <p:cNvSpPr>
            <a:spLocks xmlns:a="http://schemas.openxmlformats.org/drawingml/2006/main" noGrp="1"/>
          </p:cNvSpPr>
          <p:nvPr/>
        </p:nvSpPr>
        <p:spPr>
          <a:xfrm xmlns:a="http://schemas.openxmlformats.org/drawingml/2006/main">
            <a:off x="990600" y="2514600"/>
            <a:ext cx="40005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B3E7A"/>
                </a:solidFill>
              </a:defRPr>
            </a:pPr>
            <a:r>
              <a:rPr sz="2550" b="1">
                <a:solidFill>
                  <a:srgbClr val="0B3E7A"/>
                </a:solidFill>
              </a:rPr>
              <a:t>PostgreSQL</a:t>
            </a:r>
          </a:p>
          <a:p xmlns:a="http://schemas.openxmlformats.org/drawingml/2006/main">
            <a:pPr algn="l">
              <a:defRPr sz="2550" b="1">
                <a:solidFill>
                  <a:srgbClr val="0B3E7A"/>
                </a:solidFill>
              </a:defRPr>
            </a:pPr>
            <a:r>
              <a:rPr sz="2550" b="1">
                <a:solidFill>
                  <a:srgbClr val="0B3E7A"/>
                </a:solidFill>
              </a:rPr>
              <a:t>Mailpit</a:t>
            </a:r>
          </a:p>
          <a:p xmlns:a="http://schemas.openxmlformats.org/drawingml/2006/main">
            <a:pPr algn="l">
              <a:defRPr sz="2550" b="1">
                <a:solidFill>
                  <a:srgbClr val="0B3E7A"/>
                </a:solidFill>
              </a:defRPr>
            </a:pPr>
            <a:r>
              <a:rPr sz="2550" b="1">
                <a:solidFill>
                  <a:srgbClr val="0B3E7A"/>
                </a:solidFill>
              </a:rPr>
              <a:t>MinIO</a:t>
            </a:r>
          </a:p>
        </p:txBody>
      </p:sp>
      <p:sp>
        <p:nvSpPr>
          <p:cNvPr id="9" name="">
            <a:extLst xmlns:a="http://schemas.openxmlformats.org/drawingml/2006/main">
              <a:ext uri="{FF2B5EF4-FFF2-40B4-BE49-F238E27FC236}">
                <a16:creationId xmlns:a16="http://schemas.microsoft.com/office/drawing/2014/main" id="{7F0847DE-4269-4A69-8EE8-6FAF292AFB04}"/>
              </a:ext>
            </a:extLst>
          </p:cNvPr>
          <p:cNvSpPr>
            <a:spLocks xmlns:a="http://schemas.openxmlformats.org/drawingml/2006/main" noGrp="1"/>
          </p:cNvSpPr>
          <p:nvPr/>
        </p:nvSpPr>
        <p:spPr>
          <a:xfrm xmlns:a="http://schemas.openxmlformats.org/drawingml/2006/main">
            <a:off x="990600" y="4343400"/>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Cần đúng phiên bản, port, volume và health check trên mọi máy.</a:t>
            </a:r>
          </a:p>
        </p:txBody>
      </p:sp>
      <p:sp>
        <p:nvSpPr>
          <p:cNvPr id="10" name="">
            <a:extLst xmlns:a="http://schemas.openxmlformats.org/drawingml/2006/main">
              <a:ext uri="{FF2B5EF4-FFF2-40B4-BE49-F238E27FC236}">
                <a16:creationId xmlns:a16="http://schemas.microsoft.com/office/drawing/2014/main" id="{EC8F75D2-811A-4DC8-80A0-3016D7C8ED1F}"/>
              </a:ext>
            </a:extLst>
          </p:cNvPr>
          <p:cNvSpPr>
            <a:spLocks xmlns:a="http://schemas.openxmlformats.org/drawingml/2006/main" noGrp="1"/>
          </p:cNvSpPr>
          <p:nvPr/>
        </p:nvSpPr>
        <p:spPr>
          <a:xfrm xmlns:a="http://schemas.openxmlformats.org/drawingml/2006/main">
            <a:off x="6019800" y="1695450"/>
            <a:ext cx="5486400" cy="3790950"/>
          </a:xfrm>
          <a:prstGeom xmlns:a="http://schemas.openxmlformats.org/drawingml/2006/main" prst="roundRect">
            <a:avLst>
              <a:gd name="adj" fmla="val 6030"/>
            </a:avLst>
          </a:prstGeom>
          <a:solidFill xmlns:a="http://schemas.openxmlformats.org/drawingml/2006/main">
            <a:srgbClr val="F6DED6"/>
          </a:solidFill>
          <a:ln xmlns:a="http://schemas.openxmlformats.org/drawingml/2006/main" w="9525">
            <a:solidFill>
              <a:srgbClr val="F6DED6"/>
            </a:solidFill>
            <a:prstDash val="solid"/>
          </a:ln>
        </p:spPr>
      </p:sp>
      <p:sp>
        <p:nvSpPr>
          <p:cNvPr id="11" name="">
            <a:extLst xmlns:a="http://schemas.openxmlformats.org/drawingml/2006/main">
              <a:ext uri="{FF2B5EF4-FFF2-40B4-BE49-F238E27FC236}">
                <a16:creationId xmlns:a16="http://schemas.microsoft.com/office/drawing/2014/main" id="{CCECD95D-D83B-4456-8A39-98BB17156D6D}"/>
              </a:ext>
            </a:extLst>
          </p:cNvPr>
          <p:cNvSpPr>
            <a:spLocks xmlns:a="http://schemas.openxmlformats.org/drawingml/2006/main" noGrp="1"/>
          </p:cNvSpPr>
          <p:nvPr/>
        </p:nvSpPr>
        <p:spPr>
          <a:xfrm xmlns:a="http://schemas.openxmlformats.org/drawingml/2006/main">
            <a:off x="6324600" y="19621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CHẠY TRỰC TIẾP</a:t>
            </a:r>
          </a:p>
        </p:txBody>
      </p:sp>
      <p:sp>
        <p:nvSpPr>
          <p:cNvPr id="12" name="">
            <a:extLst xmlns:a="http://schemas.openxmlformats.org/drawingml/2006/main">
              <a:ext uri="{FF2B5EF4-FFF2-40B4-BE49-F238E27FC236}">
                <a16:creationId xmlns:a16="http://schemas.microsoft.com/office/drawing/2014/main" id="{70EF1E6D-E81F-4026-A156-DCF39D353873}"/>
              </a:ext>
            </a:extLst>
          </p:cNvPr>
          <p:cNvSpPr>
            <a:spLocks xmlns:a="http://schemas.openxmlformats.org/drawingml/2006/main" noGrp="1"/>
          </p:cNvSpPr>
          <p:nvPr/>
        </p:nvSpPr>
        <p:spPr>
          <a:xfrm xmlns:a="http://schemas.openxmlformats.org/drawingml/2006/main">
            <a:off x="6324600" y="251460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841F11"/>
                </a:solidFill>
              </a:defRPr>
            </a:pPr>
            <a:r>
              <a:rPr sz="2550" b="1">
                <a:solidFill>
                  <a:srgbClr val="841F11"/>
                </a:solidFill>
              </a:rPr>
              <a:t>React/Vite</a:t>
            </a:r>
          </a:p>
          <a:p xmlns:a="http://schemas.openxmlformats.org/drawingml/2006/main">
            <a:pPr algn="l">
              <a:defRPr sz="2550" b="1">
                <a:solidFill>
                  <a:srgbClr val="841F11"/>
                </a:solidFill>
              </a:defRPr>
            </a:pPr>
            <a:r>
              <a:rPr sz="2550" b="1">
                <a:solidFill>
                  <a:srgbClr val="841F11"/>
                </a:solidFill>
              </a:rPr>
              <a:t>Fastify</a:t>
            </a:r>
          </a:p>
        </p:txBody>
      </p:sp>
      <p:sp>
        <p:nvSpPr>
          <p:cNvPr id="13" name="">
            <a:extLst xmlns:a="http://schemas.openxmlformats.org/drawingml/2006/main">
              <a:ext uri="{FF2B5EF4-FFF2-40B4-BE49-F238E27FC236}">
                <a16:creationId xmlns:a16="http://schemas.microsoft.com/office/drawing/2014/main" id="{3259FCA7-7902-4503-A4A3-9BE3FFFF2B80}"/>
              </a:ext>
            </a:extLst>
          </p:cNvPr>
          <p:cNvSpPr>
            <a:spLocks xmlns:a="http://schemas.openxmlformats.org/drawingml/2006/main" noGrp="1"/>
          </p:cNvSpPr>
          <p:nvPr/>
        </p:nvSpPr>
        <p:spPr>
          <a:xfrm xmlns:a="http://schemas.openxmlformats.org/drawingml/2006/main">
            <a:off x="6324600" y="3943350"/>
            <a:ext cx="4572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B5F55"/>
                </a:solidFill>
              </a:defRPr>
            </a:pPr>
            <a:r>
              <a:rPr sz="1575" b="0">
                <a:solidFill>
                  <a:srgbClr val="6B5F55"/>
                </a:solidFill>
              </a:rPr>
              <a:t>Thay đổi liên tục; chạy ngoài container giúp hot reload, debug và đọc log đơn giản hơn.</a:t>
            </a:r>
          </a:p>
        </p:txBody>
      </p:sp>
    </p:spTree>
    <p:extLst>
      <p:ext uri="{BB962C8B-B14F-4D97-AF65-F5344CB8AC3E}">
        <p14:creationId xmlns:p14="http://schemas.microsoft.com/office/powerpoint/2010/main" val="2073305543"/>
      </p:ext>
    </p:extLst>
  </p:cSld>
</p:sld>
</file>

<file path=ppt/slides/slide2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43A2D52-CAE9-4963-8A6C-D33C21A35597}"/>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0F244AC0-9562-45DB-A9B4-F88B25F401E4}"/>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Cách dự án đang chạy trên máy thành viên</a:t>
            </a:r>
          </a:p>
        </p:txBody>
      </p:sp>
      <p:sp>
        <p:nvSpPr>
          <p:cNvPr id="3" name="">
            <a:extLst xmlns:a="http://schemas.openxmlformats.org/drawingml/2006/main">
              <a:ext uri="{FF2B5EF4-FFF2-40B4-BE49-F238E27FC236}">
                <a16:creationId xmlns:a16="http://schemas.microsoft.com/office/drawing/2014/main" id="{D9C54B4D-56AD-43F9-9E7E-22367F9A1093}"/>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6692F245-7083-4B19-893C-A752F8ACF1CA}"/>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E2F83CB9-F1D1-4B60-A6A8-974951EDF6FA}"/>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21</a:t>
            </a:r>
          </a:p>
        </p:txBody>
      </p:sp>
      <p:sp>
        <p:nvSpPr>
          <p:cNvPr id="6" name="">
            <a:extLst xmlns:a="http://schemas.openxmlformats.org/drawingml/2006/main">
              <a:ext uri="{FF2B5EF4-FFF2-40B4-BE49-F238E27FC236}">
                <a16:creationId xmlns:a16="http://schemas.microsoft.com/office/drawing/2014/main" id="{6FAE8412-10FB-400C-AC8C-3F268D1DEEDA}"/>
              </a:ext>
            </a:extLst>
          </p:cNvPr>
          <p:cNvSpPr>
            <a:spLocks xmlns:a="http://schemas.openxmlformats.org/drawingml/2006/main" noGrp="1"/>
          </p:cNvSpPr>
          <p:nvPr/>
        </p:nvSpPr>
        <p:spPr>
          <a:xfrm xmlns:a="http://schemas.openxmlformats.org/drawingml/2006/main">
            <a:off x="685800" y="1638300"/>
            <a:ext cx="10820400" cy="40386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BBFAF"/>
            </a:solidFill>
            <a:prstDash val="solid"/>
          </a:ln>
        </p:spPr>
      </p:sp>
      <p:sp>
        <p:nvSpPr>
          <p:cNvPr id="7" name="">
            <a:extLst xmlns:a="http://schemas.openxmlformats.org/drawingml/2006/main">
              <a:ext uri="{FF2B5EF4-FFF2-40B4-BE49-F238E27FC236}">
                <a16:creationId xmlns:a16="http://schemas.microsoft.com/office/drawing/2014/main" id="{4F350E50-F453-40DA-850C-CB515875ADBB}"/>
              </a:ext>
            </a:extLst>
          </p:cNvPr>
          <p:cNvSpPr>
            <a:spLocks xmlns:a="http://schemas.openxmlformats.org/drawingml/2006/main" noGrp="1"/>
          </p:cNvSpPr>
          <p:nvPr/>
        </p:nvSpPr>
        <p:spPr>
          <a:xfrm xmlns:a="http://schemas.openxmlformats.org/drawingml/2006/main">
            <a:off x="952500" y="18097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5F55"/>
                </a:solidFill>
              </a:defRPr>
            </a:pPr>
            <a:r>
              <a:rPr sz="975" b="1">
                <a:solidFill>
                  <a:srgbClr val="6B5F55"/>
                </a:solidFill>
              </a:rPr>
              <a:t>MÁY CỦA THÀNH VIÊN</a:t>
            </a:r>
          </a:p>
        </p:txBody>
      </p:sp>
      <p:sp>
        <p:nvSpPr>
          <p:cNvPr id="8" name="">
            <a:extLst xmlns:a="http://schemas.openxmlformats.org/drawingml/2006/main">
              <a:ext uri="{FF2B5EF4-FFF2-40B4-BE49-F238E27FC236}">
                <a16:creationId xmlns:a16="http://schemas.microsoft.com/office/drawing/2014/main" id="{07360A47-6DB2-4B3B-B36D-ED63940BC079}"/>
              </a:ext>
            </a:extLst>
          </p:cNvPr>
          <p:cNvSpPr>
            <a:spLocks xmlns:a="http://schemas.openxmlformats.org/drawingml/2006/main" noGrp="1"/>
          </p:cNvSpPr>
          <p:nvPr/>
        </p:nvSpPr>
        <p:spPr>
          <a:xfrm xmlns:a="http://schemas.openxmlformats.org/drawingml/2006/main">
            <a:off x="1123950" y="2362200"/>
            <a:ext cx="2343150" cy="1123950"/>
          </a:xfrm>
          <a:prstGeom xmlns:a="http://schemas.openxmlformats.org/drawingml/2006/main" prst="roundRect">
            <a:avLst>
              <a:gd name="adj" fmla="val 16949"/>
            </a:avLst>
          </a:prstGeom>
          <a:solidFill xmlns:a="http://schemas.openxmlformats.org/drawingml/2006/main">
            <a:srgbClr val="DCEAFB"/>
          </a:solidFill>
          <a:ln xmlns:a="http://schemas.openxmlformats.org/drawingml/2006/main" w="9525">
            <a:solidFill>
              <a:srgbClr val="DCEAFB"/>
            </a:solidFill>
            <a:prstDash val="solid"/>
          </a:ln>
        </p:spPr>
      </p:sp>
      <p:sp>
        <p:nvSpPr>
          <p:cNvPr id="9" name="">
            <a:extLst xmlns:a="http://schemas.openxmlformats.org/drawingml/2006/main">
              <a:ext uri="{FF2B5EF4-FFF2-40B4-BE49-F238E27FC236}">
                <a16:creationId xmlns:a16="http://schemas.microsoft.com/office/drawing/2014/main" id="{C5CB766B-1A2C-4576-A269-A3A1B49C8E5C}"/>
              </a:ext>
            </a:extLst>
          </p:cNvPr>
          <p:cNvSpPr>
            <a:spLocks xmlns:a="http://schemas.openxmlformats.org/drawingml/2006/main" noGrp="1"/>
          </p:cNvSpPr>
          <p:nvPr/>
        </p:nvSpPr>
        <p:spPr>
          <a:xfrm xmlns:a="http://schemas.openxmlformats.org/drawingml/2006/main">
            <a:off x="1352550" y="25717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B3E7A"/>
                </a:solidFill>
              </a:defRPr>
            </a:pPr>
            <a:r>
              <a:rPr sz="1875" b="1">
                <a:solidFill>
                  <a:srgbClr val="0B3E7A"/>
                </a:solidFill>
              </a:rPr>
              <a:t>React + Vite</a:t>
            </a:r>
          </a:p>
        </p:txBody>
      </p:sp>
      <p:sp>
        <p:nvSpPr>
          <p:cNvPr id="10" name="">
            <a:extLst xmlns:a="http://schemas.openxmlformats.org/drawingml/2006/main">
              <a:ext uri="{FF2B5EF4-FFF2-40B4-BE49-F238E27FC236}">
                <a16:creationId xmlns:a16="http://schemas.microsoft.com/office/drawing/2014/main" id="{8FD10EB8-27A4-47AC-94FD-C0D98E063C92}"/>
              </a:ext>
            </a:extLst>
          </p:cNvPr>
          <p:cNvSpPr>
            <a:spLocks xmlns:a="http://schemas.openxmlformats.org/drawingml/2006/main" noGrp="1"/>
          </p:cNvSpPr>
          <p:nvPr/>
        </p:nvSpPr>
        <p:spPr>
          <a:xfrm xmlns:a="http://schemas.openxmlformats.org/drawingml/2006/main">
            <a:off x="1352550" y="2990850"/>
            <a:ext cx="1885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:5173</a:t>
            </a:r>
          </a:p>
        </p:txBody>
      </p:sp>
      <p:sp>
        <p:nvSpPr>
          <p:cNvPr id="11" name="">
            <a:extLst xmlns:a="http://schemas.openxmlformats.org/drawingml/2006/main">
              <a:ext uri="{FF2B5EF4-FFF2-40B4-BE49-F238E27FC236}">
                <a16:creationId xmlns:a16="http://schemas.microsoft.com/office/drawing/2014/main" id="{FD9D466F-A8B0-4E92-9B7B-456E744030FE}"/>
              </a:ext>
            </a:extLst>
          </p:cNvPr>
          <p:cNvSpPr>
            <a:spLocks xmlns:a="http://schemas.openxmlformats.org/drawingml/2006/main" noGrp="1"/>
          </p:cNvSpPr>
          <p:nvPr/>
        </p:nvSpPr>
        <p:spPr>
          <a:xfrm xmlns:a="http://schemas.openxmlformats.org/drawingml/2006/main">
            <a:off x="4095750" y="2362200"/>
            <a:ext cx="2343150" cy="1123950"/>
          </a:xfrm>
          <a:prstGeom xmlns:a="http://schemas.openxmlformats.org/drawingml/2006/main" prst="roundRect">
            <a:avLst>
              <a:gd name="adj" fmla="val 16949"/>
            </a:avLst>
          </a:prstGeom>
          <a:solidFill xmlns:a="http://schemas.openxmlformats.org/drawingml/2006/main">
            <a:srgbClr val="F6DED6"/>
          </a:solidFill>
          <a:ln xmlns:a="http://schemas.openxmlformats.org/drawingml/2006/main" w="9525">
            <a:solidFill>
              <a:srgbClr val="F6DED6"/>
            </a:solidFill>
            <a:prstDash val="solid"/>
          </a:ln>
        </p:spPr>
      </p:sp>
      <p:sp>
        <p:nvSpPr>
          <p:cNvPr id="12" name="">
            <a:extLst xmlns:a="http://schemas.openxmlformats.org/drawingml/2006/main">
              <a:ext uri="{FF2B5EF4-FFF2-40B4-BE49-F238E27FC236}">
                <a16:creationId xmlns:a16="http://schemas.microsoft.com/office/drawing/2014/main" id="{0E2420C8-BF8D-4551-B745-891458926E78}"/>
              </a:ext>
            </a:extLst>
          </p:cNvPr>
          <p:cNvSpPr>
            <a:spLocks xmlns:a="http://schemas.openxmlformats.org/drawingml/2006/main" noGrp="1"/>
          </p:cNvSpPr>
          <p:nvPr/>
        </p:nvSpPr>
        <p:spPr>
          <a:xfrm xmlns:a="http://schemas.openxmlformats.org/drawingml/2006/main">
            <a:off x="4324350" y="2571750"/>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841F11"/>
                </a:solidFill>
              </a:defRPr>
            </a:pPr>
            <a:r>
              <a:rPr sz="1875" b="1">
                <a:solidFill>
                  <a:srgbClr val="841F11"/>
                </a:solidFill>
              </a:rPr>
              <a:t>Fastify API</a:t>
            </a:r>
          </a:p>
        </p:txBody>
      </p:sp>
      <p:sp>
        <p:nvSpPr>
          <p:cNvPr id="13" name="">
            <a:extLst xmlns:a="http://schemas.openxmlformats.org/drawingml/2006/main">
              <a:ext uri="{FF2B5EF4-FFF2-40B4-BE49-F238E27FC236}">
                <a16:creationId xmlns:a16="http://schemas.microsoft.com/office/drawing/2014/main" id="{3A2F0408-F07C-4675-8B06-0F0F47051D48}"/>
              </a:ext>
            </a:extLst>
          </p:cNvPr>
          <p:cNvSpPr>
            <a:spLocks xmlns:a="http://schemas.openxmlformats.org/drawingml/2006/main" noGrp="1"/>
          </p:cNvSpPr>
          <p:nvPr/>
        </p:nvSpPr>
        <p:spPr>
          <a:xfrm xmlns:a="http://schemas.openxmlformats.org/drawingml/2006/main">
            <a:off x="4324350" y="2990850"/>
            <a:ext cx="1885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:3000</a:t>
            </a:r>
          </a:p>
        </p:txBody>
      </p:sp>
      <p:sp>
        <p:nvSpPr>
          <p:cNvPr id="14" name="">
            <a:extLst xmlns:a="http://schemas.openxmlformats.org/drawingml/2006/main">
              <a:ext uri="{FF2B5EF4-FFF2-40B4-BE49-F238E27FC236}">
                <a16:creationId xmlns:a16="http://schemas.microsoft.com/office/drawing/2014/main" id="{411CFFD9-46CD-4E1B-9EF9-B615EA38708C}"/>
              </a:ext>
            </a:extLst>
          </p:cNvPr>
          <p:cNvSpPr>
            <a:spLocks xmlns:a="http://schemas.openxmlformats.org/drawingml/2006/main" noGrp="1"/>
          </p:cNvSpPr>
          <p:nvPr/>
        </p:nvSpPr>
        <p:spPr>
          <a:xfrm xmlns:a="http://schemas.openxmlformats.org/drawingml/2006/main">
            <a:off x="7067550" y="2076450"/>
            <a:ext cx="3943350" cy="2895600"/>
          </a:xfrm>
          <a:prstGeom xmlns:a="http://schemas.openxmlformats.org/drawingml/2006/main" prst="roundRect">
            <a:avLst>
              <a:gd name="adj" fmla="val 7237"/>
            </a:avLst>
          </a:prstGeom>
          <a:solidFill xmlns:a="http://schemas.openxmlformats.org/drawingml/2006/main">
            <a:srgbClr val="081A33"/>
          </a:solidFill>
          <a:ln xmlns:a="http://schemas.openxmlformats.org/drawingml/2006/main" w="9525">
            <a:solidFill>
              <a:srgbClr val="081A33"/>
            </a:solidFill>
            <a:prstDash val="solid"/>
          </a:ln>
        </p:spPr>
      </p:sp>
      <p:sp>
        <p:nvSpPr>
          <p:cNvPr id="15" name="">
            <a:extLst xmlns:a="http://schemas.openxmlformats.org/drawingml/2006/main">
              <a:ext uri="{FF2B5EF4-FFF2-40B4-BE49-F238E27FC236}">
                <a16:creationId xmlns:a16="http://schemas.microsoft.com/office/drawing/2014/main" id="{B674634E-B8C5-401D-8EEC-481D9C6B0F10}"/>
              </a:ext>
            </a:extLst>
          </p:cNvPr>
          <p:cNvSpPr>
            <a:spLocks xmlns:a="http://schemas.openxmlformats.org/drawingml/2006/main" noGrp="1"/>
          </p:cNvSpPr>
          <p:nvPr/>
        </p:nvSpPr>
        <p:spPr>
          <a:xfrm xmlns:a="http://schemas.openxmlformats.org/drawingml/2006/main">
            <a:off x="7334250" y="22860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0A202"/>
                </a:solidFill>
              </a:defRPr>
            </a:pPr>
            <a:r>
              <a:rPr sz="1050" b="1">
                <a:solidFill>
                  <a:srgbClr val="F0A202"/>
                </a:solidFill>
              </a:rPr>
              <a:t>DOCKER COMPOSE</a:t>
            </a:r>
          </a:p>
        </p:txBody>
      </p:sp>
      <p:sp>
        <p:nvSpPr>
          <p:cNvPr id="16" name="">
            <a:extLst xmlns:a="http://schemas.openxmlformats.org/drawingml/2006/main">
              <a:ext uri="{FF2B5EF4-FFF2-40B4-BE49-F238E27FC236}">
                <a16:creationId xmlns:a16="http://schemas.microsoft.com/office/drawing/2014/main" id="{329AD821-2523-429A-859F-3E1D57C9A228}"/>
              </a:ext>
            </a:extLst>
          </p:cNvPr>
          <p:cNvSpPr>
            <a:spLocks xmlns:a="http://schemas.openxmlformats.org/drawingml/2006/main" noGrp="1"/>
          </p:cNvSpPr>
          <p:nvPr/>
        </p:nvSpPr>
        <p:spPr>
          <a:xfrm xmlns:a="http://schemas.openxmlformats.org/drawingml/2006/main">
            <a:off x="7372350" y="2857500"/>
            <a:ext cx="1485900" cy="819150"/>
          </a:xfrm>
          <a:prstGeom xmlns:a="http://schemas.openxmlformats.org/drawingml/2006/main" prst="roundRect">
            <a:avLst>
              <a:gd name="adj" fmla="val 18605"/>
            </a:avLst>
          </a:prstGeom>
          <a:solidFill xmlns:a="http://schemas.openxmlformats.org/drawingml/2006/main">
            <a:srgbClr val="0B3E7A"/>
          </a:solidFill>
          <a:ln xmlns:a="http://schemas.openxmlformats.org/drawingml/2006/main" w="9525">
            <a:solidFill>
              <a:srgbClr val="0B3E7A"/>
            </a:solidFill>
            <a:prstDash val="solid"/>
          </a:ln>
        </p:spPr>
      </p:sp>
      <p:sp>
        <p:nvSpPr>
          <p:cNvPr id="17" name="">
            <a:extLst xmlns:a="http://schemas.openxmlformats.org/drawingml/2006/main">
              <a:ext uri="{FF2B5EF4-FFF2-40B4-BE49-F238E27FC236}">
                <a16:creationId xmlns:a16="http://schemas.microsoft.com/office/drawing/2014/main" id="{1C14976C-4F23-4C04-8432-53CEB413D28F}"/>
              </a:ext>
            </a:extLst>
          </p:cNvPr>
          <p:cNvSpPr>
            <a:spLocks xmlns:a="http://schemas.openxmlformats.org/drawingml/2006/main" noGrp="1"/>
          </p:cNvSpPr>
          <p:nvPr/>
        </p:nvSpPr>
        <p:spPr>
          <a:xfrm xmlns:a="http://schemas.openxmlformats.org/drawingml/2006/main">
            <a:off x="7524750" y="29908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PostgreSQL</a:t>
            </a:r>
          </a:p>
          <a:p xmlns:a="http://schemas.openxmlformats.org/drawingml/2006/main">
            <a:pPr algn="ctr">
              <a:defRPr sz="1350" b="1">
                <a:solidFill>
                  <a:srgbClr val="FFFFFF"/>
                </a:solidFill>
              </a:defRPr>
            </a:pPr>
            <a:r>
              <a:rPr sz="1350" b="1">
                <a:solidFill>
                  <a:srgbClr val="FFFFFF"/>
                </a:solidFill>
              </a:rPr>
              <a:t>:5432</a:t>
            </a:r>
          </a:p>
        </p:txBody>
      </p:sp>
      <p:sp>
        <p:nvSpPr>
          <p:cNvPr id="18" name="">
            <a:extLst xmlns:a="http://schemas.openxmlformats.org/drawingml/2006/main">
              <a:ext uri="{FF2B5EF4-FFF2-40B4-BE49-F238E27FC236}">
                <a16:creationId xmlns:a16="http://schemas.microsoft.com/office/drawing/2014/main" id="{A999982E-CEE3-4EBA-B304-5F4418FB742A}"/>
              </a:ext>
            </a:extLst>
          </p:cNvPr>
          <p:cNvSpPr>
            <a:spLocks xmlns:a="http://schemas.openxmlformats.org/drawingml/2006/main" noGrp="1"/>
          </p:cNvSpPr>
          <p:nvPr/>
        </p:nvSpPr>
        <p:spPr>
          <a:xfrm xmlns:a="http://schemas.openxmlformats.org/drawingml/2006/main">
            <a:off x="9220200" y="2857500"/>
            <a:ext cx="1485900" cy="819150"/>
          </a:xfrm>
          <a:prstGeom xmlns:a="http://schemas.openxmlformats.org/drawingml/2006/main" prst="roundRect">
            <a:avLst>
              <a:gd name="adj" fmla="val 18605"/>
            </a:avLst>
          </a:prstGeom>
          <a:solidFill xmlns:a="http://schemas.openxmlformats.org/drawingml/2006/main">
            <a:srgbClr val="F0A202"/>
          </a:solidFill>
          <a:ln xmlns:a="http://schemas.openxmlformats.org/drawingml/2006/main" w="9525">
            <a:solidFill>
              <a:srgbClr val="F0A202"/>
            </a:solidFill>
            <a:prstDash val="solid"/>
          </a:ln>
        </p:spPr>
      </p:sp>
      <p:sp>
        <p:nvSpPr>
          <p:cNvPr id="19" name="">
            <a:extLst xmlns:a="http://schemas.openxmlformats.org/drawingml/2006/main">
              <a:ext uri="{FF2B5EF4-FFF2-40B4-BE49-F238E27FC236}">
                <a16:creationId xmlns:a16="http://schemas.microsoft.com/office/drawing/2014/main" id="{D196CDA2-9122-4418-8C57-9FAD005CEBA2}"/>
              </a:ext>
            </a:extLst>
          </p:cNvPr>
          <p:cNvSpPr>
            <a:spLocks xmlns:a="http://schemas.openxmlformats.org/drawingml/2006/main" noGrp="1"/>
          </p:cNvSpPr>
          <p:nvPr/>
        </p:nvSpPr>
        <p:spPr>
          <a:xfrm xmlns:a="http://schemas.openxmlformats.org/drawingml/2006/main">
            <a:off x="9372600" y="29908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01A16"/>
                </a:solidFill>
              </a:defRPr>
            </a:pPr>
            <a:r>
              <a:rPr sz="1350" b="1">
                <a:solidFill>
                  <a:srgbClr val="201A16"/>
                </a:solidFill>
              </a:rPr>
              <a:t>Mailpit</a:t>
            </a:r>
          </a:p>
          <a:p xmlns:a="http://schemas.openxmlformats.org/drawingml/2006/main">
            <a:pPr algn="ctr">
              <a:defRPr sz="1350" b="1">
                <a:solidFill>
                  <a:srgbClr val="201A16"/>
                </a:solidFill>
              </a:defRPr>
            </a:pPr>
            <a:r>
              <a:rPr sz="1350" b="1">
                <a:solidFill>
                  <a:srgbClr val="201A16"/>
                </a:solidFill>
              </a:rPr>
              <a:t>:8025</a:t>
            </a:r>
          </a:p>
        </p:txBody>
      </p:sp>
      <p:sp>
        <p:nvSpPr>
          <p:cNvPr id="20" name="">
            <a:extLst xmlns:a="http://schemas.openxmlformats.org/drawingml/2006/main">
              <a:ext uri="{FF2B5EF4-FFF2-40B4-BE49-F238E27FC236}">
                <a16:creationId xmlns:a16="http://schemas.microsoft.com/office/drawing/2014/main" id="{D2C14C8D-87FE-4197-BA2E-84F305CFEC74}"/>
              </a:ext>
            </a:extLst>
          </p:cNvPr>
          <p:cNvSpPr>
            <a:spLocks xmlns:a="http://schemas.openxmlformats.org/drawingml/2006/main" noGrp="1"/>
          </p:cNvSpPr>
          <p:nvPr/>
        </p:nvSpPr>
        <p:spPr>
          <a:xfrm xmlns:a="http://schemas.openxmlformats.org/drawingml/2006/main">
            <a:off x="8286750" y="3962400"/>
            <a:ext cx="1485900" cy="819150"/>
          </a:xfrm>
          <a:prstGeom xmlns:a="http://schemas.openxmlformats.org/drawingml/2006/main" prst="roundRect">
            <a:avLst>
              <a:gd name="adj" fmla="val 18605"/>
            </a:avLst>
          </a:prstGeom>
          <a:solidFill xmlns:a="http://schemas.openxmlformats.org/drawingml/2006/main">
            <a:srgbClr val="C23B22"/>
          </a:solidFill>
          <a:ln xmlns:a="http://schemas.openxmlformats.org/drawingml/2006/main" w="9525">
            <a:solidFill>
              <a:srgbClr val="C23B22"/>
            </a:solidFill>
            <a:prstDash val="solid"/>
          </a:ln>
        </p:spPr>
      </p:sp>
      <p:sp>
        <p:nvSpPr>
          <p:cNvPr id="21" name="">
            <a:extLst xmlns:a="http://schemas.openxmlformats.org/drawingml/2006/main">
              <a:ext uri="{FF2B5EF4-FFF2-40B4-BE49-F238E27FC236}">
                <a16:creationId xmlns:a16="http://schemas.microsoft.com/office/drawing/2014/main" id="{515518E3-B215-4B46-876D-A0032326A4DC}"/>
              </a:ext>
            </a:extLst>
          </p:cNvPr>
          <p:cNvSpPr>
            <a:spLocks xmlns:a="http://schemas.openxmlformats.org/drawingml/2006/main" noGrp="1"/>
          </p:cNvSpPr>
          <p:nvPr/>
        </p:nvSpPr>
        <p:spPr>
          <a:xfrm xmlns:a="http://schemas.openxmlformats.org/drawingml/2006/main">
            <a:off x="8439150" y="40957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MinIO</a:t>
            </a:r>
          </a:p>
          <a:p xmlns:a="http://schemas.openxmlformats.org/drawingml/2006/main">
            <a:pPr algn="ctr">
              <a:defRPr sz="1350" b="1">
                <a:solidFill>
                  <a:srgbClr val="FFFFFF"/>
                </a:solidFill>
              </a:defRPr>
            </a:pPr>
            <a:r>
              <a:rPr sz="1350" b="1">
                <a:solidFill>
                  <a:srgbClr val="FFFFFF"/>
                </a:solidFill>
              </a:rPr>
              <a:t>:9000</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3467100" y="2924175"/>
            <a:ext cx="62865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8" name=""/>
          <p:cNvCxnSpPr>
            <a:stCxn xmlns:a="http://schemas.openxmlformats.org/drawingml/2006/main" id="11" idx="3"/>
            <a:endCxn xmlns:a="http://schemas.openxmlformats.org/drawingml/2006/main" id="16" idx="1"/>
          </p:cNvCxnSpPr>
          <p:nvPr/>
        </p:nvCxnSpPr>
        <p:spPr>
          <a:xfrm xmlns:a="http://schemas.openxmlformats.org/drawingml/2006/main">
            <a:off x="6438900" y="2924175"/>
            <a:ext cx="933450" cy="342900"/>
          </a:xfrm>
          <a:prstGeom xmlns:a="http://schemas.openxmlformats.org/drawingml/2006/main" prst="bentConnector3">
            <a:avLst>
              <a:gd name="adj1" fmla="val 50000"/>
            </a:avLst>
          </a:prstGeom>
          <a:ln xmlns:a="http://schemas.openxmlformats.org/drawingml/2006/main" w="19050">
            <a:solidFill>
              <a:srgbClr val="CBBFAF"/>
            </a:solidFill>
            <a:prstDash val="solid"/>
            <a:tailEnd type="triangle" w="sm" len="sm"/>
          </a:ln>
        </p:spPr>
      </p:cxnSp>
      <p:cxnSp>
        <p:nvCxnSpPr>
          <p:cNvPr id="49" name=""/>
          <p:cNvCxnSpPr>
            <a:stCxn xmlns:a="http://schemas.openxmlformats.org/drawingml/2006/main" id="11" idx="3"/>
            <a:endCxn xmlns:a="http://schemas.openxmlformats.org/drawingml/2006/main" id="18" idx="1"/>
          </p:cNvCxnSpPr>
          <p:nvPr/>
        </p:nvCxnSpPr>
        <p:spPr>
          <a:xfrm xmlns:a="http://schemas.openxmlformats.org/drawingml/2006/main">
            <a:off x="6438900" y="2924175"/>
            <a:ext cx="2781300" cy="342900"/>
          </a:xfrm>
          <a:prstGeom xmlns:a="http://schemas.openxmlformats.org/drawingml/2006/main" prst="bentConnector3">
            <a:avLst>
              <a:gd name="adj1" fmla="val 50000"/>
            </a:avLst>
          </a:prstGeom>
          <a:ln xmlns:a="http://schemas.openxmlformats.org/drawingml/2006/main" w="19050">
            <a:solidFill>
              <a:srgbClr val="CBBFAF"/>
            </a:solidFill>
            <a:prstDash val="solid"/>
            <a:tailEnd type="triangle" w="sm" len="sm"/>
          </a:ln>
        </p:spPr>
      </p:cxnSp>
      <p:cxnSp>
        <p:nvCxnSpPr>
          <p:cNvPr id="50" name=""/>
          <p:cNvCxnSpPr>
            <a:stCxn xmlns:a="http://schemas.openxmlformats.org/drawingml/2006/main" id="11" idx="3"/>
            <a:endCxn xmlns:a="http://schemas.openxmlformats.org/drawingml/2006/main" id="20" idx="1"/>
          </p:cNvCxnSpPr>
          <p:nvPr/>
        </p:nvCxnSpPr>
        <p:spPr>
          <a:xfrm xmlns:a="http://schemas.openxmlformats.org/drawingml/2006/main">
            <a:off x="6438900" y="2924175"/>
            <a:ext cx="1847850" cy="1447800"/>
          </a:xfrm>
          <a:prstGeom xmlns:a="http://schemas.openxmlformats.org/drawingml/2006/main" prst="bentConnector3">
            <a:avLst>
              <a:gd name="adj1" fmla="val 50000"/>
            </a:avLst>
          </a:prstGeom>
          <a:ln xmlns:a="http://schemas.openxmlformats.org/drawingml/2006/main" w="19050">
            <a:solidFill>
              <a:srgbClr val="CBBFAF"/>
            </a:solidFill>
            <a:prstDash val="solid"/>
            <a:tailEnd type="triangle" w="sm" len="sm"/>
          </a:ln>
        </p:spPr>
      </p:cxnSp>
    </p:spTree>
    <p:extLst>
      <p:ext uri="{BB962C8B-B14F-4D97-AF65-F5344CB8AC3E}">
        <p14:creationId xmlns:p14="http://schemas.microsoft.com/office/powerpoint/2010/main" val="794250871"/>
      </p:ext>
    </p:extLst>
  </p:cSld>
</p:sld>
</file>

<file path=ppt/slides/slide2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7941B3-1AB3-4D7A-B9AC-A269CE2A31BE}"/>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8F9717D5-BEA3-401F-BDA8-5DF6E7F0C6A1}"/>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Cấu hình PostgreSQL trong Docker Compose</a:t>
            </a:r>
          </a:p>
        </p:txBody>
      </p:sp>
      <p:sp>
        <p:nvSpPr>
          <p:cNvPr id="3" name="">
            <a:extLst xmlns:a="http://schemas.openxmlformats.org/drawingml/2006/main">
              <a:ext uri="{FF2B5EF4-FFF2-40B4-BE49-F238E27FC236}">
                <a16:creationId xmlns:a16="http://schemas.microsoft.com/office/drawing/2014/main" id="{3B1BFE2A-D862-439C-A99D-78E375054502}"/>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E20BD289-13C2-42A6-AF26-664F959B3E19}"/>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339D7914-307E-4AAE-9727-1F425FFF94A0}"/>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22</a:t>
            </a:r>
          </a:p>
        </p:txBody>
      </p:sp>
      <p:sp>
        <p:nvSpPr>
          <p:cNvPr id="6" name="">
            <a:extLst xmlns:a="http://schemas.openxmlformats.org/drawingml/2006/main">
              <a:ext uri="{FF2B5EF4-FFF2-40B4-BE49-F238E27FC236}">
                <a16:creationId xmlns:a16="http://schemas.microsoft.com/office/drawing/2014/main" id="{C5F61B35-E2BF-4FDA-ADEB-C24C2638ACB3}"/>
              </a:ext>
            </a:extLst>
          </p:cNvPr>
          <p:cNvSpPr>
            <a:spLocks xmlns:a="http://schemas.openxmlformats.org/drawingml/2006/main" noGrp="1"/>
          </p:cNvSpPr>
          <p:nvPr/>
        </p:nvSpPr>
        <p:spPr>
          <a:xfrm xmlns:a="http://schemas.openxmlformats.org/drawingml/2006/main">
            <a:off x="685800" y="1619250"/>
            <a:ext cx="6191250" cy="4000500"/>
          </a:xfrm>
          <a:prstGeom xmlns:a="http://schemas.openxmlformats.org/drawingml/2006/main" prst="roundRect">
            <a:avLst>
              <a:gd name="adj" fmla="val 4286"/>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841900F5-BBA0-49F0-A2CB-B654D78CE455}"/>
              </a:ext>
            </a:extLst>
          </p:cNvPr>
          <p:cNvSpPr>
            <a:spLocks xmlns:a="http://schemas.openxmlformats.org/drawingml/2006/main" noGrp="1"/>
          </p:cNvSpPr>
          <p:nvPr/>
        </p:nvSpPr>
        <p:spPr>
          <a:xfrm xmlns:a="http://schemas.openxmlformats.org/drawingml/2006/main">
            <a:off x="895350" y="1771650"/>
            <a:ext cx="577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CODE HIỆN CÓ • compose.yaml</a:t>
            </a:r>
          </a:p>
        </p:txBody>
      </p:sp>
      <p:sp>
        <p:nvSpPr>
          <p:cNvPr id="8" name="">
            <a:extLst xmlns:a="http://schemas.openxmlformats.org/drawingml/2006/main">
              <a:ext uri="{FF2B5EF4-FFF2-40B4-BE49-F238E27FC236}">
                <a16:creationId xmlns:a16="http://schemas.microsoft.com/office/drawing/2014/main" id="{F06FD811-BE20-4088-8B61-6E54DC8A986C}"/>
              </a:ext>
            </a:extLst>
          </p:cNvPr>
          <p:cNvSpPr>
            <a:spLocks xmlns:a="http://schemas.openxmlformats.org/drawingml/2006/main" noGrp="1"/>
          </p:cNvSpPr>
          <p:nvPr/>
        </p:nvSpPr>
        <p:spPr>
          <a:xfrm xmlns:a="http://schemas.openxmlformats.org/drawingml/2006/main">
            <a:off x="895350" y="2057400"/>
            <a:ext cx="5772150" cy="3448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services:</a:t>
            </a:r>
          </a:p>
          <a:p xmlns:a="http://schemas.openxmlformats.org/drawingml/2006/main">
            <a:pPr algn="l">
              <a:defRPr sz="1350" b="0">
                <a:solidFill>
                  <a:srgbClr val="E8EEF7"/>
                </a:solidFill>
              </a:defRPr>
            </a:pPr>
            <a:r>
              <a:rPr sz="1350" b="0">
                <a:solidFill>
                  <a:srgbClr val="E8EEF7"/>
                </a:solidFill>
              </a:rPr>
              <a:t>  postgres:</a:t>
            </a:r>
          </a:p>
          <a:p xmlns:a="http://schemas.openxmlformats.org/drawingml/2006/main">
            <a:pPr algn="l">
              <a:defRPr sz="1350" b="0">
                <a:solidFill>
                  <a:srgbClr val="E8EEF7"/>
                </a:solidFill>
              </a:defRPr>
            </a:pPr>
            <a:r>
              <a:rPr sz="1350" b="0">
                <a:solidFill>
                  <a:srgbClr val="E8EEF7"/>
                </a:solidFill>
              </a:rPr>
              <a:t>    image: postgres:17-alpine</a:t>
            </a:r>
          </a:p>
          <a:p xmlns:a="http://schemas.openxmlformats.org/drawingml/2006/main">
            <a:pPr algn="l">
              <a:defRPr sz="1350" b="0">
                <a:solidFill>
                  <a:srgbClr val="E8EEF7"/>
                </a:solidFill>
              </a:defRPr>
            </a:pPr>
            <a:r>
              <a:rPr sz="1350" b="0">
                <a:solidFill>
                  <a:srgbClr val="E8EEF7"/>
                </a:solidFill>
              </a:rPr>
              <a:t>    ports:</a:t>
            </a:r>
          </a:p>
          <a:p xmlns:a="http://schemas.openxmlformats.org/drawingml/2006/main">
            <a:pPr algn="l">
              <a:defRPr sz="1350" b="0">
                <a:solidFill>
                  <a:srgbClr val="E8EEF7"/>
                </a:solidFill>
              </a:defRPr>
            </a:pPr>
            <a:r>
              <a:rPr sz="1350" b="0">
                <a:solidFill>
                  <a:srgbClr val="E8EEF7"/>
                </a:solidFill>
              </a:rPr>
              <a:t>      - "127.0.0.1:5432:5432"</a:t>
            </a:r>
          </a:p>
          <a:p xmlns:a="http://schemas.openxmlformats.org/drawingml/2006/main">
            <a:pPr algn="l">
              <a:defRPr sz="1350" b="0">
                <a:solidFill>
                  <a:srgbClr val="E8EEF7"/>
                </a:solidFill>
              </a:defRPr>
            </a:pPr>
            <a:r>
              <a:rPr sz="1350" b="0">
                <a:solidFill>
                  <a:srgbClr val="E8EEF7"/>
                </a:solidFill>
              </a:rPr>
              <a:t>    volumes:</a:t>
            </a:r>
          </a:p>
          <a:p xmlns:a="http://schemas.openxmlformats.org/drawingml/2006/main">
            <a:pPr algn="l">
              <a:defRPr sz="1350" b="0">
                <a:solidFill>
                  <a:srgbClr val="E8EEF7"/>
                </a:solidFill>
              </a:defRPr>
            </a:pPr>
            <a:r>
              <a:rPr sz="1350" b="0">
                <a:solidFill>
                  <a:srgbClr val="E8EEF7"/>
                </a:solidFill>
              </a:rPr>
              <a:t>      - postgres_data:/var/lib/postgresql/data</a:t>
            </a:r>
          </a:p>
        </p:txBody>
      </p:sp>
      <p:sp>
        <p:nvSpPr>
          <p:cNvPr id="9" name="">
            <a:extLst xmlns:a="http://schemas.openxmlformats.org/drawingml/2006/main">
              <a:ext uri="{FF2B5EF4-FFF2-40B4-BE49-F238E27FC236}">
                <a16:creationId xmlns:a16="http://schemas.microsoft.com/office/drawing/2014/main" id="{96B42B08-FB38-4FB3-91C7-49FA0B654F6B}"/>
              </a:ext>
            </a:extLst>
          </p:cNvPr>
          <p:cNvSpPr>
            <a:spLocks xmlns:a="http://schemas.openxmlformats.org/drawingml/2006/main" noGrp="1"/>
          </p:cNvSpPr>
          <p:nvPr/>
        </p:nvSpPr>
        <p:spPr>
          <a:xfrm xmlns:a="http://schemas.openxmlformats.org/drawingml/2006/main">
            <a:off x="7486650" y="18097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568C9"/>
                </a:solidFill>
              </a:defRPr>
            </a:pPr>
            <a:r>
              <a:rPr sz="2025" b="1">
                <a:solidFill>
                  <a:srgbClr val="1568C9"/>
                </a:solidFill>
              </a:rPr>
              <a:t>image</a:t>
            </a:r>
          </a:p>
        </p:txBody>
      </p:sp>
      <p:sp>
        <p:nvSpPr>
          <p:cNvPr id="10" name="">
            <a:extLst xmlns:a="http://schemas.openxmlformats.org/drawingml/2006/main">
              <a:ext uri="{FF2B5EF4-FFF2-40B4-BE49-F238E27FC236}">
                <a16:creationId xmlns:a16="http://schemas.microsoft.com/office/drawing/2014/main" id="{32D40B6A-F702-4A68-B82B-7396D4BB785B}"/>
              </a:ext>
            </a:extLst>
          </p:cNvPr>
          <p:cNvSpPr>
            <a:spLocks xmlns:a="http://schemas.openxmlformats.org/drawingml/2006/main" noGrp="1"/>
          </p:cNvSpPr>
          <p:nvPr/>
        </p:nvSpPr>
        <p:spPr>
          <a:xfrm xmlns:a="http://schemas.openxmlformats.org/drawingml/2006/main">
            <a:off x="8972550" y="18097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Phiên bản môi trường</a:t>
            </a:r>
          </a:p>
        </p:txBody>
      </p:sp>
      <p:sp>
        <p:nvSpPr>
          <p:cNvPr id="11" name="">
            <a:extLst xmlns:a="http://schemas.openxmlformats.org/drawingml/2006/main">
              <a:ext uri="{FF2B5EF4-FFF2-40B4-BE49-F238E27FC236}">
                <a16:creationId xmlns:a16="http://schemas.microsoft.com/office/drawing/2014/main" id="{6ECF44D3-6173-417C-AEDB-E15DD62AE809}"/>
              </a:ext>
            </a:extLst>
          </p:cNvPr>
          <p:cNvSpPr>
            <a:spLocks xmlns:a="http://schemas.openxmlformats.org/drawingml/2006/main" noGrp="1"/>
          </p:cNvSpPr>
          <p:nvPr/>
        </p:nvSpPr>
        <p:spPr>
          <a:xfrm xmlns:a="http://schemas.openxmlformats.org/drawingml/2006/main">
            <a:off x="7486650" y="270510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23B22"/>
                </a:solidFill>
              </a:defRPr>
            </a:pPr>
            <a:r>
              <a:rPr sz="2025" b="1">
                <a:solidFill>
                  <a:srgbClr val="C23B22"/>
                </a:solidFill>
              </a:rPr>
              <a:t>ports</a:t>
            </a:r>
          </a:p>
        </p:txBody>
      </p:sp>
      <p:sp>
        <p:nvSpPr>
          <p:cNvPr id="12" name="">
            <a:extLst xmlns:a="http://schemas.openxmlformats.org/drawingml/2006/main">
              <a:ext uri="{FF2B5EF4-FFF2-40B4-BE49-F238E27FC236}">
                <a16:creationId xmlns:a16="http://schemas.microsoft.com/office/drawing/2014/main" id="{2400D958-4FD8-4388-9BEB-DE7BF1A6E323}"/>
              </a:ext>
            </a:extLst>
          </p:cNvPr>
          <p:cNvSpPr>
            <a:spLocks xmlns:a="http://schemas.openxmlformats.org/drawingml/2006/main" noGrp="1"/>
          </p:cNvSpPr>
          <p:nvPr/>
        </p:nvSpPr>
        <p:spPr>
          <a:xfrm xmlns:a="http://schemas.openxmlformats.org/drawingml/2006/main">
            <a:off x="8972550" y="27051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B5F55"/>
                </a:solidFill>
              </a:defRPr>
            </a:pPr>
            <a:r>
              <a:rPr sz="1500" b="0">
                <a:solidFill>
                  <a:srgbClr val="6B5F55"/>
                </a:solidFill>
              </a:rPr>
              <a:t>Cầu nối vào container</a:t>
            </a:r>
          </a:p>
        </p:txBody>
      </p:sp>
      <p:sp>
        <p:nvSpPr>
          <p:cNvPr id="13" name="">
            <a:extLst xmlns:a="http://schemas.openxmlformats.org/drawingml/2006/main">
              <a:ext uri="{FF2B5EF4-FFF2-40B4-BE49-F238E27FC236}">
                <a16:creationId xmlns:a16="http://schemas.microsoft.com/office/drawing/2014/main" id="{52B78675-A81D-4E42-8E0C-40F7D74DD388}"/>
              </a:ext>
            </a:extLst>
          </p:cNvPr>
          <p:cNvSpPr>
            <a:spLocks xmlns:a="http://schemas.openxmlformats.org/drawingml/2006/main" noGrp="1"/>
          </p:cNvSpPr>
          <p:nvPr/>
        </p:nvSpPr>
        <p:spPr>
          <a:xfrm xmlns:a="http://schemas.openxmlformats.org/drawingml/2006/main">
            <a:off x="7486650" y="37528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0A202"/>
                </a:solidFill>
              </a:defRPr>
            </a:pPr>
            <a:r>
              <a:rPr sz="2025" b="1">
                <a:solidFill>
                  <a:srgbClr val="F0A202"/>
                </a:solidFill>
              </a:rPr>
              <a:t>volume</a:t>
            </a:r>
          </a:p>
        </p:txBody>
      </p:sp>
      <p:sp>
        <p:nvSpPr>
          <p:cNvPr id="14" name="">
            <a:extLst xmlns:a="http://schemas.openxmlformats.org/drawingml/2006/main">
              <a:ext uri="{FF2B5EF4-FFF2-40B4-BE49-F238E27FC236}">
                <a16:creationId xmlns:a16="http://schemas.microsoft.com/office/drawing/2014/main" id="{C72635DD-E7D1-4407-84F3-CE042CC41087}"/>
              </a:ext>
            </a:extLst>
          </p:cNvPr>
          <p:cNvSpPr>
            <a:spLocks xmlns:a="http://schemas.openxmlformats.org/drawingml/2006/main" noGrp="1"/>
          </p:cNvSpPr>
          <p:nvPr/>
        </p:nvSpPr>
        <p:spPr>
          <a:xfrm xmlns:a="http://schemas.openxmlformats.org/drawingml/2006/main">
            <a:off x="8972550" y="37528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B5F55"/>
                </a:solidFill>
              </a:defRPr>
            </a:pPr>
            <a:r>
              <a:rPr sz="1500" b="0">
                <a:solidFill>
                  <a:srgbClr val="6B5F55"/>
                </a:solidFill>
              </a:rPr>
              <a:t>Giữ dữ liệu khi container tắt</a:t>
            </a:r>
          </a:p>
        </p:txBody>
      </p:sp>
      <p:sp>
        <p:nvSpPr>
          <p:cNvPr id="15" name="">
            <a:extLst xmlns:a="http://schemas.openxmlformats.org/drawingml/2006/main">
              <a:ext uri="{FF2B5EF4-FFF2-40B4-BE49-F238E27FC236}">
                <a16:creationId xmlns:a16="http://schemas.microsoft.com/office/drawing/2014/main" id="{562965D8-505F-488C-94C2-4D9EFDB832C9}"/>
              </a:ext>
            </a:extLst>
          </p:cNvPr>
          <p:cNvSpPr>
            <a:spLocks xmlns:a="http://schemas.openxmlformats.org/drawingml/2006/main" noGrp="1"/>
          </p:cNvSpPr>
          <p:nvPr/>
        </p:nvSpPr>
        <p:spPr>
          <a:xfrm xmlns:a="http://schemas.openxmlformats.org/drawingml/2006/main">
            <a:off x="7486650" y="4762500"/>
            <a:ext cx="3676650" cy="857250"/>
          </a:xfrm>
          <a:prstGeom xmlns:a="http://schemas.openxmlformats.org/drawingml/2006/main" prst="roundRect">
            <a:avLst>
              <a:gd name="adj" fmla="val 20000"/>
            </a:avLst>
          </a:prstGeom>
          <a:solidFill xmlns:a="http://schemas.openxmlformats.org/drawingml/2006/main">
            <a:srgbClr val="F1ECE5"/>
          </a:solidFill>
          <a:ln xmlns:a="http://schemas.openxmlformats.org/drawingml/2006/main" w="9525">
            <a:solidFill>
              <a:srgbClr val="F1ECE5"/>
            </a:solidFill>
            <a:prstDash val="solid"/>
          </a:ln>
        </p:spPr>
      </p:sp>
      <p:sp>
        <p:nvSpPr>
          <p:cNvPr id="16" name="">
            <a:extLst xmlns:a="http://schemas.openxmlformats.org/drawingml/2006/main">
              <a:ext uri="{FF2B5EF4-FFF2-40B4-BE49-F238E27FC236}">
                <a16:creationId xmlns:a16="http://schemas.microsoft.com/office/drawing/2014/main" id="{1D7B2195-CF21-429E-9C65-2B69892880B9}"/>
              </a:ext>
            </a:extLst>
          </p:cNvPr>
          <p:cNvSpPr>
            <a:spLocks xmlns:a="http://schemas.openxmlformats.org/drawingml/2006/main" noGrp="1"/>
          </p:cNvSpPr>
          <p:nvPr/>
        </p:nvSpPr>
        <p:spPr>
          <a:xfrm xmlns:a="http://schemas.openxmlformats.org/drawingml/2006/main">
            <a:off x="7715250" y="4914900"/>
            <a:ext cx="3219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01A16"/>
                </a:solidFill>
              </a:defRPr>
            </a:pPr>
            <a:r>
              <a:rPr sz="1575" b="1">
                <a:solidFill>
                  <a:srgbClr val="201A16"/>
                </a:solidFill>
              </a:rPr>
              <a:t>pnpm infra:up  →  bật hạ tầng</a:t>
            </a:r>
          </a:p>
        </p:txBody>
      </p:sp>
    </p:spTree>
    <p:extLst>
      <p:ext uri="{BB962C8B-B14F-4D97-AF65-F5344CB8AC3E}">
        <p14:creationId xmlns:p14="http://schemas.microsoft.com/office/powerpoint/2010/main" val="1993428803"/>
      </p:ext>
    </p:extLst>
  </p:cSld>
</p:sld>
</file>

<file path=ppt/slides/slide2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1949DE9-DC41-4B1C-A13D-169EB764E487}"/>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FB44B48-9C26-4A22-9D64-FA874D2FF4DF}"/>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Quy trình chạy dự án trên máy local</a:t>
            </a:r>
          </a:p>
        </p:txBody>
      </p:sp>
      <p:sp>
        <p:nvSpPr>
          <p:cNvPr id="3" name="">
            <a:extLst xmlns:a="http://schemas.openxmlformats.org/drawingml/2006/main">
              <a:ext uri="{FF2B5EF4-FFF2-40B4-BE49-F238E27FC236}">
                <a16:creationId xmlns:a16="http://schemas.microsoft.com/office/drawing/2014/main" id="{CBDEEE66-908C-4734-B0DD-4DE63F86BF7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41FF1664-5128-44D9-8C64-18B7728FCA09}"/>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4D35D3D9-71B8-4D69-BD67-45D60767476F}"/>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23</a:t>
            </a:r>
          </a:p>
        </p:txBody>
      </p:sp>
      <p:sp>
        <p:nvSpPr>
          <p:cNvPr id="6" name="">
            <a:extLst xmlns:a="http://schemas.openxmlformats.org/drawingml/2006/main">
              <a:ext uri="{FF2B5EF4-FFF2-40B4-BE49-F238E27FC236}">
                <a16:creationId xmlns:a16="http://schemas.microsoft.com/office/drawing/2014/main" id="{FBE61FAF-EA51-41F7-BE2F-8AF1774984DB}"/>
              </a:ext>
            </a:extLst>
          </p:cNvPr>
          <p:cNvSpPr>
            <a:spLocks xmlns:a="http://schemas.openxmlformats.org/drawingml/2006/main" noGrp="1"/>
          </p:cNvSpPr>
          <p:nvPr/>
        </p:nvSpPr>
        <p:spPr>
          <a:xfrm xmlns:a="http://schemas.openxmlformats.org/drawingml/2006/main">
            <a:off x="685800" y="1657350"/>
            <a:ext cx="5429250" cy="3238500"/>
          </a:xfrm>
          <a:prstGeom xmlns:a="http://schemas.openxmlformats.org/drawingml/2006/main" prst="roundRect">
            <a:avLst>
              <a:gd name="adj" fmla="val 5294"/>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86F38902-ACAF-4BF0-BC89-13E6A0F0366C}"/>
              </a:ext>
            </a:extLst>
          </p:cNvPr>
          <p:cNvSpPr>
            <a:spLocks xmlns:a="http://schemas.openxmlformats.org/drawingml/2006/main" noGrp="1"/>
          </p:cNvSpPr>
          <p:nvPr/>
        </p:nvSpPr>
        <p:spPr>
          <a:xfrm xmlns:a="http://schemas.openxmlformats.org/drawingml/2006/main">
            <a:off x="895350" y="1809750"/>
            <a:ext cx="501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CÀI LẦN ĐẦU</a:t>
            </a:r>
          </a:p>
        </p:txBody>
      </p:sp>
      <p:sp>
        <p:nvSpPr>
          <p:cNvPr id="8" name="">
            <a:extLst xmlns:a="http://schemas.openxmlformats.org/drawingml/2006/main">
              <a:ext uri="{FF2B5EF4-FFF2-40B4-BE49-F238E27FC236}">
                <a16:creationId xmlns:a16="http://schemas.microsoft.com/office/drawing/2014/main" id="{F7FDC4FD-E8A5-497F-A28B-FE7B7D57A754}"/>
              </a:ext>
            </a:extLst>
          </p:cNvPr>
          <p:cNvSpPr>
            <a:spLocks xmlns:a="http://schemas.openxmlformats.org/drawingml/2006/main" noGrp="1"/>
          </p:cNvSpPr>
          <p:nvPr/>
        </p:nvSpPr>
        <p:spPr>
          <a:xfrm xmlns:a="http://schemas.openxmlformats.org/drawingml/2006/main">
            <a:off x="895350" y="2095500"/>
            <a:ext cx="501015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corepack enable</a:t>
            </a:r>
          </a:p>
          <a:p xmlns:a="http://schemas.openxmlformats.org/drawingml/2006/main">
            <a:pPr algn="l">
              <a:defRPr sz="1350" b="0">
                <a:solidFill>
                  <a:srgbClr val="E8EEF7"/>
                </a:solidFill>
              </a:defRPr>
            </a:pPr>
            <a:r>
              <a:rPr sz="1350" b="0">
                <a:solidFill>
                  <a:srgbClr val="E8EEF7"/>
                </a:solidFill>
              </a:rPr>
              <a:t>pnpm install</a:t>
            </a:r>
          </a:p>
          <a:p xmlns:a="http://schemas.openxmlformats.org/drawingml/2006/main">
            <a:pPr algn="l">
              <a:defRPr sz="1350" b="0">
                <a:solidFill>
                  <a:srgbClr val="E8EEF7"/>
                </a:solidFill>
              </a:defRPr>
            </a:pPr>
            <a:r>
              <a:rPr sz="1350" b="0">
                <a:solidFill>
                  <a:srgbClr val="E8EEF7"/>
                </a:solidFill>
              </a:rPr>
              <a:t>Copy-Item .env.example .env</a:t>
            </a:r>
          </a:p>
          <a:p xmlns:a="http://schemas.openxmlformats.org/drawingml/2006/main">
            <a:pPr algn="l">
              <a:defRPr sz="1350" b="0">
                <a:solidFill>
                  <a:srgbClr val="E8EEF7"/>
                </a:solidFill>
              </a:defRPr>
            </a:pPr>
            <a:r>
              <a:rPr sz="1350" b="0">
                <a:solidFill>
                  <a:srgbClr val="E8EEF7"/>
                </a:solidFill>
              </a:rPr>
              <a:t>pnpm infra:up</a:t>
            </a:r>
          </a:p>
          <a:p xmlns:a="http://schemas.openxmlformats.org/drawingml/2006/main">
            <a:pPr algn="l">
              <a:defRPr sz="1350" b="0">
                <a:solidFill>
                  <a:srgbClr val="E8EEF7"/>
                </a:solidFill>
              </a:defRPr>
            </a:pPr>
            <a:r>
              <a:rPr sz="1350" b="0">
                <a:solidFill>
                  <a:srgbClr val="E8EEF7"/>
                </a:solidFill>
              </a:rPr>
              <a:t>pnpm dev</a:t>
            </a:r>
          </a:p>
        </p:txBody>
      </p:sp>
      <p:sp>
        <p:nvSpPr>
          <p:cNvPr id="9" name="">
            <a:extLst xmlns:a="http://schemas.openxmlformats.org/drawingml/2006/main">
              <a:ext uri="{FF2B5EF4-FFF2-40B4-BE49-F238E27FC236}">
                <a16:creationId xmlns:a16="http://schemas.microsoft.com/office/drawing/2014/main" id="{8DE87CFB-A173-43D2-AAC2-4295AD17BCD1}"/>
              </a:ext>
            </a:extLst>
          </p:cNvPr>
          <p:cNvSpPr>
            <a:spLocks xmlns:a="http://schemas.openxmlformats.org/drawingml/2006/main" noGrp="1"/>
          </p:cNvSpPr>
          <p:nvPr/>
        </p:nvSpPr>
        <p:spPr>
          <a:xfrm xmlns:a="http://schemas.openxmlformats.org/drawingml/2006/main">
            <a:off x="6515100" y="1657350"/>
            <a:ext cx="4991100" cy="3238500"/>
          </a:xfrm>
          <a:prstGeom xmlns:a="http://schemas.openxmlformats.org/drawingml/2006/main" prst="roundRect">
            <a:avLst>
              <a:gd name="adj" fmla="val 5294"/>
            </a:avLst>
          </a:prstGeom>
          <a:solidFill xmlns:a="http://schemas.openxmlformats.org/drawingml/2006/main">
            <a:srgbClr val="0B172A"/>
          </a:solidFill>
          <a:ln xmlns:a="http://schemas.openxmlformats.org/drawingml/2006/main" w="9525">
            <a:solidFill>
              <a:srgbClr val="0B172A"/>
            </a:solidFill>
            <a:prstDash val="solid"/>
          </a:ln>
        </p:spPr>
      </p:sp>
      <p:sp>
        <p:nvSpPr>
          <p:cNvPr id="10" name="">
            <a:extLst xmlns:a="http://schemas.openxmlformats.org/drawingml/2006/main">
              <a:ext uri="{FF2B5EF4-FFF2-40B4-BE49-F238E27FC236}">
                <a16:creationId xmlns:a16="http://schemas.microsoft.com/office/drawing/2014/main" id="{5CFBC9B1-B7E1-43D1-948D-36EDD977FB5E}"/>
              </a:ext>
            </a:extLst>
          </p:cNvPr>
          <p:cNvSpPr>
            <a:spLocks xmlns:a="http://schemas.openxmlformats.org/drawingml/2006/main" noGrp="1"/>
          </p:cNvSpPr>
          <p:nvPr/>
        </p:nvSpPr>
        <p:spPr>
          <a:xfrm xmlns:a="http://schemas.openxmlformats.org/drawingml/2006/main">
            <a:off x="6724650" y="18097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HẰNG NGÀY</a:t>
            </a:r>
          </a:p>
        </p:txBody>
      </p:sp>
      <p:sp>
        <p:nvSpPr>
          <p:cNvPr id="11" name="">
            <a:extLst xmlns:a="http://schemas.openxmlformats.org/drawingml/2006/main">
              <a:ext uri="{FF2B5EF4-FFF2-40B4-BE49-F238E27FC236}">
                <a16:creationId xmlns:a16="http://schemas.microsoft.com/office/drawing/2014/main" id="{CC6F2B94-5051-4FF2-8ED1-0B1DC95804FE}"/>
              </a:ext>
            </a:extLst>
          </p:cNvPr>
          <p:cNvSpPr>
            <a:spLocks xmlns:a="http://schemas.openxmlformats.org/drawingml/2006/main" noGrp="1"/>
          </p:cNvSpPr>
          <p:nvPr/>
        </p:nvSpPr>
        <p:spPr>
          <a:xfrm xmlns:a="http://schemas.openxmlformats.org/drawingml/2006/main">
            <a:off x="6724650" y="2095500"/>
            <a:ext cx="45720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pnpm infra:up</a:t>
            </a:r>
          </a:p>
          <a:p xmlns:a="http://schemas.openxmlformats.org/drawingml/2006/main">
            <a:pPr algn="l">
              <a:defRPr sz="1350" b="0">
                <a:solidFill>
                  <a:srgbClr val="E8EEF7"/>
                </a:solidFill>
              </a:defRPr>
            </a:pPr>
            <a:r>
              <a:rPr sz="1350" b="0">
                <a:solidFill>
                  <a:srgbClr val="E8EEF7"/>
                </a:solidFill>
              </a:rPr>
              <a:t>pnpm dev</a:t>
            </a:r>
          </a:p>
          <a:p xmlns:a="http://schemas.openxmlformats.org/drawingml/2006/main">
            <a:r>
              <a:t/>
            </a:r>
          </a:p>
          <a:p xmlns:a="http://schemas.openxmlformats.org/drawingml/2006/main">
            <a:pPr algn="l">
              <a:defRPr sz="1350" b="0">
                <a:solidFill>
                  <a:srgbClr val="E8EEF7"/>
                </a:solidFill>
              </a:defRPr>
            </a:pPr>
            <a:r>
              <a:rPr sz="1350" b="0">
                <a:solidFill>
                  <a:srgbClr val="E8EEF7"/>
                </a:solidFill>
              </a:rPr>
              <a:t># Trước khi mở PR</a:t>
            </a:r>
          </a:p>
          <a:p xmlns:a="http://schemas.openxmlformats.org/drawingml/2006/main">
            <a:pPr algn="l">
              <a:defRPr sz="1350" b="0">
                <a:solidFill>
                  <a:srgbClr val="E8EEF7"/>
                </a:solidFill>
              </a:defRPr>
            </a:pPr>
            <a:r>
              <a:rPr sz="1350" b="0">
                <a:solidFill>
                  <a:srgbClr val="E8EEF7"/>
                </a:solidFill>
              </a:rPr>
              <a:t>pnpm check</a:t>
            </a:r>
          </a:p>
          <a:p xmlns:a="http://schemas.openxmlformats.org/drawingml/2006/main">
            <a:r>
              <a:t/>
            </a:r>
          </a:p>
          <a:p xmlns:a="http://schemas.openxmlformats.org/drawingml/2006/main">
            <a:pPr algn="l">
              <a:defRPr sz="1350" b="0">
                <a:solidFill>
                  <a:srgbClr val="E8EEF7"/>
                </a:solidFill>
              </a:defRPr>
            </a:pPr>
            <a:r>
              <a:rPr sz="1350" b="0">
                <a:solidFill>
                  <a:srgbClr val="E8EEF7"/>
                </a:solidFill>
              </a:rPr>
              <a:t># Khi kết thúc</a:t>
            </a:r>
          </a:p>
          <a:p xmlns:a="http://schemas.openxmlformats.org/drawingml/2006/main">
            <a:pPr algn="l">
              <a:defRPr sz="1350" b="0">
                <a:solidFill>
                  <a:srgbClr val="E8EEF7"/>
                </a:solidFill>
              </a:defRPr>
            </a:pPr>
            <a:r>
              <a:rPr sz="1350" b="0">
                <a:solidFill>
                  <a:srgbClr val="E8EEF7"/>
                </a:solidFill>
              </a:rPr>
              <a:t>pnpm infra:down</a:t>
            </a:r>
          </a:p>
        </p:txBody>
      </p:sp>
      <p:sp>
        <p:nvSpPr>
          <p:cNvPr id="12" name="">
            <a:extLst xmlns:a="http://schemas.openxmlformats.org/drawingml/2006/main">
              <a:ext uri="{FF2B5EF4-FFF2-40B4-BE49-F238E27FC236}">
                <a16:creationId xmlns:a16="http://schemas.microsoft.com/office/drawing/2014/main" id="{02044713-F7C1-48C4-B6F9-D6443CD902D5}"/>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FCEACA"/>
          </a:solidFill>
          <a:ln xmlns:a="http://schemas.openxmlformats.org/drawingml/2006/main" w="9525">
            <a:solidFill>
              <a:srgbClr val="FCEACA"/>
            </a:solidFill>
            <a:prstDash val="solid"/>
          </a:ln>
        </p:spPr>
      </p:sp>
      <p:sp>
        <p:nvSpPr>
          <p:cNvPr id="13" name="">
            <a:extLst xmlns:a="http://schemas.openxmlformats.org/drawingml/2006/main">
              <a:ext uri="{FF2B5EF4-FFF2-40B4-BE49-F238E27FC236}">
                <a16:creationId xmlns:a16="http://schemas.microsoft.com/office/drawing/2014/main" id="{FABADC83-F39B-4EC6-A8B8-0400E35CD25C}"/>
              </a:ext>
            </a:extLst>
          </p:cNvPr>
          <p:cNvSpPr>
            <a:spLocks xmlns:a="http://schemas.openxmlformats.org/drawingml/2006/main" noGrp="1"/>
          </p:cNvSpPr>
          <p:nvPr/>
        </p:nvSpPr>
        <p:spPr>
          <a:xfrm xmlns:a="http://schemas.openxmlformats.org/drawingml/2006/main">
            <a:off x="895350" y="5334000"/>
            <a:ext cx="1040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B4500"/>
                </a:solidFill>
              </a:defRPr>
            </a:pPr>
            <a:r>
              <a:rPr sz="1350" b="1">
                <a:solidFill>
                  <a:srgbClr val="6B4500"/>
                </a:solidFill>
              </a:rPr>
              <a:t>infra:down không xóa volume. Không dùng down -v nếu chưa chủ động muốn xóa dữ liệu local.</a:t>
            </a:r>
          </a:p>
        </p:txBody>
      </p:sp>
    </p:spTree>
    <p:extLst>
      <p:ext uri="{BB962C8B-B14F-4D97-AF65-F5344CB8AC3E}">
        <p14:creationId xmlns:p14="http://schemas.microsoft.com/office/powerpoint/2010/main" val="1964376152"/>
      </p:ext>
    </p:extLst>
  </p:cSld>
</p:sld>
</file>

<file path=ppt/slides/slide2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1F251FF-266D-4927-8A7C-1B15DDB7A9AF}"/>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BE4CA073-CE95-4E16-A2C0-18A692EFEE97}"/>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Bốn quyết định kỹ thuật cần chốt trước khi đi sâu</a:t>
            </a:r>
          </a:p>
        </p:txBody>
      </p:sp>
      <p:sp>
        <p:nvSpPr>
          <p:cNvPr id="3" name="">
            <a:extLst xmlns:a="http://schemas.openxmlformats.org/drawingml/2006/main">
              <a:ext uri="{FF2B5EF4-FFF2-40B4-BE49-F238E27FC236}">
                <a16:creationId xmlns:a16="http://schemas.microsoft.com/office/drawing/2014/main" id="{A7C6B84C-3D0C-4ED7-86A6-7FD28A992F09}"/>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AB8C6A93-0D65-4C48-9717-2287B722FE28}"/>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A4328D84-C32C-4B7E-AC5C-982B14F9A757}"/>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24</a:t>
            </a:r>
          </a:p>
        </p:txBody>
      </p:sp>
      <p:sp>
        <p:nvSpPr>
          <p:cNvPr id="6" name="">
            <a:extLst xmlns:a="http://schemas.openxmlformats.org/drawingml/2006/main">
              <a:ext uri="{FF2B5EF4-FFF2-40B4-BE49-F238E27FC236}">
                <a16:creationId xmlns:a16="http://schemas.microsoft.com/office/drawing/2014/main" id="{13D051BF-0A02-4DF1-8886-206D38860E91}"/>
              </a:ext>
            </a:extLst>
          </p:cNvPr>
          <p:cNvSpPr>
            <a:spLocks xmlns:a="http://schemas.openxmlformats.org/drawingml/2006/main" noGrp="1"/>
          </p:cNvSpPr>
          <p:nvPr/>
        </p:nvSpPr>
        <p:spPr>
          <a:xfrm xmlns:a="http://schemas.openxmlformats.org/drawingml/2006/main">
            <a:off x="800100" y="16383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01</a:t>
            </a:r>
          </a:p>
        </p:txBody>
      </p:sp>
      <p:sp>
        <p:nvSpPr>
          <p:cNvPr id="7" name="">
            <a:extLst xmlns:a="http://schemas.openxmlformats.org/drawingml/2006/main">
              <a:ext uri="{FF2B5EF4-FFF2-40B4-BE49-F238E27FC236}">
                <a16:creationId xmlns:a16="http://schemas.microsoft.com/office/drawing/2014/main" id="{714AA20A-DB02-4182-AFCA-585E92BF0D0D}"/>
              </a:ext>
            </a:extLst>
          </p:cNvPr>
          <p:cNvSpPr>
            <a:spLocks xmlns:a="http://schemas.openxmlformats.org/drawingml/2006/main" noGrp="1"/>
          </p:cNvSpPr>
          <p:nvPr/>
        </p:nvSpPr>
        <p:spPr>
          <a:xfrm xmlns:a="http://schemas.openxmlformats.org/drawingml/2006/main">
            <a:off x="1714500" y="1638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ORM/migration</a:t>
            </a:r>
          </a:p>
        </p:txBody>
      </p:sp>
      <p:sp>
        <p:nvSpPr>
          <p:cNvPr id="8" name="">
            <a:extLst xmlns:a="http://schemas.openxmlformats.org/drawingml/2006/main">
              <a:ext uri="{FF2B5EF4-FFF2-40B4-BE49-F238E27FC236}">
                <a16:creationId xmlns:a16="http://schemas.microsoft.com/office/drawing/2014/main" id="{6CC04186-C265-45E2-A91B-C353E4F1301C}"/>
              </a:ext>
            </a:extLst>
          </p:cNvPr>
          <p:cNvSpPr>
            <a:spLocks xmlns:a="http://schemas.openxmlformats.org/drawingml/2006/main" noGrp="1"/>
          </p:cNvSpPr>
          <p:nvPr/>
        </p:nvSpPr>
        <p:spPr>
          <a:xfrm xmlns:a="http://schemas.openxmlformats.org/drawingml/2006/main">
            <a:off x="4286250" y="16383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Prisma hay Drizzle</a:t>
            </a:r>
          </a:p>
        </p:txBody>
      </p:sp>
      <p:sp>
        <p:nvSpPr>
          <p:cNvPr id="9" name="">
            <a:extLst xmlns:a="http://schemas.openxmlformats.org/drawingml/2006/main">
              <a:ext uri="{FF2B5EF4-FFF2-40B4-BE49-F238E27FC236}">
                <a16:creationId xmlns:a16="http://schemas.microsoft.com/office/drawing/2014/main" id="{2D2EB77F-4384-4341-B3EE-D7CB89230E4E}"/>
              </a:ext>
            </a:extLst>
          </p:cNvPr>
          <p:cNvSpPr>
            <a:spLocks xmlns:a="http://schemas.openxmlformats.org/drawingml/2006/main" noGrp="1"/>
          </p:cNvSpPr>
          <p:nvPr/>
        </p:nvSpPr>
        <p:spPr>
          <a:xfrm xmlns:a="http://schemas.openxmlformats.org/drawingml/2006/main">
            <a:off x="8858250" y="16383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6B5F55"/>
                </a:solidFill>
              </a:defRPr>
            </a:pPr>
            <a:r>
              <a:rPr sz="1275" b="1">
                <a:solidFill>
                  <a:srgbClr val="6B5F55"/>
                </a:solidFill>
              </a:rPr>
              <a:t>BE-1 + Tech Lead</a:t>
            </a:r>
          </a:p>
        </p:txBody>
      </p:sp>
      <p:sp>
        <p:nvSpPr>
          <p:cNvPr id="10" name="">
            <a:extLst xmlns:a="http://schemas.openxmlformats.org/drawingml/2006/main">
              <a:ext uri="{FF2B5EF4-FFF2-40B4-BE49-F238E27FC236}">
                <a16:creationId xmlns:a16="http://schemas.microsoft.com/office/drawing/2014/main" id="{4D1B6323-69A0-43C7-806C-136CDE374B2A}"/>
              </a:ext>
            </a:extLst>
          </p:cNvPr>
          <p:cNvSpPr>
            <a:spLocks xmlns:a="http://schemas.openxmlformats.org/drawingml/2006/main" noGrp="1"/>
          </p:cNvSpPr>
          <p:nvPr/>
        </p:nvSpPr>
        <p:spPr>
          <a:xfrm xmlns:a="http://schemas.openxmlformats.org/drawingml/2006/main">
            <a:off x="1714500" y="2228850"/>
            <a:ext cx="94297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1" name="">
            <a:extLst xmlns:a="http://schemas.openxmlformats.org/drawingml/2006/main">
              <a:ext uri="{FF2B5EF4-FFF2-40B4-BE49-F238E27FC236}">
                <a16:creationId xmlns:a16="http://schemas.microsoft.com/office/drawing/2014/main" id="{B2D6C254-9C04-4AA9-89E4-E4762BB309BE}"/>
              </a:ext>
            </a:extLst>
          </p:cNvPr>
          <p:cNvSpPr>
            <a:spLocks xmlns:a="http://schemas.openxmlformats.org/drawingml/2006/main" noGrp="1"/>
          </p:cNvSpPr>
          <p:nvPr/>
        </p:nvSpPr>
        <p:spPr>
          <a:xfrm xmlns:a="http://schemas.openxmlformats.org/drawingml/2006/main">
            <a:off x="800100" y="25908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02</a:t>
            </a:r>
          </a:p>
        </p:txBody>
      </p:sp>
      <p:sp>
        <p:nvSpPr>
          <p:cNvPr id="12" name="">
            <a:extLst xmlns:a="http://schemas.openxmlformats.org/drawingml/2006/main">
              <a:ext uri="{FF2B5EF4-FFF2-40B4-BE49-F238E27FC236}">
                <a16:creationId xmlns:a16="http://schemas.microsoft.com/office/drawing/2014/main" id="{DBB46943-EBE7-4C31-BA19-BBA5600CE88A}"/>
              </a:ext>
            </a:extLst>
          </p:cNvPr>
          <p:cNvSpPr>
            <a:spLocks xmlns:a="http://schemas.openxmlformats.org/drawingml/2006/main" noGrp="1"/>
          </p:cNvSpPr>
          <p:nvPr/>
        </p:nvSpPr>
        <p:spPr>
          <a:xfrm xmlns:a="http://schemas.openxmlformats.org/drawingml/2006/main">
            <a:off x="1714500" y="25908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Phiên đăng nhập</a:t>
            </a:r>
          </a:p>
        </p:txBody>
      </p:sp>
      <p:sp>
        <p:nvSpPr>
          <p:cNvPr id="13" name="">
            <a:extLst xmlns:a="http://schemas.openxmlformats.org/drawingml/2006/main">
              <a:ext uri="{FF2B5EF4-FFF2-40B4-BE49-F238E27FC236}">
                <a16:creationId xmlns:a16="http://schemas.microsoft.com/office/drawing/2014/main" id="{881B75F9-CD0D-4D74-96AC-6EE915ADE764}"/>
              </a:ext>
            </a:extLst>
          </p:cNvPr>
          <p:cNvSpPr>
            <a:spLocks xmlns:a="http://schemas.openxmlformats.org/drawingml/2006/main" noGrp="1"/>
          </p:cNvSpPr>
          <p:nvPr/>
        </p:nvSpPr>
        <p:spPr>
          <a:xfrm xmlns:a="http://schemas.openxmlformats.org/drawingml/2006/main">
            <a:off x="4286250" y="25908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Session cookie hay JWT</a:t>
            </a:r>
          </a:p>
        </p:txBody>
      </p:sp>
      <p:sp>
        <p:nvSpPr>
          <p:cNvPr id="14" name="">
            <a:extLst xmlns:a="http://schemas.openxmlformats.org/drawingml/2006/main">
              <a:ext uri="{FF2B5EF4-FFF2-40B4-BE49-F238E27FC236}">
                <a16:creationId xmlns:a16="http://schemas.microsoft.com/office/drawing/2014/main" id="{CAE64C62-8FB8-4B6D-ADA9-39191167E8D4}"/>
              </a:ext>
            </a:extLst>
          </p:cNvPr>
          <p:cNvSpPr>
            <a:spLocks xmlns:a="http://schemas.openxmlformats.org/drawingml/2006/main" noGrp="1"/>
          </p:cNvSpPr>
          <p:nvPr/>
        </p:nvSpPr>
        <p:spPr>
          <a:xfrm xmlns:a="http://schemas.openxmlformats.org/drawingml/2006/main">
            <a:off x="8858250" y="25908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6B5F55"/>
                </a:solidFill>
              </a:defRPr>
            </a:pPr>
            <a:r>
              <a:rPr sz="1275" b="1">
                <a:solidFill>
                  <a:srgbClr val="6B5F55"/>
                </a:solidFill>
              </a:rPr>
              <a:t>BE-2 + FE-1</a:t>
            </a:r>
          </a:p>
        </p:txBody>
      </p:sp>
      <p:sp>
        <p:nvSpPr>
          <p:cNvPr id="15" name="">
            <a:extLst xmlns:a="http://schemas.openxmlformats.org/drawingml/2006/main">
              <a:ext uri="{FF2B5EF4-FFF2-40B4-BE49-F238E27FC236}">
                <a16:creationId xmlns:a16="http://schemas.microsoft.com/office/drawing/2014/main" id="{B3CB39F3-9A06-45A8-A3FC-7E6626287AFC}"/>
              </a:ext>
            </a:extLst>
          </p:cNvPr>
          <p:cNvSpPr>
            <a:spLocks xmlns:a="http://schemas.openxmlformats.org/drawingml/2006/main" noGrp="1"/>
          </p:cNvSpPr>
          <p:nvPr/>
        </p:nvSpPr>
        <p:spPr>
          <a:xfrm xmlns:a="http://schemas.openxmlformats.org/drawingml/2006/main">
            <a:off x="1714500" y="3181350"/>
            <a:ext cx="94297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EDF7C598-D9E7-4AED-B6CF-3B91A1643650}"/>
              </a:ext>
            </a:extLst>
          </p:cNvPr>
          <p:cNvSpPr>
            <a:spLocks xmlns:a="http://schemas.openxmlformats.org/drawingml/2006/main" noGrp="1"/>
          </p:cNvSpPr>
          <p:nvPr/>
        </p:nvSpPr>
        <p:spPr>
          <a:xfrm xmlns:a="http://schemas.openxmlformats.org/drawingml/2006/main">
            <a:off x="800100" y="35433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23B22"/>
                </a:solidFill>
              </a:defRPr>
            </a:pPr>
            <a:r>
              <a:rPr sz="2250" b="1">
                <a:solidFill>
                  <a:srgbClr val="C23B22"/>
                </a:solidFill>
              </a:rPr>
              <a:t>03</a:t>
            </a:r>
          </a:p>
        </p:txBody>
      </p:sp>
      <p:sp>
        <p:nvSpPr>
          <p:cNvPr id="17" name="">
            <a:extLst xmlns:a="http://schemas.openxmlformats.org/drawingml/2006/main">
              <a:ext uri="{FF2B5EF4-FFF2-40B4-BE49-F238E27FC236}">
                <a16:creationId xmlns:a16="http://schemas.microsoft.com/office/drawing/2014/main" id="{ED868D48-40B5-4645-A3CC-273308F0ED1E}"/>
              </a:ext>
            </a:extLst>
          </p:cNvPr>
          <p:cNvSpPr>
            <a:spLocks xmlns:a="http://schemas.openxmlformats.org/drawingml/2006/main" noGrp="1"/>
          </p:cNvSpPr>
          <p:nvPr/>
        </p:nvSpPr>
        <p:spPr>
          <a:xfrm xmlns:a="http://schemas.openxmlformats.org/drawingml/2006/main">
            <a:off x="1714500" y="3543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Hash mật khẩu</a:t>
            </a:r>
          </a:p>
        </p:txBody>
      </p:sp>
      <p:sp>
        <p:nvSpPr>
          <p:cNvPr id="18" name="">
            <a:extLst xmlns:a="http://schemas.openxmlformats.org/drawingml/2006/main">
              <a:ext uri="{FF2B5EF4-FFF2-40B4-BE49-F238E27FC236}">
                <a16:creationId xmlns:a16="http://schemas.microsoft.com/office/drawing/2014/main" id="{1503B56A-B2BA-46DE-88AE-D99BFB1514D9}"/>
              </a:ext>
            </a:extLst>
          </p:cNvPr>
          <p:cNvSpPr>
            <a:spLocks xmlns:a="http://schemas.openxmlformats.org/drawingml/2006/main" noGrp="1"/>
          </p:cNvSpPr>
          <p:nvPr/>
        </p:nvSpPr>
        <p:spPr>
          <a:xfrm xmlns:a="http://schemas.openxmlformats.org/drawingml/2006/main">
            <a:off x="4286250" y="35433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Argon2 hay bcrypt</a:t>
            </a:r>
          </a:p>
        </p:txBody>
      </p:sp>
      <p:sp>
        <p:nvSpPr>
          <p:cNvPr id="19" name="">
            <a:extLst xmlns:a="http://schemas.openxmlformats.org/drawingml/2006/main">
              <a:ext uri="{FF2B5EF4-FFF2-40B4-BE49-F238E27FC236}">
                <a16:creationId xmlns:a16="http://schemas.microsoft.com/office/drawing/2014/main" id="{8E785D92-B2DC-42C5-84A6-BC3F2FF0B4F5}"/>
              </a:ext>
            </a:extLst>
          </p:cNvPr>
          <p:cNvSpPr>
            <a:spLocks xmlns:a="http://schemas.openxmlformats.org/drawingml/2006/main" noGrp="1"/>
          </p:cNvSpPr>
          <p:nvPr/>
        </p:nvSpPr>
        <p:spPr>
          <a:xfrm xmlns:a="http://schemas.openxmlformats.org/drawingml/2006/main">
            <a:off x="8858250" y="35433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6B5F55"/>
                </a:solidFill>
              </a:defRPr>
            </a:pPr>
            <a:r>
              <a:rPr sz="1275" b="1">
                <a:solidFill>
                  <a:srgbClr val="6B5F55"/>
                </a:solidFill>
              </a:rPr>
              <a:t>BE-2</a:t>
            </a:r>
          </a:p>
        </p:txBody>
      </p:sp>
      <p:sp>
        <p:nvSpPr>
          <p:cNvPr id="20" name="">
            <a:extLst xmlns:a="http://schemas.openxmlformats.org/drawingml/2006/main">
              <a:ext uri="{FF2B5EF4-FFF2-40B4-BE49-F238E27FC236}">
                <a16:creationId xmlns:a16="http://schemas.microsoft.com/office/drawing/2014/main" id="{80D22F12-2BB7-453E-A442-7722C2E926F8}"/>
              </a:ext>
            </a:extLst>
          </p:cNvPr>
          <p:cNvSpPr>
            <a:spLocks xmlns:a="http://schemas.openxmlformats.org/drawingml/2006/main" noGrp="1"/>
          </p:cNvSpPr>
          <p:nvPr/>
        </p:nvSpPr>
        <p:spPr>
          <a:xfrm xmlns:a="http://schemas.openxmlformats.org/drawingml/2006/main">
            <a:off x="1714500" y="4133850"/>
            <a:ext cx="94297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1" name="">
            <a:extLst xmlns:a="http://schemas.openxmlformats.org/drawingml/2006/main">
              <a:ext uri="{FF2B5EF4-FFF2-40B4-BE49-F238E27FC236}">
                <a16:creationId xmlns:a16="http://schemas.microsoft.com/office/drawing/2014/main" id="{54525C91-1F69-4677-8632-5D7A9637E97B}"/>
              </a:ext>
            </a:extLst>
          </p:cNvPr>
          <p:cNvSpPr>
            <a:spLocks xmlns:a="http://schemas.openxmlformats.org/drawingml/2006/main" noGrp="1"/>
          </p:cNvSpPr>
          <p:nvPr/>
        </p:nvSpPr>
        <p:spPr>
          <a:xfrm xmlns:a="http://schemas.openxmlformats.org/drawingml/2006/main">
            <a:off x="800100" y="44958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568C9"/>
                </a:solidFill>
              </a:defRPr>
            </a:pPr>
            <a:r>
              <a:rPr sz="2250" b="1">
                <a:solidFill>
                  <a:srgbClr val="1568C9"/>
                </a:solidFill>
              </a:rPr>
              <a:t>04</a:t>
            </a:r>
          </a:p>
        </p:txBody>
      </p:sp>
      <p:sp>
        <p:nvSpPr>
          <p:cNvPr id="22" name="">
            <a:extLst xmlns:a="http://schemas.openxmlformats.org/drawingml/2006/main">
              <a:ext uri="{FF2B5EF4-FFF2-40B4-BE49-F238E27FC236}">
                <a16:creationId xmlns:a16="http://schemas.microsoft.com/office/drawing/2014/main" id="{71DEAF48-EA81-4E2F-9149-A36AA34BBFE7}"/>
              </a:ext>
            </a:extLst>
          </p:cNvPr>
          <p:cNvSpPr>
            <a:spLocks xmlns:a="http://schemas.openxmlformats.org/drawingml/2006/main" noGrp="1"/>
          </p:cNvSpPr>
          <p:nvPr/>
        </p:nvSpPr>
        <p:spPr>
          <a:xfrm xmlns:a="http://schemas.openxmlformats.org/drawingml/2006/main">
            <a:off x="1714500" y="44958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Staging</a:t>
            </a:r>
          </a:p>
        </p:txBody>
      </p:sp>
      <p:sp>
        <p:nvSpPr>
          <p:cNvPr id="23" name="">
            <a:extLst xmlns:a="http://schemas.openxmlformats.org/drawingml/2006/main">
              <a:ext uri="{FF2B5EF4-FFF2-40B4-BE49-F238E27FC236}">
                <a16:creationId xmlns:a16="http://schemas.microsoft.com/office/drawing/2014/main" id="{0279DD36-4490-464C-9A1A-36F2CF6B643A}"/>
              </a:ext>
            </a:extLst>
          </p:cNvPr>
          <p:cNvSpPr>
            <a:spLocks xmlns:a="http://schemas.openxmlformats.org/drawingml/2006/main" noGrp="1"/>
          </p:cNvSpPr>
          <p:nvPr/>
        </p:nvSpPr>
        <p:spPr>
          <a:xfrm xmlns:a="http://schemas.openxmlformats.org/drawingml/2006/main">
            <a:off x="4286250" y="44958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201A16"/>
                </a:solidFill>
              </a:defRPr>
            </a:pPr>
            <a:r>
              <a:rPr sz="1500" b="0">
                <a:solidFill>
                  <a:srgbClr val="201A16"/>
                </a:solidFill>
              </a:rPr>
              <a:t>VPS/cloud, domain, TLS và cách build image</a:t>
            </a:r>
          </a:p>
        </p:txBody>
      </p:sp>
      <p:sp>
        <p:nvSpPr>
          <p:cNvPr id="24" name="">
            <a:extLst xmlns:a="http://schemas.openxmlformats.org/drawingml/2006/main">
              <a:ext uri="{FF2B5EF4-FFF2-40B4-BE49-F238E27FC236}">
                <a16:creationId xmlns:a16="http://schemas.microsoft.com/office/drawing/2014/main" id="{BAF61719-4B8D-4CF6-965F-6F3C92AB80B4}"/>
              </a:ext>
            </a:extLst>
          </p:cNvPr>
          <p:cNvSpPr>
            <a:spLocks xmlns:a="http://schemas.openxmlformats.org/drawingml/2006/main" noGrp="1"/>
          </p:cNvSpPr>
          <p:nvPr/>
        </p:nvSpPr>
        <p:spPr>
          <a:xfrm xmlns:a="http://schemas.openxmlformats.org/drawingml/2006/main">
            <a:off x="8858250" y="44958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6B5F55"/>
                </a:solidFill>
              </a:defRPr>
            </a:pPr>
            <a:r>
              <a:rPr sz="1275" b="1">
                <a:solidFill>
                  <a:srgbClr val="6B5F55"/>
                </a:solidFill>
              </a:rPr>
              <a:t>OP-1 + Tech Lead</a:t>
            </a:r>
          </a:p>
        </p:txBody>
      </p:sp>
      <p:sp>
        <p:nvSpPr>
          <p:cNvPr id="25" name="">
            <a:extLst xmlns:a="http://schemas.openxmlformats.org/drawingml/2006/main">
              <a:ext uri="{FF2B5EF4-FFF2-40B4-BE49-F238E27FC236}">
                <a16:creationId xmlns:a16="http://schemas.microsoft.com/office/drawing/2014/main" id="{1C56D343-4B1F-4527-A472-B790FFD4DB81}"/>
              </a:ext>
            </a:extLst>
          </p:cNvPr>
          <p:cNvSpPr>
            <a:spLocks xmlns:a="http://schemas.openxmlformats.org/drawingml/2006/main" noGrp="1"/>
          </p:cNvSpPr>
          <p:nvPr/>
        </p:nvSpPr>
        <p:spPr>
          <a:xfrm xmlns:a="http://schemas.openxmlformats.org/drawingml/2006/main">
            <a:off x="1714500" y="5086350"/>
            <a:ext cx="94297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6" name="">
            <a:extLst xmlns:a="http://schemas.openxmlformats.org/drawingml/2006/main">
              <a:ext uri="{FF2B5EF4-FFF2-40B4-BE49-F238E27FC236}">
                <a16:creationId xmlns:a16="http://schemas.microsoft.com/office/drawing/2014/main" id="{FB0F57DE-021E-4B36-B87C-5EFA3DA64C71}"/>
              </a:ext>
            </a:extLst>
          </p:cNvPr>
          <p:cNvSpPr>
            <a:spLocks xmlns:a="http://schemas.openxmlformats.org/drawingml/2006/main" noGrp="1"/>
          </p:cNvSpPr>
          <p:nvPr/>
        </p:nvSpPr>
        <p:spPr>
          <a:xfrm xmlns:a="http://schemas.openxmlformats.org/drawingml/2006/main">
            <a:off x="685800" y="5600700"/>
            <a:ext cx="10820400" cy="533400"/>
          </a:xfrm>
          <a:prstGeom xmlns:a="http://schemas.openxmlformats.org/drawingml/2006/main" prst="roundRect">
            <a:avLst>
              <a:gd name="adj" fmla="val 25000"/>
            </a:avLst>
          </a:prstGeom>
          <a:solidFill xmlns:a="http://schemas.openxmlformats.org/drawingml/2006/main">
            <a:srgbClr val="F6DED6"/>
          </a:solidFill>
          <a:ln xmlns:a="http://schemas.openxmlformats.org/drawingml/2006/main" w="9525">
            <a:solidFill>
              <a:srgbClr val="F6DED6"/>
            </a:solidFill>
            <a:prstDash val="solid"/>
          </a:ln>
        </p:spPr>
      </p:sp>
      <p:sp>
        <p:nvSpPr>
          <p:cNvPr id="27" name="">
            <a:extLst xmlns:a="http://schemas.openxmlformats.org/drawingml/2006/main">
              <a:ext uri="{FF2B5EF4-FFF2-40B4-BE49-F238E27FC236}">
                <a16:creationId xmlns:a16="http://schemas.microsoft.com/office/drawing/2014/main" id="{56F558C4-20F5-43DD-8074-6EA051393B76}"/>
              </a:ext>
            </a:extLst>
          </p:cNvPr>
          <p:cNvSpPr>
            <a:spLocks xmlns:a="http://schemas.openxmlformats.org/drawingml/2006/main" noGrp="1"/>
          </p:cNvSpPr>
          <p:nvPr/>
        </p:nvSpPr>
        <p:spPr>
          <a:xfrm xmlns:a="http://schemas.openxmlformats.org/drawingml/2006/main">
            <a:off x="895350" y="5676900"/>
            <a:ext cx="10401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841F11"/>
                </a:solidFill>
              </a:defRPr>
            </a:pPr>
            <a:r>
              <a:rPr sz="1350" b="1">
                <a:solidFill>
                  <a:srgbClr val="841F11"/>
                </a:solidFill>
              </a:rPr>
              <a:t>Các quyết định trên cần được ghi bằng issue hoặc ADR trước khi triển khai phần liên quan.</a:t>
            </a:r>
          </a:p>
        </p:txBody>
      </p:sp>
    </p:spTree>
    <p:extLst>
      <p:ext uri="{BB962C8B-B14F-4D97-AF65-F5344CB8AC3E}">
        <p14:creationId xmlns:p14="http://schemas.microsoft.com/office/powerpoint/2010/main" val="427897140"/>
      </p:ext>
    </p:extLst>
  </p:cSld>
</p:sld>
</file>

<file path=ppt/slides/slide2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98F537-FF33-4A99-85E4-2EB847F09CE8}"/>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B33E17A5-9E4A-4760-B1A1-5A74E822C23B}"/>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Mỗi PR tự chạy lint, type-check, test và build</a:t>
            </a:r>
          </a:p>
        </p:txBody>
      </p:sp>
      <p:sp>
        <p:nvSpPr>
          <p:cNvPr id="3" name="">
            <a:extLst xmlns:a="http://schemas.openxmlformats.org/drawingml/2006/main">
              <a:ext uri="{FF2B5EF4-FFF2-40B4-BE49-F238E27FC236}">
                <a16:creationId xmlns:a16="http://schemas.microsoft.com/office/drawing/2014/main" id="{2105284D-46F4-486D-9657-9CAC80DBF3C4}"/>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8D948736-E167-4D55-9EA5-096986D01366}"/>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D4E939B9-0B23-407A-A1F2-2877D58794BC}"/>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25</a:t>
            </a:r>
          </a:p>
        </p:txBody>
      </p:sp>
      <p:sp>
        <p:nvSpPr>
          <p:cNvPr id="6" name="">
            <a:extLst xmlns:a="http://schemas.openxmlformats.org/drawingml/2006/main">
              <a:ext uri="{FF2B5EF4-FFF2-40B4-BE49-F238E27FC236}">
                <a16:creationId xmlns:a16="http://schemas.microsoft.com/office/drawing/2014/main" id="{EC55C93C-FE1F-495E-9CB3-F9080D5E2D67}"/>
              </a:ext>
            </a:extLst>
          </p:cNvPr>
          <p:cNvSpPr>
            <a:spLocks xmlns:a="http://schemas.openxmlformats.org/drawingml/2006/main" noGrp="1"/>
          </p:cNvSpPr>
          <p:nvPr/>
        </p:nvSpPr>
        <p:spPr>
          <a:xfrm xmlns:a="http://schemas.openxmlformats.org/drawingml/2006/main">
            <a:off x="685800" y="1657350"/>
            <a:ext cx="5810250" cy="3714750"/>
          </a:xfrm>
          <a:prstGeom xmlns:a="http://schemas.openxmlformats.org/drawingml/2006/main" prst="roundRect">
            <a:avLst>
              <a:gd name="adj" fmla="val 4615"/>
            </a:avLst>
          </a:prstGeom>
          <a:solidFill xmlns:a="http://schemas.openxmlformats.org/drawingml/2006/main">
            <a:srgbClr val="0B172A"/>
          </a:solidFill>
          <a:ln xmlns:a="http://schemas.openxmlformats.org/drawingml/2006/main" w="9525">
            <a:solidFill>
              <a:srgbClr val="0B172A"/>
            </a:solidFill>
            <a:prstDash val="solid"/>
          </a:ln>
        </p:spPr>
      </p:sp>
      <p:sp>
        <p:nvSpPr>
          <p:cNvPr id="7" name="">
            <a:extLst xmlns:a="http://schemas.openxmlformats.org/drawingml/2006/main">
              <a:ext uri="{FF2B5EF4-FFF2-40B4-BE49-F238E27FC236}">
                <a16:creationId xmlns:a16="http://schemas.microsoft.com/office/drawing/2014/main" id="{310CEA74-1CA5-4515-9669-A593BBB5E120}"/>
              </a:ext>
            </a:extLst>
          </p:cNvPr>
          <p:cNvSpPr>
            <a:spLocks xmlns:a="http://schemas.openxmlformats.org/drawingml/2006/main" noGrp="1"/>
          </p:cNvSpPr>
          <p:nvPr/>
        </p:nvSpPr>
        <p:spPr>
          <a:xfrm xmlns:a="http://schemas.openxmlformats.org/drawingml/2006/main">
            <a:off x="895350" y="1809750"/>
            <a:ext cx="539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8FB7FF"/>
                </a:solidFill>
              </a:defRPr>
            </a:pPr>
            <a:r>
              <a:rPr sz="825" b="1">
                <a:solidFill>
                  <a:srgbClr val="8FB7FF"/>
                </a:solidFill>
              </a:rPr>
              <a:t>ci.yml + package.json</a:t>
            </a:r>
          </a:p>
        </p:txBody>
      </p:sp>
      <p:sp>
        <p:nvSpPr>
          <p:cNvPr id="8" name="">
            <a:extLst xmlns:a="http://schemas.openxmlformats.org/drawingml/2006/main">
              <a:ext uri="{FF2B5EF4-FFF2-40B4-BE49-F238E27FC236}">
                <a16:creationId xmlns:a16="http://schemas.microsoft.com/office/drawing/2014/main" id="{BBC7ABAF-AC00-4BDD-A3DD-BA5547AF1C44}"/>
              </a:ext>
            </a:extLst>
          </p:cNvPr>
          <p:cNvSpPr>
            <a:spLocks xmlns:a="http://schemas.openxmlformats.org/drawingml/2006/main" noGrp="1"/>
          </p:cNvSpPr>
          <p:nvPr/>
        </p:nvSpPr>
        <p:spPr>
          <a:xfrm xmlns:a="http://schemas.openxmlformats.org/drawingml/2006/main">
            <a:off x="895350" y="2095500"/>
            <a:ext cx="539115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E8EEF7"/>
                </a:solidFill>
              </a:defRPr>
            </a:pPr>
            <a:r>
              <a:rPr sz="1350" b="0">
                <a:solidFill>
                  <a:srgbClr val="E8EEF7"/>
                </a:solidFill>
              </a:rPr>
              <a:t>- name: Verify repository</a:t>
            </a:r>
          </a:p>
          <a:p xmlns:a="http://schemas.openxmlformats.org/drawingml/2006/main">
            <a:pPr algn="l">
              <a:defRPr sz="1350" b="0">
                <a:solidFill>
                  <a:srgbClr val="E8EEF7"/>
                </a:solidFill>
              </a:defRPr>
            </a:pPr>
            <a:r>
              <a:rPr sz="1350" b="0">
                <a:solidFill>
                  <a:srgbClr val="E8EEF7"/>
                </a:solidFill>
              </a:rPr>
              <a:t>  run: pnpm check</a:t>
            </a:r>
          </a:p>
          <a:p xmlns:a="http://schemas.openxmlformats.org/drawingml/2006/main">
            <a:r>
              <a:t/>
            </a:r>
          </a:p>
          <a:p xmlns:a="http://schemas.openxmlformats.org/drawingml/2006/main">
            <a:pPr algn="l">
              <a:defRPr sz="1350" b="0">
                <a:solidFill>
                  <a:srgbClr val="E8EEF7"/>
                </a:solidFill>
              </a:defRPr>
            </a:pPr>
            <a:r>
              <a:rPr sz="1350" b="0">
                <a:solidFill>
                  <a:srgbClr val="E8EEF7"/>
                </a:solidFill>
              </a:rPr>
              <a:t>"check": "pnpm lint &amp;&amp;</a:t>
            </a:r>
          </a:p>
          <a:p xmlns:a="http://schemas.openxmlformats.org/drawingml/2006/main">
            <a:pPr algn="l">
              <a:defRPr sz="1350" b="0">
                <a:solidFill>
                  <a:srgbClr val="E8EEF7"/>
                </a:solidFill>
              </a:defRPr>
            </a:pPr>
            <a:r>
              <a:rPr sz="1350" b="0">
                <a:solidFill>
                  <a:srgbClr val="E8EEF7"/>
                </a:solidFill>
              </a:rPr>
              <a:t>          pnpm typecheck &amp;&amp;</a:t>
            </a:r>
          </a:p>
          <a:p xmlns:a="http://schemas.openxmlformats.org/drawingml/2006/main">
            <a:pPr algn="l">
              <a:defRPr sz="1350" b="0">
                <a:solidFill>
                  <a:srgbClr val="E8EEF7"/>
                </a:solidFill>
              </a:defRPr>
            </a:pPr>
            <a:r>
              <a:rPr sz="1350" b="0">
                <a:solidFill>
                  <a:srgbClr val="E8EEF7"/>
                </a:solidFill>
              </a:rPr>
              <a:t>          pnpm test &amp;&amp;</a:t>
            </a:r>
          </a:p>
          <a:p xmlns:a="http://schemas.openxmlformats.org/drawingml/2006/main">
            <a:pPr algn="l">
              <a:defRPr sz="1350" b="0">
                <a:solidFill>
                  <a:srgbClr val="E8EEF7"/>
                </a:solidFill>
              </a:defRPr>
            </a:pPr>
            <a:r>
              <a:rPr sz="1350" b="0">
                <a:solidFill>
                  <a:srgbClr val="E8EEF7"/>
                </a:solidFill>
              </a:rPr>
              <a:t>          pnpm build"</a:t>
            </a:r>
          </a:p>
        </p:txBody>
      </p:sp>
      <p:sp>
        <p:nvSpPr>
          <p:cNvPr id="9" name="">
            <a:extLst xmlns:a="http://schemas.openxmlformats.org/drawingml/2006/main">
              <a:ext uri="{FF2B5EF4-FFF2-40B4-BE49-F238E27FC236}">
                <a16:creationId xmlns:a16="http://schemas.microsoft.com/office/drawing/2014/main" id="{E4FF9726-F7DD-492B-9435-F9EE2DD987B4}"/>
              </a:ext>
            </a:extLst>
          </p:cNvPr>
          <p:cNvSpPr>
            <a:spLocks xmlns:a="http://schemas.openxmlformats.org/drawingml/2006/main" noGrp="1"/>
          </p:cNvSpPr>
          <p:nvPr/>
        </p:nvSpPr>
        <p:spPr>
          <a:xfrm xmlns:a="http://schemas.openxmlformats.org/drawingml/2006/main">
            <a:off x="7181850" y="1733550"/>
            <a:ext cx="419100" cy="4191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10" name="">
            <a:extLst xmlns:a="http://schemas.openxmlformats.org/drawingml/2006/main">
              <a:ext uri="{FF2B5EF4-FFF2-40B4-BE49-F238E27FC236}">
                <a16:creationId xmlns:a16="http://schemas.microsoft.com/office/drawing/2014/main" id="{39DC3C25-927E-4174-A88E-2C89ABE8F0B9}"/>
              </a:ext>
            </a:extLst>
          </p:cNvPr>
          <p:cNvSpPr>
            <a:spLocks xmlns:a="http://schemas.openxmlformats.org/drawingml/2006/main" noGrp="1"/>
          </p:cNvSpPr>
          <p:nvPr/>
        </p:nvSpPr>
        <p:spPr>
          <a:xfrm xmlns:a="http://schemas.openxmlformats.org/drawingml/2006/main">
            <a:off x="7810500" y="17145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Lint</a:t>
            </a:r>
          </a:p>
        </p:txBody>
      </p:sp>
      <p:sp>
        <p:nvSpPr>
          <p:cNvPr id="11" name="">
            <a:extLst xmlns:a="http://schemas.openxmlformats.org/drawingml/2006/main">
              <a:ext uri="{FF2B5EF4-FFF2-40B4-BE49-F238E27FC236}">
                <a16:creationId xmlns:a16="http://schemas.microsoft.com/office/drawing/2014/main" id="{FD0C3267-D5DD-4CFE-BF20-804F5C824DA0}"/>
              </a:ext>
            </a:extLst>
          </p:cNvPr>
          <p:cNvSpPr>
            <a:spLocks xmlns:a="http://schemas.openxmlformats.org/drawingml/2006/main" noGrp="1"/>
          </p:cNvSpPr>
          <p:nvPr/>
        </p:nvSpPr>
        <p:spPr>
          <a:xfrm xmlns:a="http://schemas.openxmlformats.org/drawingml/2006/main">
            <a:off x="9429750" y="17145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Quy ước và lỗi code</a:t>
            </a:r>
          </a:p>
        </p:txBody>
      </p:sp>
      <p:sp>
        <p:nvSpPr>
          <p:cNvPr id="12" name="">
            <a:extLst xmlns:a="http://schemas.openxmlformats.org/drawingml/2006/main">
              <a:ext uri="{FF2B5EF4-FFF2-40B4-BE49-F238E27FC236}">
                <a16:creationId xmlns:a16="http://schemas.microsoft.com/office/drawing/2014/main" id="{F133B046-5E7E-4102-881A-001073393CDB}"/>
              </a:ext>
            </a:extLst>
          </p:cNvPr>
          <p:cNvSpPr>
            <a:spLocks xmlns:a="http://schemas.openxmlformats.org/drawingml/2006/main" noGrp="1"/>
          </p:cNvSpPr>
          <p:nvPr/>
        </p:nvSpPr>
        <p:spPr>
          <a:xfrm xmlns:a="http://schemas.openxmlformats.org/drawingml/2006/main">
            <a:off x="7391400" y="2266950"/>
            <a:ext cx="0" cy="0"/>
          </a:xfrm>
          <a:prstGeom xmlns:a="http://schemas.openxmlformats.org/drawingml/2006/main" prst="line">
            <a:avLst/>
          </a:prstGeom>
          <a:noFill xmlns:a="http://schemas.openxmlformats.org/drawingml/2006/main"/>
          <a:ln xmlns:a="http://schemas.openxmlformats.org/drawingml/2006/main" w="19050">
            <a:solidFill>
              <a:srgbClr val="CBBFAF"/>
            </a:solidFill>
            <a:prstDash val="solid"/>
          </a:ln>
        </p:spPr>
      </p:sp>
      <p:sp>
        <p:nvSpPr>
          <p:cNvPr id="13" name="">
            <a:extLst xmlns:a="http://schemas.openxmlformats.org/drawingml/2006/main">
              <a:ext uri="{FF2B5EF4-FFF2-40B4-BE49-F238E27FC236}">
                <a16:creationId xmlns:a16="http://schemas.microsoft.com/office/drawing/2014/main" id="{18543479-243C-47A1-B50E-17A5B9378706}"/>
              </a:ext>
            </a:extLst>
          </p:cNvPr>
          <p:cNvSpPr>
            <a:spLocks xmlns:a="http://schemas.openxmlformats.org/drawingml/2006/main" noGrp="1"/>
          </p:cNvSpPr>
          <p:nvPr/>
        </p:nvSpPr>
        <p:spPr>
          <a:xfrm xmlns:a="http://schemas.openxmlformats.org/drawingml/2006/main">
            <a:off x="7181850" y="2647950"/>
            <a:ext cx="419100" cy="4191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4" name="">
            <a:extLst xmlns:a="http://schemas.openxmlformats.org/drawingml/2006/main">
              <a:ext uri="{FF2B5EF4-FFF2-40B4-BE49-F238E27FC236}">
                <a16:creationId xmlns:a16="http://schemas.microsoft.com/office/drawing/2014/main" id="{4C2CFAD0-D2E6-4070-8F74-969A099022C5}"/>
              </a:ext>
            </a:extLst>
          </p:cNvPr>
          <p:cNvSpPr>
            <a:spLocks xmlns:a="http://schemas.openxmlformats.org/drawingml/2006/main" noGrp="1"/>
          </p:cNvSpPr>
          <p:nvPr/>
        </p:nvSpPr>
        <p:spPr>
          <a:xfrm xmlns:a="http://schemas.openxmlformats.org/drawingml/2006/main">
            <a:off x="7810500" y="2628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Type-check</a:t>
            </a:r>
          </a:p>
        </p:txBody>
      </p:sp>
      <p:sp>
        <p:nvSpPr>
          <p:cNvPr id="15" name="">
            <a:extLst xmlns:a="http://schemas.openxmlformats.org/drawingml/2006/main">
              <a:ext uri="{FF2B5EF4-FFF2-40B4-BE49-F238E27FC236}">
                <a16:creationId xmlns:a16="http://schemas.microsoft.com/office/drawing/2014/main" id="{48495B52-9D77-49F7-B5F9-D647501F9C96}"/>
              </a:ext>
            </a:extLst>
          </p:cNvPr>
          <p:cNvSpPr>
            <a:spLocks xmlns:a="http://schemas.openxmlformats.org/drawingml/2006/main" noGrp="1"/>
          </p:cNvSpPr>
          <p:nvPr/>
        </p:nvSpPr>
        <p:spPr>
          <a:xfrm xmlns:a="http://schemas.openxmlformats.org/drawingml/2006/main">
            <a:off x="9429750" y="26289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Kiểu dữ liệu</a:t>
            </a:r>
          </a:p>
        </p:txBody>
      </p:sp>
      <p:sp>
        <p:nvSpPr>
          <p:cNvPr id="16" name="">
            <a:extLst xmlns:a="http://schemas.openxmlformats.org/drawingml/2006/main">
              <a:ext uri="{FF2B5EF4-FFF2-40B4-BE49-F238E27FC236}">
                <a16:creationId xmlns:a16="http://schemas.microsoft.com/office/drawing/2014/main" id="{7C4B99A0-018E-4AD1-B836-0187AF1F8E4E}"/>
              </a:ext>
            </a:extLst>
          </p:cNvPr>
          <p:cNvSpPr>
            <a:spLocks xmlns:a="http://schemas.openxmlformats.org/drawingml/2006/main" noGrp="1"/>
          </p:cNvSpPr>
          <p:nvPr/>
        </p:nvSpPr>
        <p:spPr>
          <a:xfrm xmlns:a="http://schemas.openxmlformats.org/drawingml/2006/main">
            <a:off x="7391400" y="3181350"/>
            <a:ext cx="0" cy="0"/>
          </a:xfrm>
          <a:prstGeom xmlns:a="http://schemas.openxmlformats.org/drawingml/2006/main" prst="line">
            <a:avLst/>
          </a:prstGeom>
          <a:noFill xmlns:a="http://schemas.openxmlformats.org/drawingml/2006/main"/>
          <a:ln xmlns:a="http://schemas.openxmlformats.org/drawingml/2006/main" w="19050">
            <a:solidFill>
              <a:srgbClr val="CBBFAF"/>
            </a:solidFill>
            <a:prstDash val="solid"/>
          </a:ln>
        </p:spPr>
      </p:sp>
      <p:sp>
        <p:nvSpPr>
          <p:cNvPr id="17" name="">
            <a:extLst xmlns:a="http://schemas.openxmlformats.org/drawingml/2006/main">
              <a:ext uri="{FF2B5EF4-FFF2-40B4-BE49-F238E27FC236}">
                <a16:creationId xmlns:a16="http://schemas.microsoft.com/office/drawing/2014/main" id="{BA49CABA-BB36-44BF-8AC8-6B747B4383D9}"/>
              </a:ext>
            </a:extLst>
          </p:cNvPr>
          <p:cNvSpPr>
            <a:spLocks xmlns:a="http://schemas.openxmlformats.org/drawingml/2006/main" noGrp="1"/>
          </p:cNvSpPr>
          <p:nvPr/>
        </p:nvSpPr>
        <p:spPr>
          <a:xfrm xmlns:a="http://schemas.openxmlformats.org/drawingml/2006/main">
            <a:off x="7181850" y="3562350"/>
            <a:ext cx="419100" cy="4191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8" name="">
            <a:extLst xmlns:a="http://schemas.openxmlformats.org/drawingml/2006/main">
              <a:ext uri="{FF2B5EF4-FFF2-40B4-BE49-F238E27FC236}">
                <a16:creationId xmlns:a16="http://schemas.microsoft.com/office/drawing/2014/main" id="{0BE1AB4E-FBA8-487E-88D8-783AF3506C8A}"/>
              </a:ext>
            </a:extLst>
          </p:cNvPr>
          <p:cNvSpPr>
            <a:spLocks xmlns:a="http://schemas.openxmlformats.org/drawingml/2006/main" noGrp="1"/>
          </p:cNvSpPr>
          <p:nvPr/>
        </p:nvSpPr>
        <p:spPr>
          <a:xfrm xmlns:a="http://schemas.openxmlformats.org/drawingml/2006/main">
            <a:off x="7810500" y="35433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Test</a:t>
            </a:r>
          </a:p>
        </p:txBody>
      </p:sp>
      <p:sp>
        <p:nvSpPr>
          <p:cNvPr id="19" name="">
            <a:extLst xmlns:a="http://schemas.openxmlformats.org/drawingml/2006/main">
              <a:ext uri="{FF2B5EF4-FFF2-40B4-BE49-F238E27FC236}">
                <a16:creationId xmlns:a16="http://schemas.microsoft.com/office/drawing/2014/main" id="{174AA3AF-81CA-4F31-9392-A96FF63D2D37}"/>
              </a:ext>
            </a:extLst>
          </p:cNvPr>
          <p:cNvSpPr>
            <a:spLocks xmlns:a="http://schemas.openxmlformats.org/drawingml/2006/main" noGrp="1"/>
          </p:cNvSpPr>
          <p:nvPr/>
        </p:nvSpPr>
        <p:spPr>
          <a:xfrm xmlns:a="http://schemas.openxmlformats.org/drawingml/2006/main">
            <a:off x="9429750" y="35433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Hành vi quan trọng</a:t>
            </a:r>
          </a:p>
        </p:txBody>
      </p:sp>
      <p:sp>
        <p:nvSpPr>
          <p:cNvPr id="20" name="">
            <a:extLst xmlns:a="http://schemas.openxmlformats.org/drawingml/2006/main">
              <a:ext uri="{FF2B5EF4-FFF2-40B4-BE49-F238E27FC236}">
                <a16:creationId xmlns:a16="http://schemas.microsoft.com/office/drawing/2014/main" id="{04A55928-DA58-43D6-8EA7-16864257565A}"/>
              </a:ext>
            </a:extLst>
          </p:cNvPr>
          <p:cNvSpPr>
            <a:spLocks xmlns:a="http://schemas.openxmlformats.org/drawingml/2006/main" noGrp="1"/>
          </p:cNvSpPr>
          <p:nvPr/>
        </p:nvSpPr>
        <p:spPr>
          <a:xfrm xmlns:a="http://schemas.openxmlformats.org/drawingml/2006/main">
            <a:off x="7391400" y="4095750"/>
            <a:ext cx="0" cy="0"/>
          </a:xfrm>
          <a:prstGeom xmlns:a="http://schemas.openxmlformats.org/drawingml/2006/main" prst="line">
            <a:avLst/>
          </a:prstGeom>
          <a:noFill xmlns:a="http://schemas.openxmlformats.org/drawingml/2006/main"/>
          <a:ln xmlns:a="http://schemas.openxmlformats.org/drawingml/2006/main" w="19050">
            <a:solidFill>
              <a:srgbClr val="CBBFAF"/>
            </a:solidFill>
            <a:prstDash val="solid"/>
          </a:ln>
        </p:spPr>
      </p:sp>
      <p:sp>
        <p:nvSpPr>
          <p:cNvPr id="21" name="">
            <a:extLst xmlns:a="http://schemas.openxmlformats.org/drawingml/2006/main">
              <a:ext uri="{FF2B5EF4-FFF2-40B4-BE49-F238E27FC236}">
                <a16:creationId xmlns:a16="http://schemas.microsoft.com/office/drawing/2014/main" id="{CA0C57CD-91FC-46BB-9DA0-3084F6D88BCF}"/>
              </a:ext>
            </a:extLst>
          </p:cNvPr>
          <p:cNvSpPr>
            <a:spLocks xmlns:a="http://schemas.openxmlformats.org/drawingml/2006/main" noGrp="1"/>
          </p:cNvSpPr>
          <p:nvPr/>
        </p:nvSpPr>
        <p:spPr>
          <a:xfrm xmlns:a="http://schemas.openxmlformats.org/drawingml/2006/main">
            <a:off x="7181850" y="4476750"/>
            <a:ext cx="419100" cy="41910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2" name="">
            <a:extLst xmlns:a="http://schemas.openxmlformats.org/drawingml/2006/main">
              <a:ext uri="{FF2B5EF4-FFF2-40B4-BE49-F238E27FC236}">
                <a16:creationId xmlns:a16="http://schemas.microsoft.com/office/drawing/2014/main" id="{6860CACC-6990-4505-93AE-5DFC4E27DA20}"/>
              </a:ext>
            </a:extLst>
          </p:cNvPr>
          <p:cNvSpPr>
            <a:spLocks xmlns:a="http://schemas.openxmlformats.org/drawingml/2006/main" noGrp="1"/>
          </p:cNvSpPr>
          <p:nvPr/>
        </p:nvSpPr>
        <p:spPr>
          <a:xfrm xmlns:a="http://schemas.openxmlformats.org/drawingml/2006/main">
            <a:off x="7810500" y="44577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Build</a:t>
            </a:r>
          </a:p>
        </p:txBody>
      </p:sp>
      <p:sp>
        <p:nvSpPr>
          <p:cNvPr id="23" name="">
            <a:extLst xmlns:a="http://schemas.openxmlformats.org/drawingml/2006/main">
              <a:ext uri="{FF2B5EF4-FFF2-40B4-BE49-F238E27FC236}">
                <a16:creationId xmlns:a16="http://schemas.microsoft.com/office/drawing/2014/main" id="{CAECCD5F-9FA6-4D17-9763-D0B8C0C58900}"/>
              </a:ext>
            </a:extLst>
          </p:cNvPr>
          <p:cNvSpPr>
            <a:spLocks xmlns:a="http://schemas.openxmlformats.org/drawingml/2006/main" noGrp="1"/>
          </p:cNvSpPr>
          <p:nvPr/>
        </p:nvSpPr>
        <p:spPr>
          <a:xfrm xmlns:a="http://schemas.openxmlformats.org/drawingml/2006/main">
            <a:off x="9429750" y="44577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B5F55"/>
                </a:solidFill>
              </a:defRPr>
            </a:pPr>
            <a:r>
              <a:rPr sz="1350" b="0">
                <a:solidFill>
                  <a:srgbClr val="6B5F55"/>
                </a:solidFill>
              </a:rPr>
              <a:t>Có thể đóng gói</a:t>
            </a:r>
          </a:p>
        </p:txBody>
      </p:sp>
    </p:spTree>
    <p:extLst>
      <p:ext uri="{BB962C8B-B14F-4D97-AF65-F5344CB8AC3E}">
        <p14:creationId xmlns:p14="http://schemas.microsoft.com/office/powerpoint/2010/main" val="1469750133"/>
      </p:ext>
    </p:extLst>
  </p:cSld>
</p:sld>
</file>

<file path=ppt/slides/slide2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4B3DEBA-1EFA-4ACE-BC61-99D1C2023E23}"/>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4731FCDD-C8BE-4BB8-87C6-390B3B7434AD}"/>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Ví dụ: luồng dữ liệu của trang Tin tức</a:t>
            </a:r>
          </a:p>
        </p:txBody>
      </p:sp>
      <p:sp>
        <p:nvSpPr>
          <p:cNvPr id="3" name="">
            <a:extLst xmlns:a="http://schemas.openxmlformats.org/drawingml/2006/main">
              <a:ext uri="{FF2B5EF4-FFF2-40B4-BE49-F238E27FC236}">
                <a16:creationId xmlns:a16="http://schemas.microsoft.com/office/drawing/2014/main" id="{0460298C-C137-4D07-A9D8-E1587F58D19D}"/>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065A2679-4C14-4D77-AFDA-087949F083CA}"/>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8B770757-478A-46A6-AB71-B9F2CB01EDAE}"/>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26</a:t>
            </a:r>
          </a:p>
        </p:txBody>
      </p:sp>
      <p:sp>
        <p:nvSpPr>
          <p:cNvPr id="6" name="">
            <a:extLst xmlns:a="http://schemas.openxmlformats.org/drawingml/2006/main">
              <a:ext uri="{FF2B5EF4-FFF2-40B4-BE49-F238E27FC236}">
                <a16:creationId xmlns:a16="http://schemas.microsoft.com/office/drawing/2014/main" id="{1614B1D8-7C1B-41DE-A42B-65068BA9963F}"/>
              </a:ext>
            </a:extLst>
          </p:cNvPr>
          <p:cNvSpPr>
            <a:spLocks xmlns:a="http://schemas.openxmlformats.org/drawingml/2006/main" noGrp="1"/>
          </p:cNvSpPr>
          <p:nvPr/>
        </p:nvSpPr>
        <p:spPr>
          <a:xfrm xmlns:a="http://schemas.openxmlformats.org/drawingml/2006/main">
            <a:off x="685800" y="14478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VÍ DỤ MINH HỌA — route chưa được triển khai</a:t>
            </a:r>
          </a:p>
        </p:txBody>
      </p:sp>
      <p:sp>
        <p:nvSpPr>
          <p:cNvPr id="7" name="">
            <a:extLst xmlns:a="http://schemas.openxmlformats.org/drawingml/2006/main">
              <a:ext uri="{FF2B5EF4-FFF2-40B4-BE49-F238E27FC236}">
                <a16:creationId xmlns:a16="http://schemas.microsoft.com/office/drawing/2014/main" id="{A990F750-B10F-4328-9B5F-1DE7D68E432C}"/>
              </a:ext>
            </a:extLst>
          </p:cNvPr>
          <p:cNvSpPr>
            <a:spLocks xmlns:a="http://schemas.openxmlformats.org/drawingml/2006/main" noGrp="1"/>
          </p:cNvSpPr>
          <p:nvPr/>
        </p:nvSpPr>
        <p:spPr>
          <a:xfrm xmlns:a="http://schemas.openxmlformats.org/drawingml/2006/main">
            <a:off x="685800" y="2266950"/>
            <a:ext cx="2190750" cy="1809750"/>
          </a:xfrm>
          <a:prstGeom xmlns:a="http://schemas.openxmlformats.org/drawingml/2006/main" prst="roundRect">
            <a:avLst>
              <a:gd name="adj" fmla="val 11579"/>
            </a:avLst>
          </a:prstGeom>
          <a:solidFill xmlns:a="http://schemas.openxmlformats.org/drawingml/2006/main">
            <a:srgbClr val="FFFFFF"/>
          </a:solidFill>
          <a:ln xmlns:a="http://schemas.openxmlformats.org/drawingml/2006/main" w="9525">
            <a:solidFill>
              <a:srgbClr val="E7DFD5"/>
            </a:solidFill>
            <a:prstDash val="solid"/>
          </a:ln>
        </p:spPr>
      </p:sp>
      <p:sp>
        <p:nvSpPr>
          <p:cNvPr id="8" name="">
            <a:extLst xmlns:a="http://schemas.openxmlformats.org/drawingml/2006/main">
              <a:ext uri="{FF2B5EF4-FFF2-40B4-BE49-F238E27FC236}">
                <a16:creationId xmlns:a16="http://schemas.microsoft.com/office/drawing/2014/main" id="{77AD9C47-3A96-43AE-8CF7-4D0AC0F5A934}"/>
              </a:ext>
            </a:extLst>
          </p:cNvPr>
          <p:cNvSpPr>
            <a:spLocks xmlns:a="http://schemas.openxmlformats.org/drawingml/2006/main" noGrp="1"/>
          </p:cNvSpPr>
          <p:nvPr/>
        </p:nvSpPr>
        <p:spPr>
          <a:xfrm xmlns:a="http://schemas.openxmlformats.org/drawingml/2006/main">
            <a:off x="895350" y="2476500"/>
            <a:ext cx="552450" cy="5524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FE-2</a:t>
            </a:r>
          </a:p>
        </p:txBody>
      </p:sp>
      <p:sp>
        <p:nvSpPr>
          <p:cNvPr id="9" name="">
            <a:extLst xmlns:a="http://schemas.openxmlformats.org/drawingml/2006/main">
              <a:ext uri="{FF2B5EF4-FFF2-40B4-BE49-F238E27FC236}">
                <a16:creationId xmlns:a16="http://schemas.microsoft.com/office/drawing/2014/main" id="{D8420CF1-5DF8-4858-B012-589C7D9DB94D}"/>
              </a:ext>
            </a:extLst>
          </p:cNvPr>
          <p:cNvSpPr>
            <a:spLocks xmlns:a="http://schemas.openxmlformats.org/drawingml/2006/main" noGrp="1"/>
          </p:cNvSpPr>
          <p:nvPr/>
        </p:nvSpPr>
        <p:spPr>
          <a:xfrm xmlns:a="http://schemas.openxmlformats.org/drawingml/2006/main">
            <a:off x="895350" y="320040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Gọi /news</a:t>
            </a:r>
          </a:p>
        </p:txBody>
      </p:sp>
      <p:sp>
        <p:nvSpPr>
          <p:cNvPr id="10" name="">
            <a:extLst xmlns:a="http://schemas.openxmlformats.org/drawingml/2006/main">
              <a:ext uri="{FF2B5EF4-FFF2-40B4-BE49-F238E27FC236}">
                <a16:creationId xmlns:a16="http://schemas.microsoft.com/office/drawing/2014/main" id="{7622C0E7-4E3E-4558-8968-FF1A5AC2C24A}"/>
              </a:ext>
            </a:extLst>
          </p:cNvPr>
          <p:cNvSpPr>
            <a:spLocks xmlns:a="http://schemas.openxmlformats.org/drawingml/2006/main" noGrp="1"/>
          </p:cNvSpPr>
          <p:nvPr/>
        </p:nvSpPr>
        <p:spPr>
          <a:xfrm xmlns:a="http://schemas.openxmlformats.org/drawingml/2006/main">
            <a:off x="895350" y="3600450"/>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B5F55"/>
                </a:solidFill>
              </a:defRPr>
            </a:pPr>
            <a:r>
              <a:rPr sz="1275" b="0">
                <a:solidFill>
                  <a:srgbClr val="6B5F55"/>
                </a:solidFill>
              </a:rPr>
              <a:t>Hiển thị danh sách</a:t>
            </a:r>
          </a:p>
        </p:txBody>
      </p:sp>
      <p:sp>
        <p:nvSpPr>
          <p:cNvPr id="11" name="">
            <a:extLst xmlns:a="http://schemas.openxmlformats.org/drawingml/2006/main">
              <a:ext uri="{FF2B5EF4-FFF2-40B4-BE49-F238E27FC236}">
                <a16:creationId xmlns:a16="http://schemas.microsoft.com/office/drawing/2014/main" id="{C4088A72-57EE-49EF-9D9A-36B7D30BDF1F}"/>
              </a:ext>
            </a:extLst>
          </p:cNvPr>
          <p:cNvSpPr>
            <a:spLocks xmlns:a="http://schemas.openxmlformats.org/drawingml/2006/main" noGrp="1"/>
          </p:cNvSpPr>
          <p:nvPr/>
        </p:nvSpPr>
        <p:spPr>
          <a:xfrm xmlns:a="http://schemas.openxmlformats.org/drawingml/2006/main">
            <a:off x="3333750" y="2266950"/>
            <a:ext cx="2190750" cy="1809750"/>
          </a:xfrm>
          <a:prstGeom xmlns:a="http://schemas.openxmlformats.org/drawingml/2006/main" prst="roundRect">
            <a:avLst>
              <a:gd name="adj" fmla="val 11579"/>
            </a:avLst>
          </a:prstGeom>
          <a:solidFill xmlns:a="http://schemas.openxmlformats.org/drawingml/2006/main">
            <a:srgbClr val="FFFFFF"/>
          </a:solidFill>
          <a:ln xmlns:a="http://schemas.openxmlformats.org/drawingml/2006/main" w="9525">
            <a:solidFill>
              <a:srgbClr val="E7DFD5"/>
            </a:solidFill>
            <a:prstDash val="solid"/>
          </a:ln>
        </p:spPr>
      </p:sp>
      <p:sp>
        <p:nvSpPr>
          <p:cNvPr id="12" name="">
            <a:extLst xmlns:a="http://schemas.openxmlformats.org/drawingml/2006/main">
              <a:ext uri="{FF2B5EF4-FFF2-40B4-BE49-F238E27FC236}">
                <a16:creationId xmlns:a16="http://schemas.microsoft.com/office/drawing/2014/main" id="{94B90552-3E83-46F2-8DA3-F705373EAA0B}"/>
              </a:ext>
            </a:extLst>
          </p:cNvPr>
          <p:cNvSpPr>
            <a:spLocks xmlns:a="http://schemas.openxmlformats.org/drawingml/2006/main" noGrp="1"/>
          </p:cNvSpPr>
          <p:nvPr/>
        </p:nvSpPr>
        <p:spPr>
          <a:xfrm xmlns:a="http://schemas.openxmlformats.org/drawingml/2006/main">
            <a:off x="3543300" y="2476500"/>
            <a:ext cx="552450" cy="5524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BE-3</a:t>
            </a:r>
          </a:p>
        </p:txBody>
      </p:sp>
      <p:sp>
        <p:nvSpPr>
          <p:cNvPr id="13" name="">
            <a:extLst xmlns:a="http://schemas.openxmlformats.org/drawingml/2006/main">
              <a:ext uri="{FF2B5EF4-FFF2-40B4-BE49-F238E27FC236}">
                <a16:creationId xmlns:a16="http://schemas.microsoft.com/office/drawing/2014/main" id="{EC09EC74-E175-4814-A746-5407E7A308BA}"/>
              </a:ext>
            </a:extLst>
          </p:cNvPr>
          <p:cNvSpPr>
            <a:spLocks xmlns:a="http://schemas.openxmlformats.org/drawingml/2006/main" noGrp="1"/>
          </p:cNvSpPr>
          <p:nvPr/>
        </p:nvSpPr>
        <p:spPr>
          <a:xfrm xmlns:a="http://schemas.openxmlformats.org/drawingml/2006/main">
            <a:off x="3543300" y="320040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Xử lý API</a:t>
            </a:r>
          </a:p>
        </p:txBody>
      </p:sp>
      <p:sp>
        <p:nvSpPr>
          <p:cNvPr id="14" name="">
            <a:extLst xmlns:a="http://schemas.openxmlformats.org/drawingml/2006/main">
              <a:ext uri="{FF2B5EF4-FFF2-40B4-BE49-F238E27FC236}">
                <a16:creationId xmlns:a16="http://schemas.microsoft.com/office/drawing/2014/main" id="{EB8D3292-5E51-4AED-A459-4711FDB20F7A}"/>
              </a:ext>
            </a:extLst>
          </p:cNvPr>
          <p:cNvSpPr>
            <a:spLocks xmlns:a="http://schemas.openxmlformats.org/drawingml/2006/main" noGrp="1"/>
          </p:cNvSpPr>
          <p:nvPr/>
        </p:nvSpPr>
        <p:spPr>
          <a:xfrm xmlns:a="http://schemas.openxmlformats.org/drawingml/2006/main">
            <a:off x="3543300" y="3600450"/>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B5F55"/>
                </a:solidFill>
              </a:defRPr>
            </a:pPr>
            <a:r>
              <a:rPr sz="1275" b="0">
                <a:solidFill>
                  <a:srgbClr val="6B5F55"/>
                </a:solidFill>
              </a:rPr>
              <a:t>Kiểm tra và trả JSON</a:t>
            </a:r>
          </a:p>
        </p:txBody>
      </p:sp>
      <p:sp>
        <p:nvSpPr>
          <p:cNvPr id="15" name="">
            <a:extLst xmlns:a="http://schemas.openxmlformats.org/drawingml/2006/main">
              <a:ext uri="{FF2B5EF4-FFF2-40B4-BE49-F238E27FC236}">
                <a16:creationId xmlns:a16="http://schemas.microsoft.com/office/drawing/2014/main" id="{F5B3EBB5-AAF4-4D97-BD64-4F6350E73CC8}"/>
              </a:ext>
            </a:extLst>
          </p:cNvPr>
          <p:cNvSpPr>
            <a:spLocks xmlns:a="http://schemas.openxmlformats.org/drawingml/2006/main" noGrp="1"/>
          </p:cNvSpPr>
          <p:nvPr/>
        </p:nvSpPr>
        <p:spPr>
          <a:xfrm xmlns:a="http://schemas.openxmlformats.org/drawingml/2006/main">
            <a:off x="5981700" y="2266950"/>
            <a:ext cx="2190750" cy="1809750"/>
          </a:xfrm>
          <a:prstGeom xmlns:a="http://schemas.openxmlformats.org/drawingml/2006/main" prst="roundRect">
            <a:avLst>
              <a:gd name="adj" fmla="val 11579"/>
            </a:avLst>
          </a:prstGeom>
          <a:solidFill xmlns:a="http://schemas.openxmlformats.org/drawingml/2006/main">
            <a:srgbClr val="FFFFFF"/>
          </a:solidFill>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B0EE786F-D741-4F84-B183-D4D2412D1F6E}"/>
              </a:ext>
            </a:extLst>
          </p:cNvPr>
          <p:cNvSpPr>
            <a:spLocks xmlns:a="http://schemas.openxmlformats.org/drawingml/2006/main" noGrp="1"/>
          </p:cNvSpPr>
          <p:nvPr/>
        </p:nvSpPr>
        <p:spPr>
          <a:xfrm xmlns:a="http://schemas.openxmlformats.org/drawingml/2006/main">
            <a:off x="6191250" y="2476500"/>
            <a:ext cx="552450" cy="552450"/>
          </a:xfrm>
          <a:prstGeom xmlns:a="http://schemas.openxmlformats.org/drawingml/2006/main" prst="ellipse">
            <a:avLst/>
          </a:prstGeom>
          <a:solidFill xmlns:a="http://schemas.openxmlformats.org/drawingml/2006/main">
            <a:srgbClr val="0B3E7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BE-1</a:t>
            </a:r>
          </a:p>
        </p:txBody>
      </p:sp>
      <p:sp>
        <p:nvSpPr>
          <p:cNvPr id="17" name="">
            <a:extLst xmlns:a="http://schemas.openxmlformats.org/drawingml/2006/main">
              <a:ext uri="{FF2B5EF4-FFF2-40B4-BE49-F238E27FC236}">
                <a16:creationId xmlns:a16="http://schemas.microsoft.com/office/drawing/2014/main" id="{D9E95638-9558-4157-AC42-D2CECEBF6884}"/>
              </a:ext>
            </a:extLst>
          </p:cNvPr>
          <p:cNvSpPr>
            <a:spLocks xmlns:a="http://schemas.openxmlformats.org/drawingml/2006/main" noGrp="1"/>
          </p:cNvSpPr>
          <p:nvPr/>
        </p:nvSpPr>
        <p:spPr>
          <a:xfrm xmlns:a="http://schemas.openxmlformats.org/drawingml/2006/main">
            <a:off x="6191250" y="320040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Schema news</a:t>
            </a:r>
          </a:p>
        </p:txBody>
      </p:sp>
      <p:sp>
        <p:nvSpPr>
          <p:cNvPr id="18" name="">
            <a:extLst xmlns:a="http://schemas.openxmlformats.org/drawingml/2006/main">
              <a:ext uri="{FF2B5EF4-FFF2-40B4-BE49-F238E27FC236}">
                <a16:creationId xmlns:a16="http://schemas.microsoft.com/office/drawing/2014/main" id="{BA932D23-47C7-4C2B-87B7-02E104E2B83E}"/>
              </a:ext>
            </a:extLst>
          </p:cNvPr>
          <p:cNvSpPr>
            <a:spLocks xmlns:a="http://schemas.openxmlformats.org/drawingml/2006/main" noGrp="1"/>
          </p:cNvSpPr>
          <p:nvPr/>
        </p:nvSpPr>
        <p:spPr>
          <a:xfrm xmlns:a="http://schemas.openxmlformats.org/drawingml/2006/main">
            <a:off x="6191250" y="3600450"/>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B5F55"/>
                </a:solidFill>
              </a:defRPr>
            </a:pPr>
            <a:r>
              <a:rPr sz="1275" b="0">
                <a:solidFill>
                  <a:srgbClr val="6B5F55"/>
                </a:solidFill>
              </a:rPr>
              <a:t>Lưu dữ liệu đúng cấu trúc</a:t>
            </a:r>
          </a:p>
        </p:txBody>
      </p:sp>
      <p:sp>
        <p:nvSpPr>
          <p:cNvPr id="19" name="">
            <a:extLst xmlns:a="http://schemas.openxmlformats.org/drawingml/2006/main">
              <a:ext uri="{FF2B5EF4-FFF2-40B4-BE49-F238E27FC236}">
                <a16:creationId xmlns:a16="http://schemas.microsoft.com/office/drawing/2014/main" id="{9787660E-5C13-4347-89C3-A37EA940381B}"/>
              </a:ext>
            </a:extLst>
          </p:cNvPr>
          <p:cNvSpPr>
            <a:spLocks xmlns:a="http://schemas.openxmlformats.org/drawingml/2006/main" noGrp="1"/>
          </p:cNvSpPr>
          <p:nvPr/>
        </p:nvSpPr>
        <p:spPr>
          <a:xfrm xmlns:a="http://schemas.openxmlformats.org/drawingml/2006/main">
            <a:off x="8629650" y="2266950"/>
            <a:ext cx="2190750" cy="1809750"/>
          </a:xfrm>
          <a:prstGeom xmlns:a="http://schemas.openxmlformats.org/drawingml/2006/main" prst="roundRect">
            <a:avLst>
              <a:gd name="adj" fmla="val 11579"/>
            </a:avLst>
          </a:prstGeom>
          <a:solidFill xmlns:a="http://schemas.openxmlformats.org/drawingml/2006/main">
            <a:srgbClr val="FFFFFF"/>
          </a:solidFill>
          <a:ln xmlns:a="http://schemas.openxmlformats.org/drawingml/2006/main" w="9525">
            <a:solidFill>
              <a:srgbClr val="E7DFD5"/>
            </a:solidFill>
            <a:prstDash val="solid"/>
          </a:ln>
        </p:spPr>
      </p:sp>
      <p:sp>
        <p:nvSpPr>
          <p:cNvPr id="20" name="">
            <a:extLst xmlns:a="http://schemas.openxmlformats.org/drawingml/2006/main">
              <a:ext uri="{FF2B5EF4-FFF2-40B4-BE49-F238E27FC236}">
                <a16:creationId xmlns:a16="http://schemas.microsoft.com/office/drawing/2014/main" id="{7DE95838-76E9-4700-9322-5F425F73B3C2}"/>
              </a:ext>
            </a:extLst>
          </p:cNvPr>
          <p:cNvSpPr>
            <a:spLocks xmlns:a="http://schemas.openxmlformats.org/drawingml/2006/main" noGrp="1"/>
          </p:cNvSpPr>
          <p:nvPr/>
        </p:nvSpPr>
        <p:spPr>
          <a:xfrm xmlns:a="http://schemas.openxmlformats.org/drawingml/2006/main">
            <a:off x="8839200" y="2476500"/>
            <a:ext cx="552450" cy="5524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OP-2</a:t>
            </a:r>
          </a:p>
        </p:txBody>
      </p:sp>
      <p:sp>
        <p:nvSpPr>
          <p:cNvPr id="21" name="">
            <a:extLst xmlns:a="http://schemas.openxmlformats.org/drawingml/2006/main">
              <a:ext uri="{FF2B5EF4-FFF2-40B4-BE49-F238E27FC236}">
                <a16:creationId xmlns:a16="http://schemas.microsoft.com/office/drawing/2014/main" id="{6523712E-C6AB-47F2-896A-C5FFFF125BF4}"/>
              </a:ext>
            </a:extLst>
          </p:cNvPr>
          <p:cNvSpPr>
            <a:spLocks xmlns:a="http://schemas.openxmlformats.org/drawingml/2006/main" noGrp="1"/>
          </p:cNvSpPr>
          <p:nvPr/>
        </p:nvSpPr>
        <p:spPr>
          <a:xfrm xmlns:a="http://schemas.openxmlformats.org/drawingml/2006/main">
            <a:off x="8839200" y="320040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01A16"/>
                </a:solidFill>
              </a:defRPr>
            </a:pPr>
            <a:r>
              <a:rPr sz="1725" b="1">
                <a:solidFill>
                  <a:srgbClr val="201A16"/>
                </a:solidFill>
              </a:rPr>
              <a:t>Kiểm thử</a:t>
            </a:r>
          </a:p>
        </p:txBody>
      </p:sp>
      <p:sp>
        <p:nvSpPr>
          <p:cNvPr id="22" name="">
            <a:extLst xmlns:a="http://schemas.openxmlformats.org/drawingml/2006/main">
              <a:ext uri="{FF2B5EF4-FFF2-40B4-BE49-F238E27FC236}">
                <a16:creationId xmlns:a16="http://schemas.microsoft.com/office/drawing/2014/main" id="{2A795D22-9A1A-49B6-B2D0-6AE97D3D2B3F}"/>
              </a:ext>
            </a:extLst>
          </p:cNvPr>
          <p:cNvSpPr>
            <a:spLocks xmlns:a="http://schemas.openxmlformats.org/drawingml/2006/main" noGrp="1"/>
          </p:cNvSpPr>
          <p:nvPr/>
        </p:nvSpPr>
        <p:spPr>
          <a:xfrm xmlns:a="http://schemas.openxmlformats.org/drawingml/2006/main">
            <a:off x="8839200" y="3600450"/>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B5F55"/>
                </a:solidFill>
              </a:defRPr>
            </a:pPr>
            <a:r>
              <a:rPr sz="1275" b="0">
                <a:solidFill>
                  <a:srgbClr val="6B5F55"/>
                </a:solidFill>
              </a:rPr>
              <a:t>Loading • lỗi • kết quả</a:t>
            </a:r>
          </a:p>
        </p:txBody>
      </p:sp>
      <p:cxnSp>
        <p:nvCxnSpPr>
          <p:cNvPr id="50" name=""/>
          <p:cNvCxnSpPr>
            <a:stCxn xmlns:a="http://schemas.openxmlformats.org/drawingml/2006/main" id="7" idx="3"/>
            <a:endCxn xmlns:a="http://schemas.openxmlformats.org/drawingml/2006/main" id="11" idx="1"/>
          </p:cNvCxnSpPr>
          <p:nvPr/>
        </p:nvCxnSpPr>
        <p:spPr>
          <a:xfrm xmlns:a="http://schemas.openxmlformats.org/drawingml/2006/main">
            <a:off x="2876550" y="317182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1" name=""/>
          <p:cNvCxnSpPr>
            <a:stCxn xmlns:a="http://schemas.openxmlformats.org/drawingml/2006/main" id="11" idx="3"/>
            <a:endCxn xmlns:a="http://schemas.openxmlformats.org/drawingml/2006/main" id="15" idx="1"/>
          </p:cNvCxnSpPr>
          <p:nvPr/>
        </p:nvCxnSpPr>
        <p:spPr>
          <a:xfrm xmlns:a="http://schemas.openxmlformats.org/drawingml/2006/main">
            <a:off x="5524500" y="317182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2" name=""/>
          <p:cNvCxnSpPr>
            <a:stCxn xmlns:a="http://schemas.openxmlformats.org/drawingml/2006/main" id="15" idx="3"/>
            <a:endCxn xmlns:a="http://schemas.openxmlformats.org/drawingml/2006/main" id="19" idx="1"/>
          </p:cNvCxnSpPr>
          <p:nvPr/>
        </p:nvCxnSpPr>
        <p:spPr>
          <a:xfrm xmlns:a="http://schemas.openxmlformats.org/drawingml/2006/main">
            <a:off x="8172450" y="3171825"/>
            <a:ext cx="4572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sp>
        <p:nvSpPr>
          <p:cNvPr id="26" name="">
            <a:extLst xmlns:a="http://schemas.openxmlformats.org/drawingml/2006/main">
              <a:ext uri="{FF2B5EF4-FFF2-40B4-BE49-F238E27FC236}">
                <a16:creationId xmlns:a16="http://schemas.microsoft.com/office/drawing/2014/main" id="{48F80568-5862-4274-B2D6-024B5487659D}"/>
              </a:ext>
            </a:extLst>
          </p:cNvPr>
          <p:cNvSpPr>
            <a:spLocks xmlns:a="http://schemas.openxmlformats.org/drawingml/2006/main" noGrp="1"/>
          </p:cNvSpPr>
          <p:nvPr/>
        </p:nvSpPr>
        <p:spPr>
          <a:xfrm xmlns:a="http://schemas.openxmlformats.org/drawingml/2006/main">
            <a:off x="685800" y="4629150"/>
            <a:ext cx="10134600" cy="781050"/>
          </a:xfrm>
          <a:prstGeom xmlns:a="http://schemas.openxmlformats.org/drawingml/2006/main" prst="roundRect">
            <a:avLst>
              <a:gd name="adj" fmla="val 21951"/>
            </a:avLst>
          </a:prstGeom>
          <a:solidFill xmlns:a="http://schemas.openxmlformats.org/drawingml/2006/main">
            <a:srgbClr val="081A33"/>
          </a:solidFill>
          <a:ln xmlns:a="http://schemas.openxmlformats.org/drawingml/2006/main" w="9525">
            <a:solidFill>
              <a:srgbClr val="081A33"/>
            </a:solidFill>
            <a:prstDash val="solid"/>
          </a:ln>
        </p:spPr>
      </p:sp>
      <p:sp>
        <p:nvSpPr>
          <p:cNvPr id="27" name="">
            <a:extLst xmlns:a="http://schemas.openxmlformats.org/drawingml/2006/main">
              <a:ext uri="{FF2B5EF4-FFF2-40B4-BE49-F238E27FC236}">
                <a16:creationId xmlns:a16="http://schemas.microsoft.com/office/drawing/2014/main" id="{31B8869F-C272-4FD3-9956-3CB34FF16C75}"/>
              </a:ext>
            </a:extLst>
          </p:cNvPr>
          <p:cNvSpPr>
            <a:spLocks xmlns:a="http://schemas.openxmlformats.org/drawingml/2006/main" noGrp="1"/>
          </p:cNvSpPr>
          <p:nvPr/>
        </p:nvSpPr>
        <p:spPr>
          <a:xfrm xmlns:a="http://schemas.openxmlformats.org/drawingml/2006/main">
            <a:off x="914400" y="4791075"/>
            <a:ext cx="967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FFFFFF"/>
                </a:solidFill>
              </a:defRPr>
            </a:pPr>
            <a:r>
              <a:rPr sz="1500" b="0">
                <a:solidFill>
                  <a:srgbClr val="FFFFFF"/>
                </a:solidFill>
              </a:rPr>
              <a:t>fetch('/news')    →    app.get('/news')    →    SELECT ... FROM news</a:t>
            </a:r>
          </a:p>
        </p:txBody>
      </p:sp>
    </p:spTree>
    <p:extLst>
      <p:ext uri="{BB962C8B-B14F-4D97-AF65-F5344CB8AC3E}">
        <p14:creationId xmlns:p14="http://schemas.microsoft.com/office/powerpoint/2010/main" val="1111968536"/>
      </p:ext>
    </p:extLst>
  </p:cSld>
</p:sld>
</file>

<file path=ppt/slides/slide2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F44DCB7-5040-4D20-832B-E5FE38E91D4A}"/>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11CF0925-602B-42E3-A01C-DDEC25667D05}"/>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Luồng Gia nhập APC nối Frontend, Backend, email và CMS</a:t>
            </a:r>
          </a:p>
        </p:txBody>
      </p:sp>
      <p:sp>
        <p:nvSpPr>
          <p:cNvPr id="3" name="">
            <a:extLst xmlns:a="http://schemas.openxmlformats.org/drawingml/2006/main">
              <a:ext uri="{FF2B5EF4-FFF2-40B4-BE49-F238E27FC236}">
                <a16:creationId xmlns:a16="http://schemas.microsoft.com/office/drawing/2014/main" id="{0E347471-11AB-4DAA-9536-5EA9F392765A}"/>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9AFFD6C4-2F95-4700-8B16-89DF9A10382D}"/>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E8BC09FA-36D1-4C4C-9CF0-F4FEA8112A0A}"/>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27</a:t>
            </a:r>
          </a:p>
        </p:txBody>
      </p:sp>
      <p:sp>
        <p:nvSpPr>
          <p:cNvPr id="6" name="">
            <a:extLst xmlns:a="http://schemas.openxmlformats.org/drawingml/2006/main">
              <a:ext uri="{FF2B5EF4-FFF2-40B4-BE49-F238E27FC236}">
                <a16:creationId xmlns:a16="http://schemas.microsoft.com/office/drawing/2014/main" id="{6911903B-399F-4CDB-94AE-FDB9AAA56855}"/>
              </a:ext>
            </a:extLst>
          </p:cNvPr>
          <p:cNvSpPr>
            <a:spLocks xmlns:a="http://schemas.openxmlformats.org/drawingml/2006/main" noGrp="1"/>
          </p:cNvSpPr>
          <p:nvPr/>
        </p:nvSpPr>
        <p:spPr>
          <a:xfrm xmlns:a="http://schemas.openxmlformats.org/drawingml/2006/main">
            <a:off x="685800" y="2038350"/>
            <a:ext cx="1866900" cy="179070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E7DFD5"/>
            </a:solidFill>
            <a:prstDash val="solid"/>
          </a:ln>
        </p:spPr>
      </p:sp>
      <p:sp>
        <p:nvSpPr>
          <p:cNvPr id="7" name="">
            <a:extLst xmlns:a="http://schemas.openxmlformats.org/drawingml/2006/main">
              <a:ext uri="{FF2B5EF4-FFF2-40B4-BE49-F238E27FC236}">
                <a16:creationId xmlns:a16="http://schemas.microsoft.com/office/drawing/2014/main" id="{D621E039-8055-4F43-92EB-A4BF14FD5501}"/>
              </a:ext>
            </a:extLst>
          </p:cNvPr>
          <p:cNvSpPr>
            <a:spLocks xmlns:a="http://schemas.openxmlformats.org/drawingml/2006/main" noGrp="1"/>
          </p:cNvSpPr>
          <p:nvPr/>
        </p:nvSpPr>
        <p:spPr>
          <a:xfrm xmlns:a="http://schemas.openxmlformats.org/drawingml/2006/main">
            <a:off x="857250" y="22669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568C9"/>
                </a:solidFill>
              </a:defRPr>
            </a:pPr>
            <a:r>
              <a:rPr sz="1500" b="1">
                <a:solidFill>
                  <a:srgbClr val="1568C9"/>
                </a:solidFill>
              </a:rPr>
              <a:t>1. Điền form</a:t>
            </a:r>
          </a:p>
        </p:txBody>
      </p:sp>
      <p:sp>
        <p:nvSpPr>
          <p:cNvPr id="8" name="">
            <a:extLst xmlns:a="http://schemas.openxmlformats.org/drawingml/2006/main">
              <a:ext uri="{FF2B5EF4-FFF2-40B4-BE49-F238E27FC236}">
                <a16:creationId xmlns:a16="http://schemas.microsoft.com/office/drawing/2014/main" id="{FF019811-945E-4BAA-B7CB-D94D504E11C4}"/>
              </a:ext>
            </a:extLst>
          </p:cNvPr>
          <p:cNvSpPr>
            <a:spLocks xmlns:a="http://schemas.openxmlformats.org/drawingml/2006/main" noGrp="1"/>
          </p:cNvSpPr>
          <p:nvPr/>
        </p:nvSpPr>
        <p:spPr>
          <a:xfrm xmlns:a="http://schemas.openxmlformats.org/drawingml/2006/main">
            <a:off x="857250" y="2876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B5F55"/>
                </a:solidFill>
              </a:defRPr>
            </a:pPr>
            <a:r>
              <a:rPr sz="1275" b="0">
                <a:solidFill>
                  <a:srgbClr val="6B5F55"/>
                </a:solidFill>
              </a:rPr>
              <a:t>FE-3 validate từng trường</a:t>
            </a:r>
          </a:p>
        </p:txBody>
      </p:sp>
      <p:sp>
        <p:nvSpPr>
          <p:cNvPr id="9" name="">
            <a:extLst xmlns:a="http://schemas.openxmlformats.org/drawingml/2006/main">
              <a:ext uri="{FF2B5EF4-FFF2-40B4-BE49-F238E27FC236}">
                <a16:creationId xmlns:a16="http://schemas.microsoft.com/office/drawing/2014/main" id="{0F842D81-676B-42F0-A048-D421893125A1}"/>
              </a:ext>
            </a:extLst>
          </p:cNvPr>
          <p:cNvSpPr>
            <a:spLocks xmlns:a="http://schemas.openxmlformats.org/drawingml/2006/main" noGrp="1"/>
          </p:cNvSpPr>
          <p:nvPr/>
        </p:nvSpPr>
        <p:spPr>
          <a:xfrm xmlns:a="http://schemas.openxmlformats.org/drawingml/2006/main">
            <a:off x="2857500" y="2038350"/>
            <a:ext cx="1866900" cy="179070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C2DEDDCD-7762-414C-A9A3-03552029A820}"/>
              </a:ext>
            </a:extLst>
          </p:cNvPr>
          <p:cNvSpPr>
            <a:spLocks xmlns:a="http://schemas.openxmlformats.org/drawingml/2006/main" noGrp="1"/>
          </p:cNvSpPr>
          <p:nvPr/>
        </p:nvSpPr>
        <p:spPr>
          <a:xfrm xmlns:a="http://schemas.openxmlformats.org/drawingml/2006/main">
            <a:off x="3028950" y="22669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23B22"/>
                </a:solidFill>
              </a:defRPr>
            </a:pPr>
            <a:r>
              <a:rPr sz="1500" b="1">
                <a:solidFill>
                  <a:srgbClr val="C23B22"/>
                </a:solidFill>
              </a:rPr>
              <a:t>2. Nộp đơn</a:t>
            </a:r>
          </a:p>
        </p:txBody>
      </p:sp>
      <p:sp>
        <p:nvSpPr>
          <p:cNvPr id="11" name="">
            <a:extLst xmlns:a="http://schemas.openxmlformats.org/drawingml/2006/main">
              <a:ext uri="{FF2B5EF4-FFF2-40B4-BE49-F238E27FC236}">
                <a16:creationId xmlns:a16="http://schemas.microsoft.com/office/drawing/2014/main" id="{4CDAA48F-591F-4610-B251-4AA7B37DF210}"/>
              </a:ext>
            </a:extLst>
          </p:cNvPr>
          <p:cNvSpPr>
            <a:spLocks xmlns:a="http://schemas.openxmlformats.org/drawingml/2006/main" noGrp="1"/>
          </p:cNvSpPr>
          <p:nvPr/>
        </p:nvSpPr>
        <p:spPr>
          <a:xfrm xmlns:a="http://schemas.openxmlformats.org/drawingml/2006/main">
            <a:off x="3028950" y="2876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B5F55"/>
                </a:solidFill>
              </a:defRPr>
            </a:pPr>
            <a:r>
              <a:rPr sz="1275" b="0">
                <a:solidFill>
                  <a:srgbClr val="6B5F55"/>
                </a:solidFill>
              </a:rPr>
              <a:t>POST /applications</a:t>
            </a:r>
          </a:p>
        </p:txBody>
      </p:sp>
      <p:sp>
        <p:nvSpPr>
          <p:cNvPr id="12" name="">
            <a:extLst xmlns:a="http://schemas.openxmlformats.org/drawingml/2006/main">
              <a:ext uri="{FF2B5EF4-FFF2-40B4-BE49-F238E27FC236}">
                <a16:creationId xmlns:a16="http://schemas.microsoft.com/office/drawing/2014/main" id="{8CC41EAA-20BF-4C3C-A4E8-956046F551E8}"/>
              </a:ext>
            </a:extLst>
          </p:cNvPr>
          <p:cNvSpPr>
            <a:spLocks xmlns:a="http://schemas.openxmlformats.org/drawingml/2006/main" noGrp="1"/>
          </p:cNvSpPr>
          <p:nvPr/>
        </p:nvSpPr>
        <p:spPr>
          <a:xfrm xmlns:a="http://schemas.openxmlformats.org/drawingml/2006/main">
            <a:off x="5029200" y="2038350"/>
            <a:ext cx="1866900" cy="179070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E7DFD5"/>
            </a:solidFill>
            <a:prstDash val="solid"/>
          </a:ln>
        </p:spPr>
      </p:sp>
      <p:sp>
        <p:nvSpPr>
          <p:cNvPr id="13" name="">
            <a:extLst xmlns:a="http://schemas.openxmlformats.org/drawingml/2006/main">
              <a:ext uri="{FF2B5EF4-FFF2-40B4-BE49-F238E27FC236}">
                <a16:creationId xmlns:a16="http://schemas.microsoft.com/office/drawing/2014/main" id="{D421FDB6-1657-424E-AA6C-A767FDAAA6F0}"/>
              </a:ext>
            </a:extLst>
          </p:cNvPr>
          <p:cNvSpPr>
            <a:spLocks xmlns:a="http://schemas.openxmlformats.org/drawingml/2006/main" noGrp="1"/>
          </p:cNvSpPr>
          <p:nvPr/>
        </p:nvSpPr>
        <p:spPr>
          <a:xfrm xmlns:a="http://schemas.openxmlformats.org/drawingml/2006/main">
            <a:off x="5200650" y="22669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3E7A"/>
                </a:solidFill>
              </a:defRPr>
            </a:pPr>
            <a:r>
              <a:rPr sz="1500" b="1">
                <a:solidFill>
                  <a:srgbClr val="0B3E7A"/>
                </a:solidFill>
              </a:rPr>
              <a:t>3. Lưu hồ sơ</a:t>
            </a:r>
          </a:p>
        </p:txBody>
      </p:sp>
      <p:sp>
        <p:nvSpPr>
          <p:cNvPr id="14" name="">
            <a:extLst xmlns:a="http://schemas.openxmlformats.org/drawingml/2006/main">
              <a:ext uri="{FF2B5EF4-FFF2-40B4-BE49-F238E27FC236}">
                <a16:creationId xmlns:a16="http://schemas.microsoft.com/office/drawing/2014/main" id="{09996B72-C0E6-4119-B78D-5AD69272357D}"/>
              </a:ext>
            </a:extLst>
          </p:cNvPr>
          <p:cNvSpPr>
            <a:spLocks xmlns:a="http://schemas.openxmlformats.org/drawingml/2006/main" noGrp="1"/>
          </p:cNvSpPr>
          <p:nvPr/>
        </p:nvSpPr>
        <p:spPr>
          <a:xfrm xmlns:a="http://schemas.openxmlformats.org/drawingml/2006/main">
            <a:off x="5200650" y="2876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B5F55"/>
                </a:solidFill>
              </a:defRPr>
            </a:pPr>
            <a:r>
              <a:rPr sz="1275" b="0">
                <a:solidFill>
                  <a:srgbClr val="6B5F55"/>
                </a:solidFill>
              </a:rPr>
              <a:t>BE-2 + PostgreSQL</a:t>
            </a:r>
          </a:p>
        </p:txBody>
      </p:sp>
      <p:sp>
        <p:nvSpPr>
          <p:cNvPr id="15" name="">
            <a:extLst xmlns:a="http://schemas.openxmlformats.org/drawingml/2006/main">
              <a:ext uri="{FF2B5EF4-FFF2-40B4-BE49-F238E27FC236}">
                <a16:creationId xmlns:a16="http://schemas.microsoft.com/office/drawing/2014/main" id="{C900EE38-B58F-49AA-A102-9E1BF2922A49}"/>
              </a:ext>
            </a:extLst>
          </p:cNvPr>
          <p:cNvSpPr>
            <a:spLocks xmlns:a="http://schemas.openxmlformats.org/drawingml/2006/main" noGrp="1"/>
          </p:cNvSpPr>
          <p:nvPr/>
        </p:nvSpPr>
        <p:spPr>
          <a:xfrm xmlns:a="http://schemas.openxmlformats.org/drawingml/2006/main">
            <a:off x="7200900" y="2038350"/>
            <a:ext cx="1866900" cy="179070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CFDDE47F-3589-4B67-ADDA-2DA7FE6C1DBB}"/>
              </a:ext>
            </a:extLst>
          </p:cNvPr>
          <p:cNvSpPr>
            <a:spLocks xmlns:a="http://schemas.openxmlformats.org/drawingml/2006/main" noGrp="1"/>
          </p:cNvSpPr>
          <p:nvPr/>
        </p:nvSpPr>
        <p:spPr>
          <a:xfrm xmlns:a="http://schemas.openxmlformats.org/drawingml/2006/main">
            <a:off x="7372350" y="22669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0A202"/>
                </a:solidFill>
              </a:defRPr>
            </a:pPr>
            <a:r>
              <a:rPr sz="1500" b="1">
                <a:solidFill>
                  <a:srgbClr val="F0A202"/>
                </a:solidFill>
              </a:rPr>
              <a:t>4. Gửi email</a:t>
            </a:r>
          </a:p>
        </p:txBody>
      </p:sp>
      <p:sp>
        <p:nvSpPr>
          <p:cNvPr id="17" name="">
            <a:extLst xmlns:a="http://schemas.openxmlformats.org/drawingml/2006/main">
              <a:ext uri="{FF2B5EF4-FFF2-40B4-BE49-F238E27FC236}">
                <a16:creationId xmlns:a16="http://schemas.microsoft.com/office/drawing/2014/main" id="{45AB32DD-208A-454C-AE58-09CD56FAC1F9}"/>
              </a:ext>
            </a:extLst>
          </p:cNvPr>
          <p:cNvSpPr>
            <a:spLocks xmlns:a="http://schemas.openxmlformats.org/drawingml/2006/main" noGrp="1"/>
          </p:cNvSpPr>
          <p:nvPr/>
        </p:nvSpPr>
        <p:spPr>
          <a:xfrm xmlns:a="http://schemas.openxmlformats.org/drawingml/2006/main">
            <a:off x="7372350" y="2876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B5F55"/>
                </a:solidFill>
              </a:defRPr>
            </a:pPr>
            <a:r>
              <a:rPr sz="1275" b="0">
                <a:solidFill>
                  <a:srgbClr val="6B5F55"/>
                </a:solidFill>
              </a:rPr>
              <a:t>Mailpit khi chạy local</a:t>
            </a:r>
          </a:p>
        </p:txBody>
      </p:sp>
      <p:sp>
        <p:nvSpPr>
          <p:cNvPr id="18" name="">
            <a:extLst xmlns:a="http://schemas.openxmlformats.org/drawingml/2006/main">
              <a:ext uri="{FF2B5EF4-FFF2-40B4-BE49-F238E27FC236}">
                <a16:creationId xmlns:a16="http://schemas.microsoft.com/office/drawing/2014/main" id="{E61314D4-FFE4-4362-A15B-699EB33D70E6}"/>
              </a:ext>
            </a:extLst>
          </p:cNvPr>
          <p:cNvSpPr>
            <a:spLocks xmlns:a="http://schemas.openxmlformats.org/drawingml/2006/main" noGrp="1"/>
          </p:cNvSpPr>
          <p:nvPr/>
        </p:nvSpPr>
        <p:spPr>
          <a:xfrm xmlns:a="http://schemas.openxmlformats.org/drawingml/2006/main">
            <a:off x="9372600" y="2038350"/>
            <a:ext cx="1866900" cy="1790700"/>
          </a:xfrm>
          <a:prstGeom xmlns:a="http://schemas.openxmlformats.org/drawingml/2006/main" prst="roundRect">
            <a:avLst>
              <a:gd name="adj" fmla="val 10638"/>
            </a:avLst>
          </a:prstGeom>
          <a:solidFill xmlns:a="http://schemas.openxmlformats.org/drawingml/2006/main">
            <a:srgbClr val="FFFFFF"/>
          </a:solidFill>
          <a:ln xmlns:a="http://schemas.openxmlformats.org/drawingml/2006/main" w="9525">
            <a:solidFill>
              <a:srgbClr val="E7DFD5"/>
            </a:solidFill>
            <a:prstDash val="solid"/>
          </a:ln>
        </p:spPr>
      </p:sp>
      <p:sp>
        <p:nvSpPr>
          <p:cNvPr id="19" name="">
            <a:extLst xmlns:a="http://schemas.openxmlformats.org/drawingml/2006/main">
              <a:ext uri="{FF2B5EF4-FFF2-40B4-BE49-F238E27FC236}">
                <a16:creationId xmlns:a16="http://schemas.microsoft.com/office/drawing/2014/main" id="{7F9AEAD0-E532-40DF-A733-C587F0C1A00E}"/>
              </a:ext>
            </a:extLst>
          </p:cNvPr>
          <p:cNvSpPr>
            <a:spLocks xmlns:a="http://schemas.openxmlformats.org/drawingml/2006/main" noGrp="1"/>
          </p:cNvSpPr>
          <p:nvPr/>
        </p:nvSpPr>
        <p:spPr>
          <a:xfrm xmlns:a="http://schemas.openxmlformats.org/drawingml/2006/main">
            <a:off x="9544050" y="22669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E9F6E"/>
                </a:solidFill>
              </a:defRPr>
            </a:pPr>
            <a:r>
              <a:rPr sz="1500" b="1">
                <a:solidFill>
                  <a:srgbClr val="0E9F6E"/>
                </a:solidFill>
              </a:rPr>
              <a:t>5. Duyệt</a:t>
            </a:r>
          </a:p>
        </p:txBody>
      </p:sp>
      <p:sp>
        <p:nvSpPr>
          <p:cNvPr id="20" name="">
            <a:extLst xmlns:a="http://schemas.openxmlformats.org/drawingml/2006/main">
              <a:ext uri="{FF2B5EF4-FFF2-40B4-BE49-F238E27FC236}">
                <a16:creationId xmlns:a16="http://schemas.microsoft.com/office/drawing/2014/main" id="{3FED0773-9EDE-417E-8BC8-B90403753A44}"/>
              </a:ext>
            </a:extLst>
          </p:cNvPr>
          <p:cNvSpPr>
            <a:spLocks xmlns:a="http://schemas.openxmlformats.org/drawingml/2006/main" noGrp="1"/>
          </p:cNvSpPr>
          <p:nvPr/>
        </p:nvSpPr>
        <p:spPr>
          <a:xfrm xmlns:a="http://schemas.openxmlformats.org/drawingml/2006/main">
            <a:off x="9544050" y="2876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B5F55"/>
                </a:solidFill>
              </a:defRPr>
            </a:pPr>
            <a:r>
              <a:rPr sz="1275" b="0">
                <a:solidFill>
                  <a:srgbClr val="6B5F55"/>
                </a:solidFill>
              </a:rPr>
              <a:t>FE-4 CMS approve/reject</a:t>
            </a:r>
          </a:p>
        </p:txBody>
      </p: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a:off x="2552700" y="2933700"/>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4724400" y="2933700"/>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6896100" y="2933700"/>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0" name=""/>
          <p:cNvCxnSpPr>
            <a:stCxn xmlns:a="http://schemas.openxmlformats.org/drawingml/2006/main" id="15" idx="3"/>
            <a:endCxn xmlns:a="http://schemas.openxmlformats.org/drawingml/2006/main" id="18" idx="1"/>
          </p:cNvCxnSpPr>
          <p:nvPr/>
        </p:nvCxnSpPr>
        <p:spPr>
          <a:xfrm xmlns:a="http://schemas.openxmlformats.org/drawingml/2006/main">
            <a:off x="9067800" y="2933700"/>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sp>
        <p:nvSpPr>
          <p:cNvPr id="25" name="">
            <a:extLst xmlns:a="http://schemas.openxmlformats.org/drawingml/2006/main">
              <a:ext uri="{FF2B5EF4-FFF2-40B4-BE49-F238E27FC236}">
                <a16:creationId xmlns:a16="http://schemas.microsoft.com/office/drawing/2014/main" id="{E706298F-E9B4-4C7F-B42D-9811C31F3F50}"/>
              </a:ext>
            </a:extLst>
          </p:cNvPr>
          <p:cNvSpPr>
            <a:spLocks xmlns:a="http://schemas.openxmlformats.org/drawingml/2006/main" noGrp="1"/>
          </p:cNvSpPr>
          <p:nvPr/>
        </p:nvSpPr>
        <p:spPr>
          <a:xfrm xmlns:a="http://schemas.openxmlformats.org/drawingml/2006/main">
            <a:off x="685800" y="4495800"/>
            <a:ext cx="10820400" cy="933450"/>
          </a:xfrm>
          <a:prstGeom xmlns:a="http://schemas.openxmlformats.org/drawingml/2006/main" prst="roundRect">
            <a:avLst>
              <a:gd name="adj" fmla="val 18367"/>
            </a:avLst>
          </a:prstGeom>
          <a:solidFill xmlns:a="http://schemas.openxmlformats.org/drawingml/2006/main">
            <a:srgbClr val="F1ECE5"/>
          </a:solidFill>
          <a:ln xmlns:a="http://schemas.openxmlformats.org/drawingml/2006/main" w="9525">
            <a:solidFill>
              <a:srgbClr val="F1ECE5"/>
            </a:solidFill>
            <a:prstDash val="solid"/>
          </a:ln>
        </p:spPr>
      </p:sp>
      <p:sp>
        <p:nvSpPr>
          <p:cNvPr id="26" name="">
            <a:extLst xmlns:a="http://schemas.openxmlformats.org/drawingml/2006/main">
              <a:ext uri="{FF2B5EF4-FFF2-40B4-BE49-F238E27FC236}">
                <a16:creationId xmlns:a16="http://schemas.microsoft.com/office/drawing/2014/main" id="{93E34F6F-F79A-4E4C-B82C-A7020AE70569}"/>
              </a:ext>
            </a:extLst>
          </p:cNvPr>
          <p:cNvSpPr>
            <a:spLocks xmlns:a="http://schemas.openxmlformats.org/drawingml/2006/main" noGrp="1"/>
          </p:cNvSpPr>
          <p:nvPr/>
        </p:nvSpPr>
        <p:spPr>
          <a:xfrm xmlns:a="http://schemas.openxmlformats.org/drawingml/2006/main">
            <a:off x="933450" y="4667250"/>
            <a:ext cx="1032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BE-10 phụ thuộc RBAC (BE-4) và email (BE-9); FE-6 chỉ hoàn tất khi API submit chạy ổn định.</a:t>
            </a:r>
          </a:p>
        </p:txBody>
      </p:sp>
    </p:spTree>
    <p:extLst>
      <p:ext uri="{BB962C8B-B14F-4D97-AF65-F5344CB8AC3E}">
        <p14:creationId xmlns:p14="http://schemas.microsoft.com/office/powerpoint/2010/main" val="2110885327"/>
      </p:ext>
    </p:extLst>
  </p:cSld>
</p:sld>
</file>

<file path=ppt/slides/slide2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129A68-73FD-4F22-8F07-82072E5EC5BA}"/>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2E46C4A-29BE-45A3-BC67-7B419E8E2CB0}"/>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Chín thành viên, ba nhóm trách nhiệm</a:t>
            </a:r>
          </a:p>
        </p:txBody>
      </p:sp>
      <p:sp>
        <p:nvSpPr>
          <p:cNvPr id="3" name="">
            <a:extLst xmlns:a="http://schemas.openxmlformats.org/drawingml/2006/main">
              <a:ext uri="{FF2B5EF4-FFF2-40B4-BE49-F238E27FC236}">
                <a16:creationId xmlns:a16="http://schemas.microsoft.com/office/drawing/2014/main" id="{E8E6734E-58EB-48FF-8B4B-EF3F7F72AE8D}"/>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562DCF00-7292-405F-B5E6-6894E08A6E91}"/>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91AE40A3-57F9-4A14-818D-BBB2CA570DC3}"/>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28</a:t>
            </a:r>
          </a:p>
        </p:txBody>
      </p:sp>
      <p:sp>
        <p:nvSpPr>
          <p:cNvPr id="6" name="">
            <a:extLst xmlns:a="http://schemas.openxmlformats.org/drawingml/2006/main">
              <a:ext uri="{FF2B5EF4-FFF2-40B4-BE49-F238E27FC236}">
                <a16:creationId xmlns:a16="http://schemas.microsoft.com/office/drawing/2014/main" id="{A3985E10-03F8-4FF3-9C52-7D3B22E25EE8}"/>
              </a:ext>
            </a:extLst>
          </p:cNvPr>
          <p:cNvSpPr>
            <a:spLocks xmlns:a="http://schemas.openxmlformats.org/drawingml/2006/main" noGrp="1"/>
          </p:cNvSpPr>
          <p:nvPr/>
        </p:nvSpPr>
        <p:spPr>
          <a:xfrm xmlns:a="http://schemas.openxmlformats.org/drawingml/2006/main">
            <a:off x="685800" y="1676400"/>
            <a:ext cx="10820400" cy="990600"/>
          </a:xfrm>
          <a:prstGeom xmlns:a="http://schemas.openxmlformats.org/drawingml/2006/main" prst="roundRect">
            <a:avLst>
              <a:gd name="adj" fmla="val 19231"/>
            </a:avLst>
          </a:prstGeom>
          <a:solidFill xmlns:a="http://schemas.openxmlformats.org/drawingml/2006/main">
            <a:srgbClr val="F6DED6"/>
          </a:solidFill>
          <a:ln xmlns:a="http://schemas.openxmlformats.org/drawingml/2006/main" w="9525">
            <a:solidFill>
              <a:srgbClr val="F6DED6"/>
            </a:solidFill>
            <a:prstDash val="solid"/>
          </a:ln>
        </p:spPr>
      </p:sp>
      <p:sp>
        <p:nvSpPr>
          <p:cNvPr id="7" name="">
            <a:extLst xmlns:a="http://schemas.openxmlformats.org/drawingml/2006/main">
              <a:ext uri="{FF2B5EF4-FFF2-40B4-BE49-F238E27FC236}">
                <a16:creationId xmlns:a16="http://schemas.microsoft.com/office/drawing/2014/main" id="{B30AC363-E1A0-4B08-9C69-658B06309166}"/>
              </a:ext>
            </a:extLst>
          </p:cNvPr>
          <p:cNvSpPr>
            <a:spLocks xmlns:a="http://schemas.openxmlformats.org/drawingml/2006/main" noGrp="1"/>
          </p:cNvSpPr>
          <p:nvPr/>
        </p:nvSpPr>
        <p:spPr>
          <a:xfrm xmlns:a="http://schemas.openxmlformats.org/drawingml/2006/main">
            <a:off x="914400" y="1885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23B22"/>
                </a:solidFill>
              </a:defRPr>
            </a:pPr>
            <a:r>
              <a:rPr sz="1275" b="1">
                <a:solidFill>
                  <a:srgbClr val="C23B22"/>
                </a:solidFill>
              </a:rPr>
              <a:t>BACKEND</a:t>
            </a:r>
          </a:p>
        </p:txBody>
      </p:sp>
      <p:sp>
        <p:nvSpPr>
          <p:cNvPr id="8" name="">
            <a:extLst xmlns:a="http://schemas.openxmlformats.org/drawingml/2006/main">
              <a:ext uri="{FF2B5EF4-FFF2-40B4-BE49-F238E27FC236}">
                <a16:creationId xmlns:a16="http://schemas.microsoft.com/office/drawing/2014/main" id="{0219B125-1194-4CBF-8D84-99FC9794C2C1}"/>
              </a:ext>
            </a:extLst>
          </p:cNvPr>
          <p:cNvSpPr>
            <a:spLocks xmlns:a="http://schemas.openxmlformats.org/drawingml/2006/main" noGrp="1"/>
          </p:cNvSpPr>
          <p:nvPr/>
        </p:nvSpPr>
        <p:spPr>
          <a:xfrm xmlns:a="http://schemas.openxmlformats.org/drawingml/2006/main">
            <a:off x="2914650" y="1885950"/>
            <a:ext cx="260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Thiên • BE-1</a:t>
            </a:r>
          </a:p>
        </p:txBody>
      </p:sp>
      <p:sp>
        <p:nvSpPr>
          <p:cNvPr id="9" name="">
            <a:extLst xmlns:a="http://schemas.openxmlformats.org/drawingml/2006/main">
              <a:ext uri="{FF2B5EF4-FFF2-40B4-BE49-F238E27FC236}">
                <a16:creationId xmlns:a16="http://schemas.microsoft.com/office/drawing/2014/main" id="{9FFAEE1B-331F-4DD0-AB19-E146C8F0443A}"/>
              </a:ext>
            </a:extLst>
          </p:cNvPr>
          <p:cNvSpPr>
            <a:spLocks xmlns:a="http://schemas.openxmlformats.org/drawingml/2006/main" noGrp="1"/>
          </p:cNvSpPr>
          <p:nvPr/>
        </p:nvSpPr>
        <p:spPr>
          <a:xfrm xmlns:a="http://schemas.openxmlformats.org/drawingml/2006/main">
            <a:off x="5613400" y="1885950"/>
            <a:ext cx="260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Minh • BE-2</a:t>
            </a:r>
          </a:p>
        </p:txBody>
      </p:sp>
      <p:sp>
        <p:nvSpPr>
          <p:cNvPr id="10" name="">
            <a:extLst xmlns:a="http://schemas.openxmlformats.org/drawingml/2006/main">
              <a:ext uri="{FF2B5EF4-FFF2-40B4-BE49-F238E27FC236}">
                <a16:creationId xmlns:a16="http://schemas.microsoft.com/office/drawing/2014/main" id="{6155AEE1-F008-43D8-AA49-362538A63882}"/>
              </a:ext>
            </a:extLst>
          </p:cNvPr>
          <p:cNvSpPr>
            <a:spLocks xmlns:a="http://schemas.openxmlformats.org/drawingml/2006/main" noGrp="1"/>
          </p:cNvSpPr>
          <p:nvPr/>
        </p:nvSpPr>
        <p:spPr>
          <a:xfrm xmlns:a="http://schemas.openxmlformats.org/drawingml/2006/main">
            <a:off x="8312150" y="1885950"/>
            <a:ext cx="260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Khương • BE-3</a:t>
            </a:r>
          </a:p>
        </p:txBody>
      </p:sp>
      <p:sp>
        <p:nvSpPr>
          <p:cNvPr id="11" name="">
            <a:extLst xmlns:a="http://schemas.openxmlformats.org/drawingml/2006/main">
              <a:ext uri="{FF2B5EF4-FFF2-40B4-BE49-F238E27FC236}">
                <a16:creationId xmlns:a16="http://schemas.microsoft.com/office/drawing/2014/main" id="{D078ECD3-846C-4E55-B7B6-2BEF9600AD14}"/>
              </a:ext>
            </a:extLst>
          </p:cNvPr>
          <p:cNvSpPr>
            <a:spLocks xmlns:a="http://schemas.openxmlformats.org/drawingml/2006/main" noGrp="1"/>
          </p:cNvSpPr>
          <p:nvPr/>
        </p:nvSpPr>
        <p:spPr>
          <a:xfrm xmlns:a="http://schemas.openxmlformats.org/drawingml/2006/main">
            <a:off x="685800" y="2952750"/>
            <a:ext cx="10820400" cy="990600"/>
          </a:xfrm>
          <a:prstGeom xmlns:a="http://schemas.openxmlformats.org/drawingml/2006/main" prst="roundRect">
            <a:avLst>
              <a:gd name="adj" fmla="val 19231"/>
            </a:avLst>
          </a:prstGeom>
          <a:solidFill xmlns:a="http://schemas.openxmlformats.org/drawingml/2006/main">
            <a:srgbClr val="DCEAFB"/>
          </a:solidFill>
          <a:ln xmlns:a="http://schemas.openxmlformats.org/drawingml/2006/main" w="9525">
            <a:solidFill>
              <a:srgbClr val="DCEAFB"/>
            </a:solidFill>
            <a:prstDash val="solid"/>
          </a:ln>
        </p:spPr>
      </p:sp>
      <p:sp>
        <p:nvSpPr>
          <p:cNvPr id="12" name="">
            <a:extLst xmlns:a="http://schemas.openxmlformats.org/drawingml/2006/main">
              <a:ext uri="{FF2B5EF4-FFF2-40B4-BE49-F238E27FC236}">
                <a16:creationId xmlns:a16="http://schemas.microsoft.com/office/drawing/2014/main" id="{A06E4896-82B6-4028-930E-5BB76F35A295}"/>
              </a:ext>
            </a:extLst>
          </p:cNvPr>
          <p:cNvSpPr>
            <a:spLocks xmlns:a="http://schemas.openxmlformats.org/drawingml/2006/main" noGrp="1"/>
          </p:cNvSpPr>
          <p:nvPr/>
        </p:nvSpPr>
        <p:spPr>
          <a:xfrm xmlns:a="http://schemas.openxmlformats.org/drawingml/2006/main">
            <a:off x="914400" y="316230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68C9"/>
                </a:solidFill>
              </a:defRPr>
            </a:pPr>
            <a:r>
              <a:rPr sz="1275" b="1">
                <a:solidFill>
                  <a:srgbClr val="1568C9"/>
                </a:solidFill>
              </a:rPr>
              <a:t>FRONTEND</a:t>
            </a:r>
          </a:p>
        </p:txBody>
      </p:sp>
      <p:sp>
        <p:nvSpPr>
          <p:cNvPr id="13" name="">
            <a:extLst xmlns:a="http://schemas.openxmlformats.org/drawingml/2006/main">
              <a:ext uri="{FF2B5EF4-FFF2-40B4-BE49-F238E27FC236}">
                <a16:creationId xmlns:a16="http://schemas.microsoft.com/office/drawing/2014/main" id="{99FF7636-EC57-4FE6-A2EC-A33BC1DAC061}"/>
              </a:ext>
            </a:extLst>
          </p:cNvPr>
          <p:cNvSpPr>
            <a:spLocks xmlns:a="http://schemas.openxmlformats.org/drawingml/2006/main" noGrp="1"/>
          </p:cNvSpPr>
          <p:nvPr/>
        </p:nvSpPr>
        <p:spPr>
          <a:xfrm xmlns:a="http://schemas.openxmlformats.org/drawingml/2006/main">
            <a:off x="2914650" y="3162300"/>
            <a:ext cx="19288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01A16"/>
                </a:solidFill>
              </a:defRPr>
            </a:pPr>
            <a:r>
              <a:rPr sz="1350" b="1">
                <a:solidFill>
                  <a:srgbClr val="201A16"/>
                </a:solidFill>
              </a:rPr>
              <a:t>Huỳnh • FE-1</a:t>
            </a:r>
          </a:p>
        </p:txBody>
      </p:sp>
      <p:sp>
        <p:nvSpPr>
          <p:cNvPr id="14" name="">
            <a:extLst xmlns:a="http://schemas.openxmlformats.org/drawingml/2006/main">
              <a:ext uri="{FF2B5EF4-FFF2-40B4-BE49-F238E27FC236}">
                <a16:creationId xmlns:a16="http://schemas.microsoft.com/office/drawing/2014/main" id="{FDC25445-F73B-41F7-87D3-C631E7996AE1}"/>
              </a:ext>
            </a:extLst>
          </p:cNvPr>
          <p:cNvSpPr>
            <a:spLocks xmlns:a="http://schemas.openxmlformats.org/drawingml/2006/main" noGrp="1"/>
          </p:cNvSpPr>
          <p:nvPr/>
        </p:nvSpPr>
        <p:spPr>
          <a:xfrm xmlns:a="http://schemas.openxmlformats.org/drawingml/2006/main">
            <a:off x="4938713" y="3162300"/>
            <a:ext cx="19288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01A16"/>
                </a:solidFill>
              </a:defRPr>
            </a:pPr>
            <a:r>
              <a:rPr sz="1350" b="1">
                <a:solidFill>
                  <a:srgbClr val="201A16"/>
                </a:solidFill>
              </a:rPr>
              <a:t>Gia Bảo • FE-2</a:t>
            </a:r>
          </a:p>
        </p:txBody>
      </p:sp>
      <p:sp>
        <p:nvSpPr>
          <p:cNvPr id="15" name="">
            <a:extLst xmlns:a="http://schemas.openxmlformats.org/drawingml/2006/main">
              <a:ext uri="{FF2B5EF4-FFF2-40B4-BE49-F238E27FC236}">
                <a16:creationId xmlns:a16="http://schemas.microsoft.com/office/drawing/2014/main" id="{C34EDCFE-D207-41AD-919D-50155B829802}"/>
              </a:ext>
            </a:extLst>
          </p:cNvPr>
          <p:cNvSpPr>
            <a:spLocks xmlns:a="http://schemas.openxmlformats.org/drawingml/2006/main" noGrp="1"/>
          </p:cNvSpPr>
          <p:nvPr/>
        </p:nvSpPr>
        <p:spPr>
          <a:xfrm xmlns:a="http://schemas.openxmlformats.org/drawingml/2006/main">
            <a:off x="6962775" y="3162300"/>
            <a:ext cx="19288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01A16"/>
                </a:solidFill>
              </a:defRPr>
            </a:pPr>
            <a:r>
              <a:rPr sz="1350" b="1">
                <a:solidFill>
                  <a:srgbClr val="201A16"/>
                </a:solidFill>
              </a:rPr>
              <a:t>Đăng Nghĩa • FE-3</a:t>
            </a:r>
          </a:p>
        </p:txBody>
      </p:sp>
      <p:sp>
        <p:nvSpPr>
          <p:cNvPr id="16" name="">
            <a:extLst xmlns:a="http://schemas.openxmlformats.org/drawingml/2006/main">
              <a:ext uri="{FF2B5EF4-FFF2-40B4-BE49-F238E27FC236}">
                <a16:creationId xmlns:a16="http://schemas.microsoft.com/office/drawing/2014/main" id="{E309BBF7-C44D-4439-85F7-526BF7D9EF18}"/>
              </a:ext>
            </a:extLst>
          </p:cNvPr>
          <p:cNvSpPr>
            <a:spLocks xmlns:a="http://schemas.openxmlformats.org/drawingml/2006/main" noGrp="1"/>
          </p:cNvSpPr>
          <p:nvPr/>
        </p:nvSpPr>
        <p:spPr>
          <a:xfrm xmlns:a="http://schemas.openxmlformats.org/drawingml/2006/main">
            <a:off x="8986838" y="3162300"/>
            <a:ext cx="1928813"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01A16"/>
                </a:solidFill>
              </a:defRPr>
            </a:pPr>
            <a:r>
              <a:rPr sz="1350" b="1">
                <a:solidFill>
                  <a:srgbClr val="201A16"/>
                </a:solidFill>
              </a:rPr>
              <a:t>Hoàn Phúc • FE-4</a:t>
            </a:r>
          </a:p>
        </p:txBody>
      </p:sp>
      <p:sp>
        <p:nvSpPr>
          <p:cNvPr id="17" name="">
            <a:extLst xmlns:a="http://schemas.openxmlformats.org/drawingml/2006/main">
              <a:ext uri="{FF2B5EF4-FFF2-40B4-BE49-F238E27FC236}">
                <a16:creationId xmlns:a16="http://schemas.microsoft.com/office/drawing/2014/main" id="{BA2CD4CA-5305-43FF-8567-23E5CD6FD601}"/>
              </a:ext>
            </a:extLst>
          </p:cNvPr>
          <p:cNvSpPr>
            <a:spLocks xmlns:a="http://schemas.openxmlformats.org/drawingml/2006/main" noGrp="1"/>
          </p:cNvSpPr>
          <p:nvPr/>
        </p:nvSpPr>
        <p:spPr>
          <a:xfrm xmlns:a="http://schemas.openxmlformats.org/drawingml/2006/main">
            <a:off x="685800" y="4229100"/>
            <a:ext cx="10820400" cy="990600"/>
          </a:xfrm>
          <a:prstGeom xmlns:a="http://schemas.openxmlformats.org/drawingml/2006/main" prst="roundRect">
            <a:avLst>
              <a:gd name="adj" fmla="val 19231"/>
            </a:avLst>
          </a:prstGeom>
          <a:solidFill xmlns:a="http://schemas.openxmlformats.org/drawingml/2006/main">
            <a:srgbClr val="FCEACA"/>
          </a:solidFill>
          <a:ln xmlns:a="http://schemas.openxmlformats.org/drawingml/2006/main" w="9525">
            <a:solidFill>
              <a:srgbClr val="FCEACA"/>
            </a:solidFill>
            <a:prstDash val="solid"/>
          </a:ln>
        </p:spPr>
      </p:sp>
      <p:sp>
        <p:nvSpPr>
          <p:cNvPr id="18" name="">
            <a:extLst xmlns:a="http://schemas.openxmlformats.org/drawingml/2006/main">
              <a:ext uri="{FF2B5EF4-FFF2-40B4-BE49-F238E27FC236}">
                <a16:creationId xmlns:a16="http://schemas.microsoft.com/office/drawing/2014/main" id="{1CAC00DF-3EDA-44C3-B931-200D8BBFD613}"/>
              </a:ext>
            </a:extLst>
          </p:cNvPr>
          <p:cNvSpPr>
            <a:spLocks xmlns:a="http://schemas.openxmlformats.org/drawingml/2006/main" noGrp="1"/>
          </p:cNvSpPr>
          <p:nvPr/>
        </p:nvSpPr>
        <p:spPr>
          <a:xfrm xmlns:a="http://schemas.openxmlformats.org/drawingml/2006/main">
            <a:off x="914400" y="44386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0A202"/>
                </a:solidFill>
              </a:defRPr>
            </a:pPr>
            <a:r>
              <a:rPr sz="1275" b="1">
                <a:solidFill>
                  <a:srgbClr val="F0A202"/>
                </a:solidFill>
              </a:rPr>
              <a:t>HẠ TẦNG / QA</a:t>
            </a:r>
          </a:p>
        </p:txBody>
      </p:sp>
      <p:sp>
        <p:nvSpPr>
          <p:cNvPr id="19" name="">
            <a:extLst xmlns:a="http://schemas.openxmlformats.org/drawingml/2006/main">
              <a:ext uri="{FF2B5EF4-FFF2-40B4-BE49-F238E27FC236}">
                <a16:creationId xmlns:a16="http://schemas.microsoft.com/office/drawing/2014/main" id="{B6FF8753-1334-47A3-88DE-24CDC05D62F2}"/>
              </a:ext>
            </a:extLst>
          </p:cNvPr>
          <p:cNvSpPr>
            <a:spLocks xmlns:a="http://schemas.openxmlformats.org/drawingml/2006/main" noGrp="1"/>
          </p:cNvSpPr>
          <p:nvPr/>
        </p:nvSpPr>
        <p:spPr>
          <a:xfrm xmlns:a="http://schemas.openxmlformats.org/drawingml/2006/main">
            <a:off x="2914650" y="443865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An Khang • OP-1</a:t>
            </a:r>
          </a:p>
        </p:txBody>
      </p:sp>
      <p:sp>
        <p:nvSpPr>
          <p:cNvPr id="20" name="">
            <a:extLst xmlns:a="http://schemas.openxmlformats.org/drawingml/2006/main">
              <a:ext uri="{FF2B5EF4-FFF2-40B4-BE49-F238E27FC236}">
                <a16:creationId xmlns:a16="http://schemas.microsoft.com/office/drawing/2014/main" id="{53DFB980-E8B1-4D39-A513-FECC336DBAE3}"/>
              </a:ext>
            </a:extLst>
          </p:cNvPr>
          <p:cNvSpPr>
            <a:spLocks xmlns:a="http://schemas.openxmlformats.org/drawingml/2006/main" noGrp="1"/>
          </p:cNvSpPr>
          <p:nvPr/>
        </p:nvSpPr>
        <p:spPr>
          <a:xfrm xmlns:a="http://schemas.openxmlformats.org/drawingml/2006/main">
            <a:off x="6962775" y="4438650"/>
            <a:ext cx="3952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01A16"/>
                </a:solidFill>
              </a:defRPr>
            </a:pPr>
            <a:r>
              <a:rPr sz="1500" b="1">
                <a:solidFill>
                  <a:srgbClr val="201A16"/>
                </a:solidFill>
              </a:rPr>
              <a:t>Tiến Bảo • OP-2</a:t>
            </a:r>
          </a:p>
        </p:txBody>
      </p:sp>
    </p:spTree>
    <p:extLst>
      <p:ext uri="{BB962C8B-B14F-4D97-AF65-F5344CB8AC3E}">
        <p14:creationId xmlns:p14="http://schemas.microsoft.com/office/powerpoint/2010/main" val="2056666761"/>
      </p:ext>
    </p:extLst>
  </p:cSld>
</p:sld>
</file>

<file path=ppt/slides/slide2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A3C1EE6-438C-446E-B025-A5380FDEA2C8}"/>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D3036770-DBAA-44CD-A42A-5BA676113C77}"/>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Phân công Backend</a:t>
            </a:r>
          </a:p>
        </p:txBody>
      </p:sp>
      <p:sp>
        <p:nvSpPr>
          <p:cNvPr id="3" name="">
            <a:extLst xmlns:a="http://schemas.openxmlformats.org/drawingml/2006/main">
              <a:ext uri="{FF2B5EF4-FFF2-40B4-BE49-F238E27FC236}">
                <a16:creationId xmlns:a16="http://schemas.microsoft.com/office/drawing/2014/main" id="{B0835B9C-FFFE-49DD-8C92-470A54A4B24B}"/>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D7E2003E-1E5E-4E6A-A4C2-9B6190C8D506}"/>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0FA56A37-DF1B-44CD-B77B-879C0A709D66}"/>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29</a:t>
            </a:r>
          </a:p>
        </p:txBody>
      </p:sp>
      <p:sp>
        <p:nvSpPr>
          <p:cNvPr id="6" name="">
            <a:extLst xmlns:a="http://schemas.openxmlformats.org/drawingml/2006/main">
              <a:ext uri="{FF2B5EF4-FFF2-40B4-BE49-F238E27FC236}">
                <a16:creationId xmlns:a16="http://schemas.microsoft.com/office/drawing/2014/main" id="{67938F67-0B66-469C-9A54-27802F926F92}"/>
              </a:ext>
            </a:extLst>
          </p:cNvPr>
          <p:cNvSpPr>
            <a:spLocks xmlns:a="http://schemas.openxmlformats.org/drawingml/2006/main" noGrp="1"/>
          </p:cNvSpPr>
          <p:nvPr/>
        </p:nvSpPr>
        <p:spPr>
          <a:xfrm xmlns:a="http://schemas.openxmlformats.org/drawingml/2006/main">
            <a:off x="742950" y="1828800"/>
            <a:ext cx="666750" cy="666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BE-1</a:t>
            </a:r>
          </a:p>
        </p:txBody>
      </p:sp>
      <p:sp>
        <p:nvSpPr>
          <p:cNvPr id="7" name="">
            <a:extLst xmlns:a="http://schemas.openxmlformats.org/drawingml/2006/main">
              <a:ext uri="{FF2B5EF4-FFF2-40B4-BE49-F238E27FC236}">
                <a16:creationId xmlns:a16="http://schemas.microsoft.com/office/drawing/2014/main" id="{CB19E6D4-CF8D-44D0-9F3D-2A4462E94192}"/>
              </a:ext>
            </a:extLst>
          </p:cNvPr>
          <p:cNvSpPr>
            <a:spLocks xmlns:a="http://schemas.openxmlformats.org/drawingml/2006/main" noGrp="1"/>
          </p:cNvSpPr>
          <p:nvPr/>
        </p:nvSpPr>
        <p:spPr>
          <a:xfrm xmlns:a="http://schemas.openxmlformats.org/drawingml/2006/main">
            <a:off x="1676400" y="16954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Phạm Đăng Hoàng Thiên</a:t>
            </a:r>
          </a:p>
        </p:txBody>
      </p:sp>
      <p:sp>
        <p:nvSpPr>
          <p:cNvPr id="8" name="">
            <a:extLst xmlns:a="http://schemas.openxmlformats.org/drawingml/2006/main">
              <a:ext uri="{FF2B5EF4-FFF2-40B4-BE49-F238E27FC236}">
                <a16:creationId xmlns:a16="http://schemas.microsoft.com/office/drawing/2014/main" id="{987FDE88-8F7A-42FD-A464-64469C3DF40A}"/>
              </a:ext>
            </a:extLst>
          </p:cNvPr>
          <p:cNvSpPr>
            <a:spLocks xmlns:a="http://schemas.openxmlformats.org/drawingml/2006/main" noGrp="1"/>
          </p:cNvSpPr>
          <p:nvPr/>
        </p:nvSpPr>
        <p:spPr>
          <a:xfrm xmlns:a="http://schemas.openxmlformats.org/drawingml/2006/main">
            <a:off x="1676400" y="21907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841F11"/>
                </a:solidFill>
              </a:defRPr>
            </a:pPr>
            <a:r>
              <a:rPr sz="1500" b="0">
                <a:solidFill>
                  <a:srgbClr val="841F11"/>
                </a:solidFill>
              </a:rPr>
              <a:t>DB • Seed • Upload</a:t>
            </a:r>
          </a:p>
        </p:txBody>
      </p:sp>
      <p:sp>
        <p:nvSpPr>
          <p:cNvPr id="9" name="">
            <a:extLst xmlns:a="http://schemas.openxmlformats.org/drawingml/2006/main">
              <a:ext uri="{FF2B5EF4-FFF2-40B4-BE49-F238E27FC236}">
                <a16:creationId xmlns:a16="http://schemas.microsoft.com/office/drawing/2014/main" id="{CE9A448D-BFBE-4B14-896A-57C46A0D78A3}"/>
              </a:ext>
            </a:extLst>
          </p:cNvPr>
          <p:cNvSpPr>
            <a:spLocks xmlns:a="http://schemas.openxmlformats.org/drawingml/2006/main" noGrp="1"/>
          </p:cNvSpPr>
          <p:nvPr/>
        </p:nvSpPr>
        <p:spPr>
          <a:xfrm xmlns:a="http://schemas.openxmlformats.org/drawingml/2006/main">
            <a:off x="5981700" y="1828800"/>
            <a:ext cx="4819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6B5F55"/>
                </a:solidFill>
              </a:defRPr>
            </a:pPr>
            <a:r>
              <a:rPr sz="1575" b="1">
                <a:solidFill>
                  <a:srgbClr val="6B5F55"/>
                </a:solidFill>
              </a:rPr>
              <a:t>PostgreSQL • ORM • MinIO</a:t>
            </a:r>
          </a:p>
        </p:txBody>
      </p:sp>
      <p:sp>
        <p:nvSpPr>
          <p:cNvPr id="10" name="">
            <a:extLst xmlns:a="http://schemas.openxmlformats.org/drawingml/2006/main">
              <a:ext uri="{FF2B5EF4-FFF2-40B4-BE49-F238E27FC236}">
                <a16:creationId xmlns:a16="http://schemas.microsoft.com/office/drawing/2014/main" id="{85FA527D-01A6-4E03-816F-C57ECCF10A8E}"/>
              </a:ext>
            </a:extLst>
          </p:cNvPr>
          <p:cNvSpPr>
            <a:spLocks xmlns:a="http://schemas.openxmlformats.org/drawingml/2006/main" noGrp="1"/>
          </p:cNvSpPr>
          <p:nvPr/>
        </p:nvSpPr>
        <p:spPr>
          <a:xfrm xmlns:a="http://schemas.openxmlformats.org/drawingml/2006/main">
            <a:off x="5981700" y="2286000"/>
            <a:ext cx="481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BE1 • BE2 • BE8</a:t>
            </a:r>
          </a:p>
        </p:txBody>
      </p:sp>
      <p:sp>
        <p:nvSpPr>
          <p:cNvPr id="11" name="">
            <a:extLst xmlns:a="http://schemas.openxmlformats.org/drawingml/2006/main">
              <a:ext uri="{FF2B5EF4-FFF2-40B4-BE49-F238E27FC236}">
                <a16:creationId xmlns:a16="http://schemas.microsoft.com/office/drawing/2014/main" id="{6954115C-CF36-47D6-94C8-1B381C1A93A1}"/>
              </a:ext>
            </a:extLst>
          </p:cNvPr>
          <p:cNvSpPr>
            <a:spLocks xmlns:a="http://schemas.openxmlformats.org/drawingml/2006/main" noGrp="1"/>
          </p:cNvSpPr>
          <p:nvPr/>
        </p:nvSpPr>
        <p:spPr>
          <a:xfrm xmlns:a="http://schemas.openxmlformats.org/drawingml/2006/main">
            <a:off x="1676400" y="2686050"/>
            <a:ext cx="91249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2" name="">
            <a:extLst xmlns:a="http://schemas.openxmlformats.org/drawingml/2006/main">
              <a:ext uri="{FF2B5EF4-FFF2-40B4-BE49-F238E27FC236}">
                <a16:creationId xmlns:a16="http://schemas.microsoft.com/office/drawing/2014/main" id="{C17B8640-9B67-4B89-B0CF-9E3705D816D6}"/>
              </a:ext>
            </a:extLst>
          </p:cNvPr>
          <p:cNvSpPr>
            <a:spLocks xmlns:a="http://schemas.openxmlformats.org/drawingml/2006/main" noGrp="1"/>
          </p:cNvSpPr>
          <p:nvPr/>
        </p:nvSpPr>
        <p:spPr>
          <a:xfrm xmlns:a="http://schemas.openxmlformats.org/drawingml/2006/main">
            <a:off x="742950" y="3086100"/>
            <a:ext cx="666750" cy="666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BE-2</a:t>
            </a:r>
          </a:p>
        </p:txBody>
      </p:sp>
      <p:sp>
        <p:nvSpPr>
          <p:cNvPr id="13" name="">
            <a:extLst xmlns:a="http://schemas.openxmlformats.org/drawingml/2006/main">
              <a:ext uri="{FF2B5EF4-FFF2-40B4-BE49-F238E27FC236}">
                <a16:creationId xmlns:a16="http://schemas.microsoft.com/office/drawing/2014/main" id="{0BDE8ACF-19EF-4299-A439-14BE82CCCFC7}"/>
              </a:ext>
            </a:extLst>
          </p:cNvPr>
          <p:cNvSpPr>
            <a:spLocks xmlns:a="http://schemas.openxmlformats.org/drawingml/2006/main" noGrp="1"/>
          </p:cNvSpPr>
          <p:nvPr/>
        </p:nvSpPr>
        <p:spPr>
          <a:xfrm xmlns:a="http://schemas.openxmlformats.org/drawingml/2006/main">
            <a:off x="1676400" y="29527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Trương Phúc Minh</a:t>
            </a:r>
          </a:p>
        </p:txBody>
      </p:sp>
      <p:sp>
        <p:nvSpPr>
          <p:cNvPr id="14" name="">
            <a:extLst xmlns:a="http://schemas.openxmlformats.org/drawingml/2006/main">
              <a:ext uri="{FF2B5EF4-FFF2-40B4-BE49-F238E27FC236}">
                <a16:creationId xmlns:a16="http://schemas.microsoft.com/office/drawing/2014/main" id="{012A3EA6-09FA-4FF8-81B6-FFB309726B9C}"/>
              </a:ext>
            </a:extLst>
          </p:cNvPr>
          <p:cNvSpPr>
            <a:spLocks xmlns:a="http://schemas.openxmlformats.org/drawingml/2006/main" noGrp="1"/>
          </p:cNvSpPr>
          <p:nvPr/>
        </p:nvSpPr>
        <p:spPr>
          <a:xfrm xmlns:a="http://schemas.openxmlformats.org/drawingml/2006/main">
            <a:off x="1676400" y="34480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841F11"/>
                </a:solidFill>
              </a:defRPr>
            </a:pPr>
            <a:r>
              <a:rPr sz="1500" b="0">
                <a:solidFill>
                  <a:srgbClr val="841F11"/>
                </a:solidFill>
              </a:rPr>
              <a:t>Auth • RBAC • Email • Tuyển</a:t>
            </a:r>
          </a:p>
        </p:txBody>
      </p:sp>
      <p:sp>
        <p:nvSpPr>
          <p:cNvPr id="15" name="">
            <a:extLst xmlns:a="http://schemas.openxmlformats.org/drawingml/2006/main">
              <a:ext uri="{FF2B5EF4-FFF2-40B4-BE49-F238E27FC236}">
                <a16:creationId xmlns:a16="http://schemas.microsoft.com/office/drawing/2014/main" id="{7A111024-D319-4CE9-B00B-25026EF874F3}"/>
              </a:ext>
            </a:extLst>
          </p:cNvPr>
          <p:cNvSpPr>
            <a:spLocks xmlns:a="http://schemas.openxmlformats.org/drawingml/2006/main" noGrp="1"/>
          </p:cNvSpPr>
          <p:nvPr/>
        </p:nvSpPr>
        <p:spPr>
          <a:xfrm xmlns:a="http://schemas.openxmlformats.org/drawingml/2006/main">
            <a:off x="5981700" y="3086100"/>
            <a:ext cx="4819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6B5F55"/>
                </a:solidFill>
              </a:defRPr>
            </a:pPr>
            <a:r>
              <a:rPr sz="1575" b="1">
                <a:solidFill>
                  <a:srgbClr val="6B5F55"/>
                </a:solidFill>
              </a:rPr>
              <a:t>Fastify • Zod • Mailpit</a:t>
            </a:r>
          </a:p>
        </p:txBody>
      </p:sp>
      <p:sp>
        <p:nvSpPr>
          <p:cNvPr id="16" name="">
            <a:extLst xmlns:a="http://schemas.openxmlformats.org/drawingml/2006/main">
              <a:ext uri="{FF2B5EF4-FFF2-40B4-BE49-F238E27FC236}">
                <a16:creationId xmlns:a16="http://schemas.microsoft.com/office/drawing/2014/main" id="{22395F18-0381-47A3-ACE9-09EDD617A6A9}"/>
              </a:ext>
            </a:extLst>
          </p:cNvPr>
          <p:cNvSpPr>
            <a:spLocks xmlns:a="http://schemas.openxmlformats.org/drawingml/2006/main" noGrp="1"/>
          </p:cNvSpPr>
          <p:nvPr/>
        </p:nvSpPr>
        <p:spPr>
          <a:xfrm xmlns:a="http://schemas.openxmlformats.org/drawingml/2006/main">
            <a:off x="5981700" y="3543300"/>
            <a:ext cx="481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BE3 • BE4 • BE9 • BE10</a:t>
            </a:r>
          </a:p>
        </p:txBody>
      </p:sp>
      <p:sp>
        <p:nvSpPr>
          <p:cNvPr id="17" name="">
            <a:extLst xmlns:a="http://schemas.openxmlformats.org/drawingml/2006/main">
              <a:ext uri="{FF2B5EF4-FFF2-40B4-BE49-F238E27FC236}">
                <a16:creationId xmlns:a16="http://schemas.microsoft.com/office/drawing/2014/main" id="{2BBEEC6F-7370-49D1-B910-10571380655F}"/>
              </a:ext>
            </a:extLst>
          </p:cNvPr>
          <p:cNvSpPr>
            <a:spLocks xmlns:a="http://schemas.openxmlformats.org/drawingml/2006/main" noGrp="1"/>
          </p:cNvSpPr>
          <p:nvPr/>
        </p:nvSpPr>
        <p:spPr>
          <a:xfrm xmlns:a="http://schemas.openxmlformats.org/drawingml/2006/main">
            <a:off x="1676400" y="3943350"/>
            <a:ext cx="91249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8" name="">
            <a:extLst xmlns:a="http://schemas.openxmlformats.org/drawingml/2006/main">
              <a:ext uri="{FF2B5EF4-FFF2-40B4-BE49-F238E27FC236}">
                <a16:creationId xmlns:a16="http://schemas.microsoft.com/office/drawing/2014/main" id="{6883CC60-DE46-48F8-966F-E958437D1CFF}"/>
              </a:ext>
            </a:extLst>
          </p:cNvPr>
          <p:cNvSpPr>
            <a:spLocks xmlns:a="http://schemas.openxmlformats.org/drawingml/2006/main" noGrp="1"/>
          </p:cNvSpPr>
          <p:nvPr/>
        </p:nvSpPr>
        <p:spPr>
          <a:xfrm xmlns:a="http://schemas.openxmlformats.org/drawingml/2006/main">
            <a:off x="742950" y="4343400"/>
            <a:ext cx="666750" cy="666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BE-3</a:t>
            </a:r>
          </a:p>
        </p:txBody>
      </p:sp>
      <p:sp>
        <p:nvSpPr>
          <p:cNvPr id="19" name="">
            <a:extLst xmlns:a="http://schemas.openxmlformats.org/drawingml/2006/main">
              <a:ext uri="{FF2B5EF4-FFF2-40B4-BE49-F238E27FC236}">
                <a16:creationId xmlns:a16="http://schemas.microsoft.com/office/drawing/2014/main" id="{B76FF904-3247-4201-A034-D43837A6D87A}"/>
              </a:ext>
            </a:extLst>
          </p:cNvPr>
          <p:cNvSpPr>
            <a:spLocks xmlns:a="http://schemas.openxmlformats.org/drawingml/2006/main" noGrp="1"/>
          </p:cNvSpPr>
          <p:nvPr/>
        </p:nvSpPr>
        <p:spPr>
          <a:xfrm xmlns:a="http://schemas.openxmlformats.org/drawingml/2006/main">
            <a:off x="1676400" y="42100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Phan Anh Khương</a:t>
            </a:r>
          </a:p>
        </p:txBody>
      </p:sp>
      <p:sp>
        <p:nvSpPr>
          <p:cNvPr id="20" name="">
            <a:extLst xmlns:a="http://schemas.openxmlformats.org/drawingml/2006/main">
              <a:ext uri="{FF2B5EF4-FFF2-40B4-BE49-F238E27FC236}">
                <a16:creationId xmlns:a16="http://schemas.microsoft.com/office/drawing/2014/main" id="{93F0BD90-7DD7-42B6-93F2-0227E98E0D43}"/>
              </a:ext>
            </a:extLst>
          </p:cNvPr>
          <p:cNvSpPr>
            <a:spLocks xmlns:a="http://schemas.openxmlformats.org/drawingml/2006/main" noGrp="1"/>
          </p:cNvSpPr>
          <p:nvPr/>
        </p:nvSpPr>
        <p:spPr>
          <a:xfrm xmlns:a="http://schemas.openxmlformats.org/drawingml/2006/main">
            <a:off x="1676400" y="47053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841F11"/>
                </a:solidFill>
              </a:defRPr>
            </a:pPr>
            <a:r>
              <a:rPr sz="1500" b="0">
                <a:solidFill>
                  <a:srgbClr val="841F11"/>
                </a:solidFill>
              </a:rPr>
              <a:t>API tin • sự kiện • dự án</a:t>
            </a:r>
          </a:p>
        </p:txBody>
      </p:sp>
      <p:sp>
        <p:nvSpPr>
          <p:cNvPr id="21" name="">
            <a:extLst xmlns:a="http://schemas.openxmlformats.org/drawingml/2006/main">
              <a:ext uri="{FF2B5EF4-FFF2-40B4-BE49-F238E27FC236}">
                <a16:creationId xmlns:a16="http://schemas.microsoft.com/office/drawing/2014/main" id="{A9DADD08-C364-488E-97DC-913FB2A77BB7}"/>
              </a:ext>
            </a:extLst>
          </p:cNvPr>
          <p:cNvSpPr>
            <a:spLocks xmlns:a="http://schemas.openxmlformats.org/drawingml/2006/main" noGrp="1"/>
          </p:cNvSpPr>
          <p:nvPr/>
        </p:nvSpPr>
        <p:spPr>
          <a:xfrm xmlns:a="http://schemas.openxmlformats.org/drawingml/2006/main">
            <a:off x="5981700" y="4343400"/>
            <a:ext cx="4819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6B5F55"/>
                </a:solidFill>
              </a:defRPr>
            </a:pPr>
            <a:r>
              <a:rPr sz="1575" b="1">
                <a:solidFill>
                  <a:srgbClr val="6B5F55"/>
                </a:solidFill>
              </a:rPr>
              <a:t>Fastify • REST • PostgreSQL</a:t>
            </a:r>
          </a:p>
        </p:txBody>
      </p:sp>
      <p:sp>
        <p:nvSpPr>
          <p:cNvPr id="22" name="">
            <a:extLst xmlns:a="http://schemas.openxmlformats.org/drawingml/2006/main">
              <a:ext uri="{FF2B5EF4-FFF2-40B4-BE49-F238E27FC236}">
                <a16:creationId xmlns:a16="http://schemas.microsoft.com/office/drawing/2014/main" id="{FE2C8ABA-EE05-4ECB-B5CF-51FD1A89D4E8}"/>
              </a:ext>
            </a:extLst>
          </p:cNvPr>
          <p:cNvSpPr>
            <a:spLocks xmlns:a="http://schemas.openxmlformats.org/drawingml/2006/main" noGrp="1"/>
          </p:cNvSpPr>
          <p:nvPr/>
        </p:nvSpPr>
        <p:spPr>
          <a:xfrm xmlns:a="http://schemas.openxmlformats.org/drawingml/2006/main">
            <a:off x="5981700" y="4800600"/>
            <a:ext cx="481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BE5 • BE6 • BE7</a:t>
            </a:r>
          </a:p>
        </p:txBody>
      </p:sp>
      <p:sp>
        <p:nvSpPr>
          <p:cNvPr id="23" name="">
            <a:extLst xmlns:a="http://schemas.openxmlformats.org/drawingml/2006/main">
              <a:ext uri="{FF2B5EF4-FFF2-40B4-BE49-F238E27FC236}">
                <a16:creationId xmlns:a16="http://schemas.microsoft.com/office/drawing/2014/main" id="{3E0493A6-1667-4AD9-BC24-C1613FDDB870}"/>
              </a:ext>
            </a:extLst>
          </p:cNvPr>
          <p:cNvSpPr>
            <a:spLocks xmlns:a="http://schemas.openxmlformats.org/drawingml/2006/main" noGrp="1"/>
          </p:cNvSpPr>
          <p:nvPr/>
        </p:nvSpPr>
        <p:spPr>
          <a:xfrm xmlns:a="http://schemas.openxmlformats.org/drawingml/2006/main">
            <a:off x="1676400" y="5200650"/>
            <a:ext cx="91249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Tree>
    <p:extLst>
      <p:ext uri="{BB962C8B-B14F-4D97-AF65-F5344CB8AC3E}">
        <p14:creationId xmlns:p14="http://schemas.microsoft.com/office/powerpoint/2010/main" val="469311033"/>
      </p:ext>
    </p:extLst>
  </p:cSld>
</p:sld>
</file>

<file path=ppt/slides/slide3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1BB970F-9EB7-4013-94C5-E49C7E184264}"/>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E5FD9BA4-C7FE-42A5-B2E0-6109FC2418DB}"/>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Phân công Frontend</a:t>
            </a:r>
          </a:p>
        </p:txBody>
      </p:sp>
      <p:sp>
        <p:nvSpPr>
          <p:cNvPr id="3" name="">
            <a:extLst xmlns:a="http://schemas.openxmlformats.org/drawingml/2006/main">
              <a:ext uri="{FF2B5EF4-FFF2-40B4-BE49-F238E27FC236}">
                <a16:creationId xmlns:a16="http://schemas.microsoft.com/office/drawing/2014/main" id="{C99C9CB9-2E9A-4A3C-9221-9567E76F9E8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F5F28F97-3CA5-4F17-935F-110D99B3DCB0}"/>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64B47B0A-826D-4FF3-A838-C21998D8714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30</a:t>
            </a:r>
          </a:p>
        </p:txBody>
      </p:sp>
      <p:sp>
        <p:nvSpPr>
          <p:cNvPr id="6" name="">
            <a:extLst xmlns:a="http://schemas.openxmlformats.org/drawingml/2006/main">
              <a:ext uri="{FF2B5EF4-FFF2-40B4-BE49-F238E27FC236}">
                <a16:creationId xmlns:a16="http://schemas.microsoft.com/office/drawing/2014/main" id="{66E98878-5894-45CA-802F-01FEF1250DDB}"/>
              </a:ext>
            </a:extLst>
          </p:cNvPr>
          <p:cNvSpPr>
            <a:spLocks xmlns:a="http://schemas.openxmlformats.org/drawingml/2006/main" noGrp="1"/>
          </p:cNvSpPr>
          <p:nvPr/>
        </p:nvSpPr>
        <p:spPr>
          <a:xfrm xmlns:a="http://schemas.openxmlformats.org/drawingml/2006/main">
            <a:off x="742950" y="1676400"/>
            <a:ext cx="609600" cy="6096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FE-1</a:t>
            </a:r>
          </a:p>
        </p:txBody>
      </p:sp>
      <p:sp>
        <p:nvSpPr>
          <p:cNvPr id="7" name="">
            <a:extLst xmlns:a="http://schemas.openxmlformats.org/drawingml/2006/main">
              <a:ext uri="{FF2B5EF4-FFF2-40B4-BE49-F238E27FC236}">
                <a16:creationId xmlns:a16="http://schemas.microsoft.com/office/drawing/2014/main" id="{255E58E5-A40B-44C1-90B4-35B8021465BF}"/>
              </a:ext>
            </a:extLst>
          </p:cNvPr>
          <p:cNvSpPr>
            <a:spLocks xmlns:a="http://schemas.openxmlformats.org/drawingml/2006/main" noGrp="1"/>
          </p:cNvSpPr>
          <p:nvPr/>
        </p:nvSpPr>
        <p:spPr>
          <a:xfrm xmlns:a="http://schemas.openxmlformats.org/drawingml/2006/main">
            <a:off x="1638300" y="16002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Lương Huỳnh</a:t>
            </a:r>
          </a:p>
        </p:txBody>
      </p:sp>
      <p:sp>
        <p:nvSpPr>
          <p:cNvPr id="8" name="">
            <a:extLst xmlns:a="http://schemas.openxmlformats.org/drawingml/2006/main">
              <a:ext uri="{FF2B5EF4-FFF2-40B4-BE49-F238E27FC236}">
                <a16:creationId xmlns:a16="http://schemas.microsoft.com/office/drawing/2014/main" id="{8F4902CE-61DD-471F-AE00-E1F199A09445}"/>
              </a:ext>
            </a:extLst>
          </p:cNvPr>
          <p:cNvSpPr>
            <a:spLocks xmlns:a="http://schemas.openxmlformats.org/drawingml/2006/main" noGrp="1"/>
          </p:cNvSpPr>
          <p:nvPr/>
        </p:nvSpPr>
        <p:spPr>
          <a:xfrm xmlns:a="http://schemas.openxmlformats.org/drawingml/2006/main">
            <a:off x="5524500" y="1600200"/>
            <a:ext cx="546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3E7A"/>
                </a:solidFill>
              </a:defRPr>
            </a:pPr>
            <a:r>
              <a:rPr sz="1575" b="1">
                <a:solidFill>
                  <a:srgbClr val="0B3E7A"/>
                </a:solidFill>
              </a:rPr>
              <a:t>Router • Layout • Auth UI • Component</a:t>
            </a:r>
          </a:p>
        </p:txBody>
      </p:sp>
      <p:sp>
        <p:nvSpPr>
          <p:cNvPr id="9" name="">
            <a:extLst xmlns:a="http://schemas.openxmlformats.org/drawingml/2006/main">
              <a:ext uri="{FF2B5EF4-FFF2-40B4-BE49-F238E27FC236}">
                <a16:creationId xmlns:a16="http://schemas.microsoft.com/office/drawing/2014/main" id="{791C1867-6AFB-41A7-B365-2FD312DD20A5}"/>
              </a:ext>
            </a:extLst>
          </p:cNvPr>
          <p:cNvSpPr>
            <a:spLocks xmlns:a="http://schemas.openxmlformats.org/drawingml/2006/main" noGrp="1"/>
          </p:cNvSpPr>
          <p:nvPr/>
        </p:nvSpPr>
        <p:spPr>
          <a:xfrm xmlns:a="http://schemas.openxmlformats.org/drawingml/2006/main">
            <a:off x="5524500" y="2019300"/>
            <a:ext cx="546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B5F55"/>
                </a:solidFill>
              </a:defRPr>
            </a:pPr>
            <a:r>
              <a:rPr sz="1200" b="0">
                <a:solidFill>
                  <a:srgbClr val="6B5F55"/>
                </a:solidFill>
              </a:rPr>
              <a:t>React • TypeScript • Tailwind • API     FE1 • FE2 • FE9</a:t>
            </a:r>
          </a:p>
        </p:txBody>
      </p:sp>
      <p:sp>
        <p:nvSpPr>
          <p:cNvPr id="10" name="">
            <a:extLst xmlns:a="http://schemas.openxmlformats.org/drawingml/2006/main">
              <a:ext uri="{FF2B5EF4-FFF2-40B4-BE49-F238E27FC236}">
                <a16:creationId xmlns:a16="http://schemas.microsoft.com/office/drawing/2014/main" id="{EBA5C0C6-7185-4C9E-9E57-A7237E80981C}"/>
              </a:ext>
            </a:extLst>
          </p:cNvPr>
          <p:cNvSpPr>
            <a:spLocks xmlns:a="http://schemas.openxmlformats.org/drawingml/2006/main" noGrp="1"/>
          </p:cNvSpPr>
          <p:nvPr/>
        </p:nvSpPr>
        <p:spPr>
          <a:xfrm xmlns:a="http://schemas.openxmlformats.org/drawingml/2006/main">
            <a:off x="1638300" y="2419350"/>
            <a:ext cx="93535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1" name="">
            <a:extLst xmlns:a="http://schemas.openxmlformats.org/drawingml/2006/main">
              <a:ext uri="{FF2B5EF4-FFF2-40B4-BE49-F238E27FC236}">
                <a16:creationId xmlns:a16="http://schemas.microsoft.com/office/drawing/2014/main" id="{2F1F9EE1-B9EF-49DA-98D4-0809AD7F213E}"/>
              </a:ext>
            </a:extLst>
          </p:cNvPr>
          <p:cNvSpPr>
            <a:spLocks xmlns:a="http://schemas.openxmlformats.org/drawingml/2006/main" noGrp="1"/>
          </p:cNvSpPr>
          <p:nvPr/>
        </p:nvSpPr>
        <p:spPr>
          <a:xfrm xmlns:a="http://schemas.openxmlformats.org/drawingml/2006/main">
            <a:off x="742950" y="2647950"/>
            <a:ext cx="609600" cy="6096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FE-2</a:t>
            </a:r>
          </a:p>
        </p:txBody>
      </p:sp>
      <p:sp>
        <p:nvSpPr>
          <p:cNvPr id="12" name="">
            <a:extLst xmlns:a="http://schemas.openxmlformats.org/drawingml/2006/main">
              <a:ext uri="{FF2B5EF4-FFF2-40B4-BE49-F238E27FC236}">
                <a16:creationId xmlns:a16="http://schemas.microsoft.com/office/drawing/2014/main" id="{EE757980-D274-45BE-A83E-1E0971899F26}"/>
              </a:ext>
            </a:extLst>
          </p:cNvPr>
          <p:cNvSpPr>
            <a:spLocks xmlns:a="http://schemas.openxmlformats.org/drawingml/2006/main" noGrp="1"/>
          </p:cNvSpPr>
          <p:nvPr/>
        </p:nvSpPr>
        <p:spPr>
          <a:xfrm xmlns:a="http://schemas.openxmlformats.org/drawingml/2006/main">
            <a:off x="1638300" y="25717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Nguyễn Gia Bảo</a:t>
            </a:r>
          </a:p>
        </p:txBody>
      </p:sp>
      <p:sp>
        <p:nvSpPr>
          <p:cNvPr id="13" name="">
            <a:extLst xmlns:a="http://schemas.openxmlformats.org/drawingml/2006/main">
              <a:ext uri="{FF2B5EF4-FFF2-40B4-BE49-F238E27FC236}">
                <a16:creationId xmlns:a16="http://schemas.microsoft.com/office/drawing/2014/main" id="{D73A0A47-A283-4DF7-A0DF-E326D5895103}"/>
              </a:ext>
            </a:extLst>
          </p:cNvPr>
          <p:cNvSpPr>
            <a:spLocks xmlns:a="http://schemas.openxmlformats.org/drawingml/2006/main" noGrp="1"/>
          </p:cNvSpPr>
          <p:nvPr/>
        </p:nvSpPr>
        <p:spPr>
          <a:xfrm xmlns:a="http://schemas.openxmlformats.org/drawingml/2006/main">
            <a:off x="5524500" y="2571750"/>
            <a:ext cx="546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3E7A"/>
                </a:solidFill>
              </a:defRPr>
            </a:pPr>
            <a:r>
              <a:rPr sz="1575" b="1">
                <a:solidFill>
                  <a:srgbClr val="0B3E7A"/>
                </a:solidFill>
              </a:rPr>
              <a:t>Trang Tin tức • Sự kiện</a:t>
            </a:r>
          </a:p>
        </p:txBody>
      </p:sp>
      <p:sp>
        <p:nvSpPr>
          <p:cNvPr id="14" name="">
            <a:extLst xmlns:a="http://schemas.openxmlformats.org/drawingml/2006/main">
              <a:ext uri="{FF2B5EF4-FFF2-40B4-BE49-F238E27FC236}">
                <a16:creationId xmlns:a16="http://schemas.microsoft.com/office/drawing/2014/main" id="{714D2CD6-A010-4E1E-A18B-ACC8792E2D4D}"/>
              </a:ext>
            </a:extLst>
          </p:cNvPr>
          <p:cNvSpPr>
            <a:spLocks xmlns:a="http://schemas.openxmlformats.org/drawingml/2006/main" noGrp="1"/>
          </p:cNvSpPr>
          <p:nvPr/>
        </p:nvSpPr>
        <p:spPr>
          <a:xfrm xmlns:a="http://schemas.openxmlformats.org/drawingml/2006/main">
            <a:off x="5524500" y="2990850"/>
            <a:ext cx="546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B5F55"/>
                </a:solidFill>
              </a:defRPr>
            </a:pPr>
            <a:r>
              <a:rPr sz="1200" b="0">
                <a:solidFill>
                  <a:srgbClr val="6B5F55"/>
                </a:solidFill>
              </a:rPr>
              <a:t>React • TypeScript • Tailwind • API     FE3 • FE4</a:t>
            </a:r>
          </a:p>
        </p:txBody>
      </p:sp>
      <p:sp>
        <p:nvSpPr>
          <p:cNvPr id="15" name="">
            <a:extLst xmlns:a="http://schemas.openxmlformats.org/drawingml/2006/main">
              <a:ext uri="{FF2B5EF4-FFF2-40B4-BE49-F238E27FC236}">
                <a16:creationId xmlns:a16="http://schemas.microsoft.com/office/drawing/2014/main" id="{759B7376-9BDD-4D34-B9E8-7115072A4AB4}"/>
              </a:ext>
            </a:extLst>
          </p:cNvPr>
          <p:cNvSpPr>
            <a:spLocks xmlns:a="http://schemas.openxmlformats.org/drawingml/2006/main" noGrp="1"/>
          </p:cNvSpPr>
          <p:nvPr/>
        </p:nvSpPr>
        <p:spPr>
          <a:xfrm xmlns:a="http://schemas.openxmlformats.org/drawingml/2006/main">
            <a:off x="1638300" y="3390900"/>
            <a:ext cx="93535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93604E45-2A1E-41ED-8574-4765A59333D0}"/>
              </a:ext>
            </a:extLst>
          </p:cNvPr>
          <p:cNvSpPr>
            <a:spLocks xmlns:a="http://schemas.openxmlformats.org/drawingml/2006/main" noGrp="1"/>
          </p:cNvSpPr>
          <p:nvPr/>
        </p:nvSpPr>
        <p:spPr>
          <a:xfrm xmlns:a="http://schemas.openxmlformats.org/drawingml/2006/main">
            <a:off x="742950" y="3619500"/>
            <a:ext cx="609600" cy="6096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FE-3</a:t>
            </a:r>
          </a:p>
        </p:txBody>
      </p:sp>
      <p:sp>
        <p:nvSpPr>
          <p:cNvPr id="17" name="">
            <a:extLst xmlns:a="http://schemas.openxmlformats.org/drawingml/2006/main">
              <a:ext uri="{FF2B5EF4-FFF2-40B4-BE49-F238E27FC236}">
                <a16:creationId xmlns:a16="http://schemas.microsoft.com/office/drawing/2014/main" id="{DA7BDC1A-1721-4BE5-9F7A-50876BA8BDAB}"/>
              </a:ext>
            </a:extLst>
          </p:cNvPr>
          <p:cNvSpPr>
            <a:spLocks xmlns:a="http://schemas.openxmlformats.org/drawingml/2006/main" noGrp="1"/>
          </p:cNvSpPr>
          <p:nvPr/>
        </p:nvSpPr>
        <p:spPr>
          <a:xfrm xmlns:a="http://schemas.openxmlformats.org/drawingml/2006/main">
            <a:off x="1638300" y="35433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Lê Đăng Nghĩa</a:t>
            </a:r>
          </a:p>
        </p:txBody>
      </p:sp>
      <p:sp>
        <p:nvSpPr>
          <p:cNvPr id="18" name="">
            <a:extLst xmlns:a="http://schemas.openxmlformats.org/drawingml/2006/main">
              <a:ext uri="{FF2B5EF4-FFF2-40B4-BE49-F238E27FC236}">
                <a16:creationId xmlns:a16="http://schemas.microsoft.com/office/drawing/2014/main" id="{299DBB84-E6AD-459D-B7D3-C5C1BFC82061}"/>
              </a:ext>
            </a:extLst>
          </p:cNvPr>
          <p:cNvSpPr>
            <a:spLocks xmlns:a="http://schemas.openxmlformats.org/drawingml/2006/main" noGrp="1"/>
          </p:cNvSpPr>
          <p:nvPr/>
        </p:nvSpPr>
        <p:spPr>
          <a:xfrm xmlns:a="http://schemas.openxmlformats.org/drawingml/2006/main">
            <a:off x="5524500" y="3543300"/>
            <a:ext cx="546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3E7A"/>
                </a:solidFill>
              </a:defRPr>
            </a:pPr>
            <a:r>
              <a:rPr sz="1575" b="1">
                <a:solidFill>
                  <a:srgbClr val="0B3E7A"/>
                </a:solidFill>
              </a:rPr>
              <a:t>Trang Dự án • Form Gia nhập</a:t>
            </a:r>
          </a:p>
        </p:txBody>
      </p:sp>
      <p:sp>
        <p:nvSpPr>
          <p:cNvPr id="19" name="">
            <a:extLst xmlns:a="http://schemas.openxmlformats.org/drawingml/2006/main">
              <a:ext uri="{FF2B5EF4-FFF2-40B4-BE49-F238E27FC236}">
                <a16:creationId xmlns:a16="http://schemas.microsoft.com/office/drawing/2014/main" id="{6B99FB2F-9793-49BC-BFE8-30FEC8C5FB4B}"/>
              </a:ext>
            </a:extLst>
          </p:cNvPr>
          <p:cNvSpPr>
            <a:spLocks xmlns:a="http://schemas.openxmlformats.org/drawingml/2006/main" noGrp="1"/>
          </p:cNvSpPr>
          <p:nvPr/>
        </p:nvSpPr>
        <p:spPr>
          <a:xfrm xmlns:a="http://schemas.openxmlformats.org/drawingml/2006/main">
            <a:off x="5524500" y="3962400"/>
            <a:ext cx="546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B5F55"/>
                </a:solidFill>
              </a:defRPr>
            </a:pPr>
            <a:r>
              <a:rPr sz="1200" b="0">
                <a:solidFill>
                  <a:srgbClr val="6B5F55"/>
                </a:solidFill>
              </a:rPr>
              <a:t>React • TypeScript • Tailwind • API     FE5 • FE6</a:t>
            </a:r>
          </a:p>
        </p:txBody>
      </p:sp>
      <p:sp>
        <p:nvSpPr>
          <p:cNvPr id="20" name="">
            <a:extLst xmlns:a="http://schemas.openxmlformats.org/drawingml/2006/main">
              <a:ext uri="{FF2B5EF4-FFF2-40B4-BE49-F238E27FC236}">
                <a16:creationId xmlns:a16="http://schemas.microsoft.com/office/drawing/2014/main" id="{16D1E800-7053-4F53-BAF6-50B20D9D42D2}"/>
              </a:ext>
            </a:extLst>
          </p:cNvPr>
          <p:cNvSpPr>
            <a:spLocks xmlns:a="http://schemas.openxmlformats.org/drawingml/2006/main" noGrp="1"/>
          </p:cNvSpPr>
          <p:nvPr/>
        </p:nvSpPr>
        <p:spPr>
          <a:xfrm xmlns:a="http://schemas.openxmlformats.org/drawingml/2006/main">
            <a:off x="1638300" y="4362450"/>
            <a:ext cx="93535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21" name="">
            <a:extLst xmlns:a="http://schemas.openxmlformats.org/drawingml/2006/main">
              <a:ext uri="{FF2B5EF4-FFF2-40B4-BE49-F238E27FC236}">
                <a16:creationId xmlns:a16="http://schemas.microsoft.com/office/drawing/2014/main" id="{3C3A3CDA-F739-49B9-B79D-B8041C2B0E1A}"/>
              </a:ext>
            </a:extLst>
          </p:cNvPr>
          <p:cNvSpPr>
            <a:spLocks xmlns:a="http://schemas.openxmlformats.org/drawingml/2006/main" noGrp="1"/>
          </p:cNvSpPr>
          <p:nvPr/>
        </p:nvSpPr>
        <p:spPr>
          <a:xfrm xmlns:a="http://schemas.openxmlformats.org/drawingml/2006/main">
            <a:off x="742950" y="4591050"/>
            <a:ext cx="609600" cy="6096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FE-4</a:t>
            </a:r>
          </a:p>
        </p:txBody>
      </p:sp>
      <p:sp>
        <p:nvSpPr>
          <p:cNvPr id="22" name="">
            <a:extLst xmlns:a="http://schemas.openxmlformats.org/drawingml/2006/main">
              <a:ext uri="{FF2B5EF4-FFF2-40B4-BE49-F238E27FC236}">
                <a16:creationId xmlns:a16="http://schemas.microsoft.com/office/drawing/2014/main" id="{5EF2D017-3EF3-413A-9071-44CEB6B90D89}"/>
              </a:ext>
            </a:extLst>
          </p:cNvPr>
          <p:cNvSpPr>
            <a:spLocks xmlns:a="http://schemas.openxmlformats.org/drawingml/2006/main" noGrp="1"/>
          </p:cNvSpPr>
          <p:nvPr/>
        </p:nvSpPr>
        <p:spPr>
          <a:xfrm xmlns:a="http://schemas.openxmlformats.org/drawingml/2006/main">
            <a:off x="1638300" y="45148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01A16"/>
                </a:solidFill>
              </a:defRPr>
            </a:pPr>
            <a:r>
              <a:rPr sz="1800" b="1">
                <a:solidFill>
                  <a:srgbClr val="201A16"/>
                </a:solidFill>
              </a:rPr>
              <a:t>Huỳnh Hoàn Phúc</a:t>
            </a:r>
          </a:p>
        </p:txBody>
      </p:sp>
      <p:sp>
        <p:nvSpPr>
          <p:cNvPr id="23" name="">
            <a:extLst xmlns:a="http://schemas.openxmlformats.org/drawingml/2006/main">
              <a:ext uri="{FF2B5EF4-FFF2-40B4-BE49-F238E27FC236}">
                <a16:creationId xmlns:a16="http://schemas.microsoft.com/office/drawing/2014/main" id="{184D554F-90C3-4792-9299-6711D1B51631}"/>
              </a:ext>
            </a:extLst>
          </p:cNvPr>
          <p:cNvSpPr>
            <a:spLocks xmlns:a="http://schemas.openxmlformats.org/drawingml/2006/main" noGrp="1"/>
          </p:cNvSpPr>
          <p:nvPr/>
        </p:nvSpPr>
        <p:spPr>
          <a:xfrm xmlns:a="http://schemas.openxmlformats.org/drawingml/2006/main">
            <a:off x="5524500" y="4514850"/>
            <a:ext cx="546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3E7A"/>
                </a:solidFill>
              </a:defRPr>
            </a:pPr>
            <a:r>
              <a:rPr sz="1575" b="1">
                <a:solidFill>
                  <a:srgbClr val="0B3E7A"/>
                </a:solidFill>
              </a:rPr>
              <a:t>CMS Admin • Test Frontend</a:t>
            </a:r>
          </a:p>
        </p:txBody>
      </p:sp>
      <p:sp>
        <p:nvSpPr>
          <p:cNvPr id="24" name="">
            <a:extLst xmlns:a="http://schemas.openxmlformats.org/drawingml/2006/main">
              <a:ext uri="{FF2B5EF4-FFF2-40B4-BE49-F238E27FC236}">
                <a16:creationId xmlns:a16="http://schemas.microsoft.com/office/drawing/2014/main" id="{38886E4C-5639-4A55-838D-915FB70E8A2B}"/>
              </a:ext>
            </a:extLst>
          </p:cNvPr>
          <p:cNvSpPr>
            <a:spLocks xmlns:a="http://schemas.openxmlformats.org/drawingml/2006/main" noGrp="1"/>
          </p:cNvSpPr>
          <p:nvPr/>
        </p:nvSpPr>
        <p:spPr>
          <a:xfrm xmlns:a="http://schemas.openxmlformats.org/drawingml/2006/main">
            <a:off x="5524500" y="4933950"/>
            <a:ext cx="546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B5F55"/>
                </a:solidFill>
              </a:defRPr>
            </a:pPr>
            <a:r>
              <a:rPr sz="1200" b="0">
                <a:solidFill>
                  <a:srgbClr val="6B5F55"/>
                </a:solidFill>
              </a:rPr>
              <a:t>React • TypeScript • Tailwind • API     FE7 • FE8</a:t>
            </a:r>
          </a:p>
        </p:txBody>
      </p:sp>
      <p:sp>
        <p:nvSpPr>
          <p:cNvPr id="25" name="">
            <a:extLst xmlns:a="http://schemas.openxmlformats.org/drawingml/2006/main">
              <a:ext uri="{FF2B5EF4-FFF2-40B4-BE49-F238E27FC236}">
                <a16:creationId xmlns:a16="http://schemas.microsoft.com/office/drawing/2014/main" id="{4FAA5190-AFE0-4EDD-A9B4-29E606D3159D}"/>
              </a:ext>
            </a:extLst>
          </p:cNvPr>
          <p:cNvSpPr>
            <a:spLocks xmlns:a="http://schemas.openxmlformats.org/drawingml/2006/main" noGrp="1"/>
          </p:cNvSpPr>
          <p:nvPr/>
        </p:nvSpPr>
        <p:spPr>
          <a:xfrm xmlns:a="http://schemas.openxmlformats.org/drawingml/2006/main">
            <a:off x="1638300" y="5334000"/>
            <a:ext cx="93535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Tree>
    <p:extLst>
      <p:ext uri="{BB962C8B-B14F-4D97-AF65-F5344CB8AC3E}">
        <p14:creationId xmlns:p14="http://schemas.microsoft.com/office/powerpoint/2010/main" val="1727519246"/>
      </p:ext>
    </p:extLst>
  </p:cSld>
</p:sld>
</file>

<file path=ppt/slides/slide3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F47EE1-1AFD-478B-8EC4-B9E140B5F95F}"/>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2C6425B9-28C3-4E5E-A9B1-CACDCD4EE370}"/>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Phân công Hạ tầng/QA và phần APC duyệt</a:t>
            </a:r>
          </a:p>
        </p:txBody>
      </p:sp>
      <p:sp>
        <p:nvSpPr>
          <p:cNvPr id="3" name="">
            <a:extLst xmlns:a="http://schemas.openxmlformats.org/drawingml/2006/main">
              <a:ext uri="{FF2B5EF4-FFF2-40B4-BE49-F238E27FC236}">
                <a16:creationId xmlns:a16="http://schemas.microsoft.com/office/drawing/2014/main" id="{AB0BE715-8D58-4690-8374-3C40EC6A74A1}"/>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7B82054A-C641-462C-8E09-3070BC325028}"/>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AC09137C-6423-4384-BF12-3AC148DA5FE3}"/>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31</a:t>
            </a:r>
          </a:p>
        </p:txBody>
      </p:sp>
      <p:sp>
        <p:nvSpPr>
          <p:cNvPr id="6" name="">
            <a:extLst xmlns:a="http://schemas.openxmlformats.org/drawingml/2006/main">
              <a:ext uri="{FF2B5EF4-FFF2-40B4-BE49-F238E27FC236}">
                <a16:creationId xmlns:a16="http://schemas.microsoft.com/office/drawing/2014/main" id="{EFC898E6-94E5-4BAD-869F-3BB90DD29998}"/>
              </a:ext>
            </a:extLst>
          </p:cNvPr>
          <p:cNvSpPr>
            <a:spLocks xmlns:a="http://schemas.openxmlformats.org/drawingml/2006/main" noGrp="1"/>
          </p:cNvSpPr>
          <p:nvPr/>
        </p:nvSpPr>
        <p:spPr>
          <a:xfrm xmlns:a="http://schemas.openxmlformats.org/drawingml/2006/main">
            <a:off x="685800" y="1714500"/>
            <a:ext cx="5048250" cy="3048000"/>
          </a:xfrm>
          <a:prstGeom xmlns:a="http://schemas.openxmlformats.org/drawingml/2006/main" prst="roundRect">
            <a:avLst>
              <a:gd name="adj" fmla="val 7500"/>
            </a:avLst>
          </a:prstGeom>
          <a:solidFill xmlns:a="http://schemas.openxmlformats.org/drawingml/2006/main">
            <a:srgbClr val="FCEACA"/>
          </a:solidFill>
          <a:ln xmlns:a="http://schemas.openxmlformats.org/drawingml/2006/main" w="9525">
            <a:solidFill>
              <a:srgbClr val="FCEACA"/>
            </a:solidFill>
            <a:prstDash val="solid"/>
          </a:ln>
        </p:spPr>
      </p:sp>
      <p:sp>
        <p:nvSpPr>
          <p:cNvPr id="7" name="">
            <a:extLst xmlns:a="http://schemas.openxmlformats.org/drawingml/2006/main">
              <a:ext uri="{FF2B5EF4-FFF2-40B4-BE49-F238E27FC236}">
                <a16:creationId xmlns:a16="http://schemas.microsoft.com/office/drawing/2014/main" id="{6385999A-045C-41AC-A153-39C5770482E3}"/>
              </a:ext>
            </a:extLst>
          </p:cNvPr>
          <p:cNvSpPr>
            <a:spLocks xmlns:a="http://schemas.openxmlformats.org/drawingml/2006/main" noGrp="1"/>
          </p:cNvSpPr>
          <p:nvPr/>
        </p:nvSpPr>
        <p:spPr>
          <a:xfrm xmlns:a="http://schemas.openxmlformats.org/drawingml/2006/main">
            <a:off x="990600" y="2019300"/>
            <a:ext cx="685800" cy="68580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OP-1</a:t>
            </a:r>
          </a:p>
        </p:txBody>
      </p:sp>
      <p:sp>
        <p:nvSpPr>
          <p:cNvPr id="8" name="">
            <a:extLst xmlns:a="http://schemas.openxmlformats.org/drawingml/2006/main">
              <a:ext uri="{FF2B5EF4-FFF2-40B4-BE49-F238E27FC236}">
                <a16:creationId xmlns:a16="http://schemas.microsoft.com/office/drawing/2014/main" id="{E2106A4C-403E-4AE7-A173-2053A22AD581}"/>
              </a:ext>
            </a:extLst>
          </p:cNvPr>
          <p:cNvSpPr>
            <a:spLocks xmlns:a="http://schemas.openxmlformats.org/drawingml/2006/main" noGrp="1"/>
          </p:cNvSpPr>
          <p:nvPr/>
        </p:nvSpPr>
        <p:spPr>
          <a:xfrm xmlns:a="http://schemas.openxmlformats.org/drawingml/2006/main">
            <a:off x="1924050" y="20383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01A16"/>
                </a:solidFill>
              </a:defRPr>
            </a:pPr>
            <a:r>
              <a:rPr sz="2025" b="1">
                <a:solidFill>
                  <a:srgbClr val="201A16"/>
                </a:solidFill>
              </a:rPr>
              <a:t>Đặng Phúc An Khang</a:t>
            </a:r>
          </a:p>
        </p:txBody>
      </p:sp>
      <p:sp>
        <p:nvSpPr>
          <p:cNvPr id="9" name="">
            <a:extLst xmlns:a="http://schemas.openxmlformats.org/drawingml/2006/main">
              <a:ext uri="{FF2B5EF4-FFF2-40B4-BE49-F238E27FC236}">
                <a16:creationId xmlns:a16="http://schemas.microsoft.com/office/drawing/2014/main" id="{4BB37362-E4CC-4526-BC19-7234519D3179}"/>
              </a:ext>
            </a:extLst>
          </p:cNvPr>
          <p:cNvSpPr>
            <a:spLocks xmlns:a="http://schemas.openxmlformats.org/drawingml/2006/main" noGrp="1"/>
          </p:cNvSpPr>
          <p:nvPr/>
        </p:nvSpPr>
        <p:spPr>
          <a:xfrm xmlns:a="http://schemas.openxmlformats.org/drawingml/2006/main">
            <a:off x="990600" y="2895600"/>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6B4500"/>
                </a:solidFill>
              </a:defRPr>
            </a:pPr>
            <a:r>
              <a:rPr sz="1875" b="1">
                <a:solidFill>
                  <a:srgbClr val="6B4500"/>
                </a:solidFill>
              </a:rPr>
              <a:t>CI • Staging • Backup</a:t>
            </a:r>
          </a:p>
        </p:txBody>
      </p:sp>
      <p:sp>
        <p:nvSpPr>
          <p:cNvPr id="10" name="">
            <a:extLst xmlns:a="http://schemas.openxmlformats.org/drawingml/2006/main">
              <a:ext uri="{FF2B5EF4-FFF2-40B4-BE49-F238E27FC236}">
                <a16:creationId xmlns:a16="http://schemas.microsoft.com/office/drawing/2014/main" id="{858D096B-D2B2-4BFC-B673-7BF0AE84A2C6}"/>
              </a:ext>
            </a:extLst>
          </p:cNvPr>
          <p:cNvSpPr>
            <a:spLocks xmlns:a="http://schemas.openxmlformats.org/drawingml/2006/main" noGrp="1"/>
          </p:cNvSpPr>
          <p:nvPr/>
        </p:nvSpPr>
        <p:spPr>
          <a:xfrm xmlns:a="http://schemas.openxmlformats.org/drawingml/2006/main">
            <a:off x="990600" y="35433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GitHub Actions • Docker • VPS</a:t>
            </a:r>
          </a:p>
        </p:txBody>
      </p:sp>
      <p:sp>
        <p:nvSpPr>
          <p:cNvPr id="11" name="">
            <a:extLst xmlns:a="http://schemas.openxmlformats.org/drawingml/2006/main">
              <a:ext uri="{FF2B5EF4-FFF2-40B4-BE49-F238E27FC236}">
                <a16:creationId xmlns:a16="http://schemas.microsoft.com/office/drawing/2014/main" id="{04A29934-DC64-4922-8F50-C83B5CDB57B5}"/>
              </a:ext>
            </a:extLst>
          </p:cNvPr>
          <p:cNvSpPr>
            <a:spLocks xmlns:a="http://schemas.openxmlformats.org/drawingml/2006/main" noGrp="1"/>
          </p:cNvSpPr>
          <p:nvPr/>
        </p:nvSpPr>
        <p:spPr>
          <a:xfrm xmlns:a="http://schemas.openxmlformats.org/drawingml/2006/main">
            <a:off x="990600" y="40195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B4500"/>
                </a:solidFill>
              </a:defRPr>
            </a:pPr>
            <a:r>
              <a:rPr sz="1050" b="1">
                <a:solidFill>
                  <a:srgbClr val="6B4500"/>
                </a:solidFill>
              </a:rPr>
              <a:t>IN1 • IN2 • IN3</a:t>
            </a:r>
          </a:p>
        </p:txBody>
      </p:sp>
      <p:sp>
        <p:nvSpPr>
          <p:cNvPr id="12" name="">
            <a:extLst xmlns:a="http://schemas.openxmlformats.org/drawingml/2006/main">
              <a:ext uri="{FF2B5EF4-FFF2-40B4-BE49-F238E27FC236}">
                <a16:creationId xmlns:a16="http://schemas.microsoft.com/office/drawing/2014/main" id="{4508439B-CA90-4FB8-990B-77D90B1B5811}"/>
              </a:ext>
            </a:extLst>
          </p:cNvPr>
          <p:cNvSpPr>
            <a:spLocks xmlns:a="http://schemas.openxmlformats.org/drawingml/2006/main" noGrp="1"/>
          </p:cNvSpPr>
          <p:nvPr/>
        </p:nvSpPr>
        <p:spPr>
          <a:xfrm xmlns:a="http://schemas.openxmlformats.org/drawingml/2006/main">
            <a:off x="6076950" y="1714500"/>
            <a:ext cx="5429250" cy="3048000"/>
          </a:xfrm>
          <a:prstGeom xmlns:a="http://schemas.openxmlformats.org/drawingml/2006/main" prst="roundRect">
            <a:avLst>
              <a:gd name="adj" fmla="val 7500"/>
            </a:avLst>
          </a:prstGeom>
          <a:solidFill xmlns:a="http://schemas.openxmlformats.org/drawingml/2006/main">
            <a:srgbClr val="F1ECE5"/>
          </a:solidFill>
          <a:ln xmlns:a="http://schemas.openxmlformats.org/drawingml/2006/main" w="9525">
            <a:solidFill>
              <a:srgbClr val="F1ECE5"/>
            </a:solidFill>
            <a:prstDash val="solid"/>
          </a:ln>
        </p:spPr>
      </p:sp>
      <p:sp>
        <p:nvSpPr>
          <p:cNvPr id="13" name="">
            <a:extLst xmlns:a="http://schemas.openxmlformats.org/drawingml/2006/main">
              <a:ext uri="{FF2B5EF4-FFF2-40B4-BE49-F238E27FC236}">
                <a16:creationId xmlns:a16="http://schemas.microsoft.com/office/drawing/2014/main" id="{56CE7BE9-451F-4A46-AE3B-A2DCB6D69654}"/>
              </a:ext>
            </a:extLst>
          </p:cNvPr>
          <p:cNvSpPr>
            <a:spLocks xmlns:a="http://schemas.openxmlformats.org/drawingml/2006/main" noGrp="1"/>
          </p:cNvSpPr>
          <p:nvPr/>
        </p:nvSpPr>
        <p:spPr>
          <a:xfrm xmlns:a="http://schemas.openxmlformats.org/drawingml/2006/main">
            <a:off x="6381750" y="2019300"/>
            <a:ext cx="685800" cy="685800"/>
          </a:xfrm>
          <a:prstGeom xmlns:a="http://schemas.openxmlformats.org/drawingml/2006/main" prst="ellipse">
            <a:avLst/>
          </a:prstGeom>
          <a:solidFill xmlns:a="http://schemas.openxmlformats.org/drawingml/2006/main">
            <a:srgbClr val="081A33"/>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OP-2</a:t>
            </a:r>
          </a:p>
        </p:txBody>
      </p:sp>
      <p:sp>
        <p:nvSpPr>
          <p:cNvPr id="14" name="">
            <a:extLst xmlns:a="http://schemas.openxmlformats.org/drawingml/2006/main">
              <a:ext uri="{FF2B5EF4-FFF2-40B4-BE49-F238E27FC236}">
                <a16:creationId xmlns:a16="http://schemas.microsoft.com/office/drawing/2014/main" id="{2F9EE707-E7A3-4ABF-9822-9D0310AB8BBD}"/>
              </a:ext>
            </a:extLst>
          </p:cNvPr>
          <p:cNvSpPr>
            <a:spLocks xmlns:a="http://schemas.openxmlformats.org/drawingml/2006/main" noGrp="1"/>
          </p:cNvSpPr>
          <p:nvPr/>
        </p:nvSpPr>
        <p:spPr>
          <a:xfrm xmlns:a="http://schemas.openxmlformats.org/drawingml/2006/main">
            <a:off x="7315200" y="20383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01A16"/>
                </a:solidFill>
              </a:defRPr>
            </a:pPr>
            <a:r>
              <a:rPr sz="2025" b="1">
                <a:solidFill>
                  <a:srgbClr val="201A16"/>
                </a:solidFill>
              </a:rPr>
              <a:t>Nguyễn Tiến Bảo</a:t>
            </a:r>
          </a:p>
        </p:txBody>
      </p:sp>
      <p:sp>
        <p:nvSpPr>
          <p:cNvPr id="15" name="">
            <a:extLst xmlns:a="http://schemas.openxmlformats.org/drawingml/2006/main">
              <a:ext uri="{FF2B5EF4-FFF2-40B4-BE49-F238E27FC236}">
                <a16:creationId xmlns:a16="http://schemas.microsoft.com/office/drawing/2014/main" id="{BF21DE67-BF5B-48FA-99B3-44574B7E1578}"/>
              </a:ext>
            </a:extLst>
          </p:cNvPr>
          <p:cNvSpPr>
            <a:spLocks xmlns:a="http://schemas.openxmlformats.org/drawingml/2006/main" noGrp="1"/>
          </p:cNvSpPr>
          <p:nvPr/>
        </p:nvSpPr>
        <p:spPr>
          <a:xfrm xmlns:a="http://schemas.openxmlformats.org/drawingml/2006/main">
            <a:off x="6381750" y="2895600"/>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081A33"/>
                </a:solidFill>
              </a:defRPr>
            </a:pPr>
            <a:r>
              <a:rPr sz="1875" b="1">
                <a:solidFill>
                  <a:srgbClr val="081A33"/>
                </a:solidFill>
              </a:rPr>
              <a:t>QA • E2E • Nội dung • Docs</a:t>
            </a:r>
          </a:p>
        </p:txBody>
      </p:sp>
      <p:sp>
        <p:nvSpPr>
          <p:cNvPr id="16" name="">
            <a:extLst xmlns:a="http://schemas.openxmlformats.org/drawingml/2006/main">
              <a:ext uri="{FF2B5EF4-FFF2-40B4-BE49-F238E27FC236}">
                <a16:creationId xmlns:a16="http://schemas.microsoft.com/office/drawing/2014/main" id="{1696D96A-8FD6-4C04-890A-A07DAD8AA480}"/>
              </a:ext>
            </a:extLst>
          </p:cNvPr>
          <p:cNvSpPr>
            <a:spLocks xmlns:a="http://schemas.openxmlformats.org/drawingml/2006/main" noGrp="1"/>
          </p:cNvSpPr>
          <p:nvPr/>
        </p:nvSpPr>
        <p:spPr>
          <a:xfrm xmlns:a="http://schemas.openxmlformats.org/drawingml/2006/main">
            <a:off x="6381750" y="3543300"/>
            <a:ext cx="443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Checklist • test luồng • tài liệu</a:t>
            </a:r>
          </a:p>
        </p:txBody>
      </p:sp>
      <p:sp>
        <p:nvSpPr>
          <p:cNvPr id="17" name="">
            <a:extLst xmlns:a="http://schemas.openxmlformats.org/drawingml/2006/main">
              <a:ext uri="{FF2B5EF4-FFF2-40B4-BE49-F238E27FC236}">
                <a16:creationId xmlns:a16="http://schemas.microsoft.com/office/drawing/2014/main" id="{09FBF258-761E-49EB-8423-634AF5AD54C9}"/>
              </a:ext>
            </a:extLst>
          </p:cNvPr>
          <p:cNvSpPr>
            <a:spLocks xmlns:a="http://schemas.openxmlformats.org/drawingml/2006/main" noGrp="1"/>
          </p:cNvSpPr>
          <p:nvPr/>
        </p:nvSpPr>
        <p:spPr>
          <a:xfrm xmlns:a="http://schemas.openxmlformats.org/drawingml/2006/main">
            <a:off x="6381750" y="4019550"/>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81A33"/>
                </a:solidFill>
              </a:defRPr>
            </a:pPr>
            <a:r>
              <a:rPr sz="1050" b="1">
                <a:solidFill>
                  <a:srgbClr val="081A33"/>
                </a:solidFill>
              </a:rPr>
              <a:t>IN4 • CT2 • DOC1</a:t>
            </a:r>
          </a:p>
        </p:txBody>
      </p:sp>
      <p:sp>
        <p:nvSpPr>
          <p:cNvPr id="18" name="">
            <a:extLst xmlns:a="http://schemas.openxmlformats.org/drawingml/2006/main">
              <a:ext uri="{FF2B5EF4-FFF2-40B4-BE49-F238E27FC236}">
                <a16:creationId xmlns:a16="http://schemas.microsoft.com/office/drawing/2014/main" id="{F72575D3-5501-4BDE-9E98-068EE6F6E2BA}"/>
              </a:ext>
            </a:extLst>
          </p:cNvPr>
          <p:cNvSpPr>
            <a:spLocks xmlns:a="http://schemas.openxmlformats.org/drawingml/2006/main" noGrp="1"/>
          </p:cNvSpPr>
          <p:nvPr/>
        </p:nvSpPr>
        <p:spPr>
          <a:xfrm xmlns:a="http://schemas.openxmlformats.org/drawingml/2006/main">
            <a:off x="685800" y="5067300"/>
            <a:ext cx="10820400" cy="685800"/>
          </a:xfrm>
          <a:prstGeom xmlns:a="http://schemas.openxmlformats.org/drawingml/2006/main" prst="roundRect">
            <a:avLst>
              <a:gd name="adj" fmla="val 25000"/>
            </a:avLst>
          </a:prstGeom>
          <a:solidFill xmlns:a="http://schemas.openxmlformats.org/drawingml/2006/main">
            <a:srgbClr val="F6DED6"/>
          </a:solidFill>
          <a:ln xmlns:a="http://schemas.openxmlformats.org/drawingml/2006/main" w="9525">
            <a:solidFill>
              <a:srgbClr val="F6DED6"/>
            </a:solidFill>
            <a:prstDash val="solid"/>
          </a:ln>
        </p:spPr>
      </p:sp>
      <p:sp>
        <p:nvSpPr>
          <p:cNvPr id="19" name="">
            <a:extLst xmlns:a="http://schemas.openxmlformats.org/drawingml/2006/main">
              <a:ext uri="{FF2B5EF4-FFF2-40B4-BE49-F238E27FC236}">
                <a16:creationId xmlns:a16="http://schemas.microsoft.com/office/drawing/2014/main" id="{DCB6D562-DFDC-4A84-94D0-A0F51B7990A7}"/>
              </a:ext>
            </a:extLst>
          </p:cNvPr>
          <p:cNvSpPr>
            <a:spLocks xmlns:a="http://schemas.openxmlformats.org/drawingml/2006/main" noGrp="1"/>
          </p:cNvSpPr>
          <p:nvPr/>
        </p:nvSpPr>
        <p:spPr>
          <a:xfrm xmlns:a="http://schemas.openxmlformats.org/drawingml/2006/main">
            <a:off x="971550" y="5200650"/>
            <a:ext cx="10248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841F11"/>
                </a:solidFill>
              </a:defRPr>
            </a:pPr>
            <a:r>
              <a:rPr sz="1575" b="1">
                <a:solidFill>
                  <a:srgbClr val="841F11"/>
                </a:solidFill>
              </a:rPr>
              <a:t>APC/CLB chịu trách nhiệm duyệt nội dung, hình ảnh và dữ liệu thật trước khi công bố.</a:t>
            </a:r>
          </a:p>
        </p:txBody>
      </p:sp>
    </p:spTree>
    <p:extLst>
      <p:ext uri="{BB962C8B-B14F-4D97-AF65-F5344CB8AC3E}">
        <p14:creationId xmlns:p14="http://schemas.microsoft.com/office/powerpoint/2010/main" val="1906831128"/>
      </p:ext>
    </p:extLst>
  </p:cSld>
</p:sld>
</file>

<file path=ppt/slides/slide3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647CAF4-DFA3-433F-8692-B2358D85359F}"/>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FAA0ECD5-BA94-4C28-89AD-B26834D79854}"/>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Kế hoạch từ 01/09 đến deadline 15/10</a:t>
            </a:r>
          </a:p>
        </p:txBody>
      </p:sp>
      <p:sp>
        <p:nvSpPr>
          <p:cNvPr id="3" name="">
            <a:extLst xmlns:a="http://schemas.openxmlformats.org/drawingml/2006/main">
              <a:ext uri="{FF2B5EF4-FFF2-40B4-BE49-F238E27FC236}">
                <a16:creationId xmlns:a16="http://schemas.microsoft.com/office/drawing/2014/main" id="{789F2CEA-F33A-4C5E-A873-AF78E19E7EE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AB675F33-4F37-4D17-A5DB-E59B9A33B2D7}"/>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21FF2EF9-42D3-443C-A919-D4573B5DC0B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32</a:t>
            </a:r>
          </a:p>
        </p:txBody>
      </p:sp>
      <p:sp>
        <p:nvSpPr>
          <p:cNvPr id="6" name="">
            <a:extLst xmlns:a="http://schemas.openxmlformats.org/drawingml/2006/main">
              <a:ext uri="{FF2B5EF4-FFF2-40B4-BE49-F238E27FC236}">
                <a16:creationId xmlns:a16="http://schemas.microsoft.com/office/drawing/2014/main" id="{718C524F-0C23-46BD-A429-97BB523F1F11}"/>
              </a:ext>
            </a:extLst>
          </p:cNvPr>
          <p:cNvSpPr>
            <a:spLocks xmlns:a="http://schemas.openxmlformats.org/drawingml/2006/main" noGrp="1"/>
          </p:cNvSpPr>
          <p:nvPr/>
        </p:nvSpPr>
        <p:spPr>
          <a:xfrm xmlns:a="http://schemas.openxmlformats.org/drawingml/2006/main">
            <a:off x="952500" y="3143250"/>
            <a:ext cx="10001250" cy="0"/>
          </a:xfrm>
          <a:prstGeom xmlns:a="http://schemas.openxmlformats.org/drawingml/2006/main" prst="line">
            <a:avLst/>
          </a:prstGeom>
          <a:noFill xmlns:a="http://schemas.openxmlformats.org/drawingml/2006/main"/>
          <a:ln xmlns:a="http://schemas.openxmlformats.org/drawingml/2006/main" w="38100">
            <a:solidFill>
              <a:srgbClr val="CBBFAF"/>
            </a:solidFill>
            <a:prstDash val="solid"/>
          </a:ln>
        </p:spPr>
      </p:sp>
      <p:sp>
        <p:nvSpPr>
          <p:cNvPr id="7" name="">
            <a:extLst xmlns:a="http://schemas.openxmlformats.org/drawingml/2006/main">
              <a:ext uri="{FF2B5EF4-FFF2-40B4-BE49-F238E27FC236}">
                <a16:creationId xmlns:a16="http://schemas.microsoft.com/office/drawing/2014/main" id="{44C209D9-4A9A-40DE-93E0-04BFE458B122}"/>
              </a:ext>
            </a:extLst>
          </p:cNvPr>
          <p:cNvSpPr>
            <a:spLocks xmlns:a="http://schemas.openxmlformats.org/drawingml/2006/main" noGrp="1"/>
          </p:cNvSpPr>
          <p:nvPr/>
        </p:nvSpPr>
        <p:spPr>
          <a:xfrm xmlns:a="http://schemas.openxmlformats.org/drawingml/2006/main">
            <a:off x="800100" y="2914650"/>
            <a:ext cx="476250" cy="4762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8" name="">
            <a:extLst xmlns:a="http://schemas.openxmlformats.org/drawingml/2006/main">
              <a:ext uri="{FF2B5EF4-FFF2-40B4-BE49-F238E27FC236}">
                <a16:creationId xmlns:a16="http://schemas.microsoft.com/office/drawing/2014/main" id="{768255E2-BEA7-4FF5-9B58-37AFBEEC9C06}"/>
              </a:ext>
            </a:extLst>
          </p:cNvPr>
          <p:cNvSpPr>
            <a:spLocks xmlns:a="http://schemas.openxmlformats.org/drawingml/2006/main" noGrp="1"/>
          </p:cNvSpPr>
          <p:nvPr/>
        </p:nvSpPr>
        <p:spPr>
          <a:xfrm xmlns:a="http://schemas.openxmlformats.org/drawingml/2006/main">
            <a:off x="685800" y="17907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C23B22"/>
                </a:solidFill>
              </a:defRPr>
            </a:pPr>
            <a:r>
              <a:rPr sz="1950" b="1">
                <a:solidFill>
                  <a:srgbClr val="C23B22"/>
                </a:solidFill>
              </a:rPr>
              <a:t>01–12/09</a:t>
            </a:r>
          </a:p>
        </p:txBody>
      </p:sp>
      <p:sp>
        <p:nvSpPr>
          <p:cNvPr id="9" name="">
            <a:extLst xmlns:a="http://schemas.openxmlformats.org/drawingml/2006/main">
              <a:ext uri="{FF2B5EF4-FFF2-40B4-BE49-F238E27FC236}">
                <a16:creationId xmlns:a16="http://schemas.microsoft.com/office/drawing/2014/main" id="{8362A213-24BE-43C0-8078-F211C8ADF7C1}"/>
              </a:ext>
            </a:extLst>
          </p:cNvPr>
          <p:cNvSpPr>
            <a:spLocks xmlns:a="http://schemas.openxmlformats.org/drawingml/2006/main" noGrp="1"/>
          </p:cNvSpPr>
          <p:nvPr/>
        </p:nvSpPr>
        <p:spPr>
          <a:xfrm xmlns:a="http://schemas.openxmlformats.org/drawingml/2006/main">
            <a:off x="685800" y="2305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5F55"/>
                </a:solidFill>
              </a:defRPr>
            </a:pPr>
            <a:r>
              <a:rPr sz="975" b="1">
                <a:solidFill>
                  <a:srgbClr val="6B5F55"/>
                </a:solidFill>
              </a:rPr>
              <a:t>NỀN TẢNG</a:t>
            </a:r>
          </a:p>
        </p:txBody>
      </p:sp>
      <p:sp>
        <p:nvSpPr>
          <p:cNvPr id="10" name="">
            <a:extLst xmlns:a="http://schemas.openxmlformats.org/drawingml/2006/main">
              <a:ext uri="{FF2B5EF4-FFF2-40B4-BE49-F238E27FC236}">
                <a16:creationId xmlns:a16="http://schemas.microsoft.com/office/drawing/2014/main" id="{838001FC-029C-458E-8DA3-1D86D4CDF3DD}"/>
              </a:ext>
            </a:extLst>
          </p:cNvPr>
          <p:cNvSpPr>
            <a:spLocks xmlns:a="http://schemas.openxmlformats.org/drawingml/2006/main" noGrp="1"/>
          </p:cNvSpPr>
          <p:nvPr/>
        </p:nvSpPr>
        <p:spPr>
          <a:xfrm xmlns:a="http://schemas.openxmlformats.org/drawingml/2006/main">
            <a:off x="685800" y="37147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1A16"/>
                </a:solidFill>
              </a:defRPr>
            </a:pPr>
            <a:r>
              <a:rPr sz="1575" b="1">
                <a:solidFill>
                  <a:srgbClr val="201A16"/>
                </a:solidFill>
              </a:rPr>
              <a:t>DB • Auth • Router</a:t>
            </a:r>
          </a:p>
          <a:p xmlns:a="http://schemas.openxmlformats.org/drawingml/2006/main">
            <a:pPr algn="l">
              <a:defRPr sz="1575" b="1">
                <a:solidFill>
                  <a:srgbClr val="201A16"/>
                </a:solidFill>
              </a:defRPr>
            </a:pPr>
            <a:r>
              <a:rPr sz="1575" b="1">
                <a:solidFill>
                  <a:srgbClr val="201A16"/>
                </a:solidFill>
              </a:rPr>
              <a:t>CI • Duyệt trang chủ</a:t>
            </a:r>
          </a:p>
        </p:txBody>
      </p:sp>
      <p:sp>
        <p:nvSpPr>
          <p:cNvPr id="11" name="">
            <a:extLst xmlns:a="http://schemas.openxmlformats.org/drawingml/2006/main">
              <a:ext uri="{FF2B5EF4-FFF2-40B4-BE49-F238E27FC236}">
                <a16:creationId xmlns:a16="http://schemas.microsoft.com/office/drawing/2014/main" id="{595C0E4B-AF2A-4171-A8F2-1E46E23D2205}"/>
              </a:ext>
            </a:extLst>
          </p:cNvPr>
          <p:cNvSpPr>
            <a:spLocks xmlns:a="http://schemas.openxmlformats.org/drawingml/2006/main" noGrp="1"/>
          </p:cNvSpPr>
          <p:nvPr/>
        </p:nvSpPr>
        <p:spPr>
          <a:xfrm xmlns:a="http://schemas.openxmlformats.org/drawingml/2006/main">
            <a:off x="3390900" y="2914650"/>
            <a:ext cx="476250" cy="4762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2" name="">
            <a:extLst xmlns:a="http://schemas.openxmlformats.org/drawingml/2006/main">
              <a:ext uri="{FF2B5EF4-FFF2-40B4-BE49-F238E27FC236}">
                <a16:creationId xmlns:a16="http://schemas.microsoft.com/office/drawing/2014/main" id="{0B32432E-163D-40BC-9110-751F06650E95}"/>
              </a:ext>
            </a:extLst>
          </p:cNvPr>
          <p:cNvSpPr>
            <a:spLocks xmlns:a="http://schemas.openxmlformats.org/drawingml/2006/main" noGrp="1"/>
          </p:cNvSpPr>
          <p:nvPr/>
        </p:nvSpPr>
        <p:spPr>
          <a:xfrm xmlns:a="http://schemas.openxmlformats.org/drawingml/2006/main">
            <a:off x="3276600" y="17907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568C9"/>
                </a:solidFill>
              </a:defRPr>
            </a:pPr>
            <a:r>
              <a:rPr sz="1950" b="1">
                <a:solidFill>
                  <a:srgbClr val="1568C9"/>
                </a:solidFill>
              </a:rPr>
              <a:t>15–26/09</a:t>
            </a:r>
          </a:p>
        </p:txBody>
      </p:sp>
      <p:sp>
        <p:nvSpPr>
          <p:cNvPr id="13" name="">
            <a:extLst xmlns:a="http://schemas.openxmlformats.org/drawingml/2006/main">
              <a:ext uri="{FF2B5EF4-FFF2-40B4-BE49-F238E27FC236}">
                <a16:creationId xmlns:a16="http://schemas.microsoft.com/office/drawing/2014/main" id="{707A500C-C5C3-4AF9-890E-6E5AA933EEDD}"/>
              </a:ext>
            </a:extLst>
          </p:cNvPr>
          <p:cNvSpPr>
            <a:spLocks xmlns:a="http://schemas.openxmlformats.org/drawingml/2006/main" noGrp="1"/>
          </p:cNvSpPr>
          <p:nvPr/>
        </p:nvSpPr>
        <p:spPr>
          <a:xfrm xmlns:a="http://schemas.openxmlformats.org/drawingml/2006/main">
            <a:off x="3276600" y="2305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5F55"/>
                </a:solidFill>
              </a:defRPr>
            </a:pPr>
            <a:r>
              <a:rPr sz="975" b="1">
                <a:solidFill>
                  <a:srgbClr val="6B5F55"/>
                </a:solidFill>
              </a:rPr>
              <a:t>NỘI DUNG</a:t>
            </a:r>
          </a:p>
        </p:txBody>
      </p:sp>
      <p:sp>
        <p:nvSpPr>
          <p:cNvPr id="14" name="">
            <a:extLst xmlns:a="http://schemas.openxmlformats.org/drawingml/2006/main">
              <a:ext uri="{FF2B5EF4-FFF2-40B4-BE49-F238E27FC236}">
                <a16:creationId xmlns:a16="http://schemas.microsoft.com/office/drawing/2014/main" id="{11ED9A96-C355-4CAE-B61F-9B6733352BBC}"/>
              </a:ext>
            </a:extLst>
          </p:cNvPr>
          <p:cNvSpPr>
            <a:spLocks xmlns:a="http://schemas.openxmlformats.org/drawingml/2006/main" noGrp="1"/>
          </p:cNvSpPr>
          <p:nvPr/>
        </p:nvSpPr>
        <p:spPr>
          <a:xfrm xmlns:a="http://schemas.openxmlformats.org/drawingml/2006/main">
            <a:off x="3276600" y="37147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1A16"/>
                </a:solidFill>
              </a:defRPr>
            </a:pPr>
            <a:r>
              <a:rPr sz="1575" b="1">
                <a:solidFill>
                  <a:srgbClr val="201A16"/>
                </a:solidFill>
              </a:rPr>
              <a:t>CMS API</a:t>
            </a:r>
          </a:p>
          <a:p xmlns:a="http://schemas.openxmlformats.org/drawingml/2006/main">
            <a:pPr algn="l">
              <a:defRPr sz="1575" b="1">
                <a:solidFill>
                  <a:srgbClr val="201A16"/>
                </a:solidFill>
              </a:defRPr>
            </a:pPr>
            <a:r>
              <a:rPr sz="1575" b="1">
                <a:solidFill>
                  <a:srgbClr val="201A16"/>
                </a:solidFill>
              </a:rPr>
              <a:t>Trang public</a:t>
            </a:r>
          </a:p>
        </p:txBody>
      </p:sp>
      <p:sp>
        <p:nvSpPr>
          <p:cNvPr id="15" name="">
            <a:extLst xmlns:a="http://schemas.openxmlformats.org/drawingml/2006/main">
              <a:ext uri="{FF2B5EF4-FFF2-40B4-BE49-F238E27FC236}">
                <a16:creationId xmlns:a16="http://schemas.microsoft.com/office/drawing/2014/main" id="{08119BE6-FE63-475B-B1B8-E91802202BE1}"/>
              </a:ext>
            </a:extLst>
          </p:cNvPr>
          <p:cNvSpPr>
            <a:spLocks xmlns:a="http://schemas.openxmlformats.org/drawingml/2006/main" noGrp="1"/>
          </p:cNvSpPr>
          <p:nvPr/>
        </p:nvSpPr>
        <p:spPr>
          <a:xfrm xmlns:a="http://schemas.openxmlformats.org/drawingml/2006/main">
            <a:off x="5981700" y="2914650"/>
            <a:ext cx="476250" cy="4762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16" name="">
            <a:extLst xmlns:a="http://schemas.openxmlformats.org/drawingml/2006/main">
              <a:ext uri="{FF2B5EF4-FFF2-40B4-BE49-F238E27FC236}">
                <a16:creationId xmlns:a16="http://schemas.microsoft.com/office/drawing/2014/main" id="{EB1C010B-C4AF-49C4-BFCB-DCE78CFE9D8C}"/>
              </a:ext>
            </a:extLst>
          </p:cNvPr>
          <p:cNvSpPr>
            <a:spLocks xmlns:a="http://schemas.openxmlformats.org/drawingml/2006/main" noGrp="1"/>
          </p:cNvSpPr>
          <p:nvPr/>
        </p:nvSpPr>
        <p:spPr>
          <a:xfrm xmlns:a="http://schemas.openxmlformats.org/drawingml/2006/main">
            <a:off x="5867400" y="17907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0A202"/>
                </a:solidFill>
              </a:defRPr>
            </a:pPr>
            <a:r>
              <a:rPr sz="1950" b="1">
                <a:solidFill>
                  <a:srgbClr val="F0A202"/>
                </a:solidFill>
              </a:rPr>
              <a:t>29/09–10/10</a:t>
            </a:r>
          </a:p>
        </p:txBody>
      </p:sp>
      <p:sp>
        <p:nvSpPr>
          <p:cNvPr id="17" name="">
            <a:extLst xmlns:a="http://schemas.openxmlformats.org/drawingml/2006/main">
              <a:ext uri="{FF2B5EF4-FFF2-40B4-BE49-F238E27FC236}">
                <a16:creationId xmlns:a16="http://schemas.microsoft.com/office/drawing/2014/main" id="{FD766254-CC00-45A4-9659-3BBCB38347AE}"/>
              </a:ext>
            </a:extLst>
          </p:cNvPr>
          <p:cNvSpPr>
            <a:spLocks xmlns:a="http://schemas.openxmlformats.org/drawingml/2006/main" noGrp="1"/>
          </p:cNvSpPr>
          <p:nvPr/>
        </p:nvSpPr>
        <p:spPr>
          <a:xfrm xmlns:a="http://schemas.openxmlformats.org/drawingml/2006/main">
            <a:off x="5867400" y="23050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5F55"/>
                </a:solidFill>
              </a:defRPr>
            </a:pPr>
            <a:r>
              <a:rPr sz="975" b="1">
                <a:solidFill>
                  <a:srgbClr val="6B5F55"/>
                </a:solidFill>
              </a:rPr>
              <a:t>QUẢN TRỊ</a:t>
            </a:r>
          </a:p>
        </p:txBody>
      </p:sp>
      <p:sp>
        <p:nvSpPr>
          <p:cNvPr id="18" name="">
            <a:extLst xmlns:a="http://schemas.openxmlformats.org/drawingml/2006/main">
              <a:ext uri="{FF2B5EF4-FFF2-40B4-BE49-F238E27FC236}">
                <a16:creationId xmlns:a16="http://schemas.microsoft.com/office/drawing/2014/main" id="{68767B6A-4C36-43C5-8BBB-82D39D8FD26F}"/>
              </a:ext>
            </a:extLst>
          </p:cNvPr>
          <p:cNvSpPr>
            <a:spLocks xmlns:a="http://schemas.openxmlformats.org/drawingml/2006/main" noGrp="1"/>
          </p:cNvSpPr>
          <p:nvPr/>
        </p:nvSpPr>
        <p:spPr>
          <a:xfrm xmlns:a="http://schemas.openxmlformats.org/drawingml/2006/main">
            <a:off x="5867400" y="37147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1A16"/>
                </a:solidFill>
              </a:defRPr>
            </a:pPr>
            <a:r>
              <a:rPr sz="1575" b="1">
                <a:solidFill>
                  <a:srgbClr val="201A16"/>
                </a:solidFill>
              </a:rPr>
              <a:t>CMS admin</a:t>
            </a:r>
          </a:p>
          <a:p xmlns:a="http://schemas.openxmlformats.org/drawingml/2006/main">
            <a:pPr algn="l">
              <a:defRPr sz="1575" b="1">
                <a:solidFill>
                  <a:srgbClr val="201A16"/>
                </a:solidFill>
              </a:defRPr>
            </a:pPr>
            <a:r>
              <a:rPr sz="1575" b="1">
                <a:solidFill>
                  <a:srgbClr val="201A16"/>
                </a:solidFill>
              </a:rPr>
              <a:t>Form Gia nhập</a:t>
            </a:r>
          </a:p>
        </p:txBody>
      </p:sp>
      <p:sp>
        <p:nvSpPr>
          <p:cNvPr id="19" name="">
            <a:extLst xmlns:a="http://schemas.openxmlformats.org/drawingml/2006/main">
              <a:ext uri="{FF2B5EF4-FFF2-40B4-BE49-F238E27FC236}">
                <a16:creationId xmlns:a16="http://schemas.microsoft.com/office/drawing/2014/main" id="{DEBB60C9-8A7F-49F1-9042-B67E4C61E914}"/>
              </a:ext>
            </a:extLst>
          </p:cNvPr>
          <p:cNvSpPr>
            <a:spLocks xmlns:a="http://schemas.openxmlformats.org/drawingml/2006/main" noGrp="1"/>
          </p:cNvSpPr>
          <p:nvPr/>
        </p:nvSpPr>
        <p:spPr>
          <a:xfrm xmlns:a="http://schemas.openxmlformats.org/drawingml/2006/main">
            <a:off x="8572500" y="2914650"/>
            <a:ext cx="476250" cy="4762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0" name="">
            <a:extLst xmlns:a="http://schemas.openxmlformats.org/drawingml/2006/main">
              <a:ext uri="{FF2B5EF4-FFF2-40B4-BE49-F238E27FC236}">
                <a16:creationId xmlns:a16="http://schemas.microsoft.com/office/drawing/2014/main" id="{634C5EF8-4850-48E6-B58B-C4706472DB38}"/>
              </a:ext>
            </a:extLst>
          </p:cNvPr>
          <p:cNvSpPr>
            <a:spLocks xmlns:a="http://schemas.openxmlformats.org/drawingml/2006/main" noGrp="1"/>
          </p:cNvSpPr>
          <p:nvPr/>
        </p:nvSpPr>
        <p:spPr>
          <a:xfrm xmlns:a="http://schemas.openxmlformats.org/drawingml/2006/main">
            <a:off x="8458200" y="17907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0E9F6E"/>
                </a:solidFill>
              </a:defRPr>
            </a:pPr>
            <a:r>
              <a:rPr sz="1950" b="1">
                <a:solidFill>
                  <a:srgbClr val="0E9F6E"/>
                </a:solidFill>
              </a:rPr>
              <a:t>13–15/10</a:t>
            </a:r>
          </a:p>
        </p:txBody>
      </p:sp>
      <p:sp>
        <p:nvSpPr>
          <p:cNvPr id="21" name="">
            <a:extLst xmlns:a="http://schemas.openxmlformats.org/drawingml/2006/main">
              <a:ext uri="{FF2B5EF4-FFF2-40B4-BE49-F238E27FC236}">
                <a16:creationId xmlns:a16="http://schemas.microsoft.com/office/drawing/2014/main" id="{AA540FD3-4521-41C9-BE20-AC02DD3EEABE}"/>
              </a:ext>
            </a:extLst>
          </p:cNvPr>
          <p:cNvSpPr>
            <a:spLocks xmlns:a="http://schemas.openxmlformats.org/drawingml/2006/main" noGrp="1"/>
          </p:cNvSpPr>
          <p:nvPr/>
        </p:nvSpPr>
        <p:spPr>
          <a:xfrm xmlns:a="http://schemas.openxmlformats.org/drawingml/2006/main">
            <a:off x="8458200" y="23050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5F55"/>
                </a:solidFill>
              </a:defRPr>
            </a:pPr>
            <a:r>
              <a:rPr sz="975" b="1">
                <a:solidFill>
                  <a:srgbClr val="6B5F55"/>
                </a:solidFill>
              </a:rPr>
              <a:t>CHỐT</a:t>
            </a:r>
          </a:p>
        </p:txBody>
      </p:sp>
      <p:sp>
        <p:nvSpPr>
          <p:cNvPr id="22" name="">
            <a:extLst xmlns:a="http://schemas.openxmlformats.org/drawingml/2006/main">
              <a:ext uri="{FF2B5EF4-FFF2-40B4-BE49-F238E27FC236}">
                <a16:creationId xmlns:a16="http://schemas.microsoft.com/office/drawing/2014/main" id="{0014D828-8D7C-49E1-8B44-F19CC3E96E0C}"/>
              </a:ext>
            </a:extLst>
          </p:cNvPr>
          <p:cNvSpPr>
            <a:spLocks xmlns:a="http://schemas.openxmlformats.org/drawingml/2006/main" noGrp="1"/>
          </p:cNvSpPr>
          <p:nvPr/>
        </p:nvSpPr>
        <p:spPr>
          <a:xfrm xmlns:a="http://schemas.openxmlformats.org/drawingml/2006/main">
            <a:off x="8458200" y="37147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01A16"/>
                </a:solidFill>
              </a:defRPr>
            </a:pPr>
            <a:r>
              <a:rPr sz="1575" b="1">
                <a:solidFill>
                  <a:srgbClr val="201A16"/>
                </a:solidFill>
              </a:rPr>
              <a:t>Staging • QA</a:t>
            </a:r>
          </a:p>
          <a:p xmlns:a="http://schemas.openxmlformats.org/drawingml/2006/main">
            <a:pPr algn="l">
              <a:defRPr sz="1575" b="1">
                <a:solidFill>
                  <a:srgbClr val="201A16"/>
                </a:solidFill>
              </a:defRPr>
            </a:pPr>
            <a:r>
              <a:rPr sz="1575" b="1">
                <a:solidFill>
                  <a:srgbClr val="201A16"/>
                </a:solidFill>
              </a:rPr>
              <a:t>Backup • Bàn giao</a:t>
            </a:r>
          </a:p>
        </p:txBody>
      </p:sp>
      <p:sp>
        <p:nvSpPr>
          <p:cNvPr id="23" name="">
            <a:extLst xmlns:a="http://schemas.openxmlformats.org/drawingml/2006/main">
              <a:ext uri="{FF2B5EF4-FFF2-40B4-BE49-F238E27FC236}">
                <a16:creationId xmlns:a16="http://schemas.microsoft.com/office/drawing/2014/main" id="{79BB76DC-E327-4B2D-93CF-40A355361222}"/>
              </a:ext>
            </a:extLst>
          </p:cNvPr>
          <p:cNvSpPr>
            <a:spLocks xmlns:a="http://schemas.openxmlformats.org/drawingml/2006/main" noGrp="1"/>
          </p:cNvSpPr>
          <p:nvPr/>
        </p:nvSpPr>
        <p:spPr>
          <a:xfrm xmlns:a="http://schemas.openxmlformats.org/drawingml/2006/main">
            <a:off x="685800" y="5048250"/>
            <a:ext cx="10820400" cy="647700"/>
          </a:xfrm>
          <a:prstGeom xmlns:a="http://schemas.openxmlformats.org/drawingml/2006/main" prst="roundRect">
            <a:avLst>
              <a:gd name="adj" fmla="val 26471"/>
            </a:avLst>
          </a:prstGeom>
          <a:solidFill xmlns:a="http://schemas.openxmlformats.org/drawingml/2006/main">
            <a:srgbClr val="081A33"/>
          </a:solidFill>
          <a:ln xmlns:a="http://schemas.openxmlformats.org/drawingml/2006/main" w="9525">
            <a:solidFill>
              <a:srgbClr val="081A33"/>
            </a:solidFill>
            <a:prstDash val="solid"/>
          </a:ln>
        </p:spPr>
      </p:sp>
      <p:sp>
        <p:nvSpPr>
          <p:cNvPr id="24" name="">
            <a:extLst xmlns:a="http://schemas.openxmlformats.org/drawingml/2006/main">
              <a:ext uri="{FF2B5EF4-FFF2-40B4-BE49-F238E27FC236}">
                <a16:creationId xmlns:a16="http://schemas.microsoft.com/office/drawing/2014/main" id="{559023A9-8E94-467C-AC78-A216802EA83C}"/>
              </a:ext>
            </a:extLst>
          </p:cNvPr>
          <p:cNvSpPr>
            <a:spLocks xmlns:a="http://schemas.openxmlformats.org/drawingml/2006/main" noGrp="1"/>
          </p:cNvSpPr>
          <p:nvPr/>
        </p:nvSpPr>
        <p:spPr>
          <a:xfrm xmlns:a="http://schemas.openxmlformats.org/drawingml/2006/main">
            <a:off x="914400" y="5181600"/>
            <a:ext cx="1036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Deadline cứng: 15/10/2026</a:t>
            </a:r>
          </a:p>
        </p:txBody>
      </p:sp>
    </p:spTree>
    <p:extLst>
      <p:ext uri="{BB962C8B-B14F-4D97-AF65-F5344CB8AC3E}">
        <p14:creationId xmlns:p14="http://schemas.microsoft.com/office/powerpoint/2010/main" val="723498104"/>
      </p:ext>
    </p:extLst>
  </p:cSld>
</p:sld>
</file>

<file path=ppt/slides/slide3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B84233-C3B1-49E8-BED5-A71786BEF785}"/>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34E956A8-19C6-4010-83A8-34FB13DE0456}"/>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Sprint 1 phải mở được năm nút chặn</a:t>
            </a:r>
          </a:p>
        </p:txBody>
      </p:sp>
      <p:sp>
        <p:nvSpPr>
          <p:cNvPr id="3" name="">
            <a:extLst xmlns:a="http://schemas.openxmlformats.org/drawingml/2006/main">
              <a:ext uri="{FF2B5EF4-FFF2-40B4-BE49-F238E27FC236}">
                <a16:creationId xmlns:a16="http://schemas.microsoft.com/office/drawing/2014/main" id="{9109A58E-F66B-40A1-AF7B-1A487199164E}"/>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3AB3126C-EFB3-4C0C-8E7A-69E7EAFA42F7}"/>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C662975E-2316-4207-92AD-FE2D73ABB705}"/>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33</a:t>
            </a:r>
          </a:p>
        </p:txBody>
      </p:sp>
      <p:sp>
        <p:nvSpPr>
          <p:cNvPr id="6" name="">
            <a:extLst xmlns:a="http://schemas.openxmlformats.org/drawingml/2006/main">
              <a:ext uri="{FF2B5EF4-FFF2-40B4-BE49-F238E27FC236}">
                <a16:creationId xmlns:a16="http://schemas.microsoft.com/office/drawing/2014/main" id="{52A317DA-79D3-416D-AFDD-4FDAD71379D6}"/>
              </a:ext>
            </a:extLst>
          </p:cNvPr>
          <p:cNvSpPr>
            <a:spLocks xmlns:a="http://schemas.openxmlformats.org/drawingml/2006/main" noGrp="1"/>
          </p:cNvSpPr>
          <p:nvPr/>
        </p:nvSpPr>
        <p:spPr>
          <a:xfrm xmlns:a="http://schemas.openxmlformats.org/drawingml/2006/main">
            <a:off x="1028700" y="1962150"/>
            <a:ext cx="781050" cy="7810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BE1</a:t>
            </a:r>
          </a:p>
        </p:txBody>
      </p:sp>
      <p:sp>
        <p:nvSpPr>
          <p:cNvPr id="7" name="">
            <a:extLst xmlns:a="http://schemas.openxmlformats.org/drawingml/2006/main">
              <a:ext uri="{FF2B5EF4-FFF2-40B4-BE49-F238E27FC236}">
                <a16:creationId xmlns:a16="http://schemas.microsoft.com/office/drawing/2014/main" id="{6A95F638-D14A-484B-84F0-64A69BD33B10}"/>
              </a:ext>
            </a:extLst>
          </p:cNvPr>
          <p:cNvSpPr>
            <a:spLocks xmlns:a="http://schemas.openxmlformats.org/drawingml/2006/main" noGrp="1"/>
          </p:cNvSpPr>
          <p:nvPr/>
        </p:nvSpPr>
        <p:spPr>
          <a:xfrm xmlns:a="http://schemas.openxmlformats.org/drawingml/2006/main">
            <a:off x="685800" y="29527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01A16"/>
                </a:solidFill>
              </a:defRPr>
            </a:pPr>
            <a:r>
              <a:rPr sz="1725" b="1">
                <a:solidFill>
                  <a:srgbClr val="201A16"/>
                </a:solidFill>
              </a:rPr>
              <a:t>Database</a:t>
            </a:r>
          </a:p>
        </p:txBody>
      </p:sp>
      <p:sp>
        <p:nvSpPr>
          <p:cNvPr id="8" name="">
            <a:extLst xmlns:a="http://schemas.openxmlformats.org/drawingml/2006/main">
              <a:ext uri="{FF2B5EF4-FFF2-40B4-BE49-F238E27FC236}">
                <a16:creationId xmlns:a16="http://schemas.microsoft.com/office/drawing/2014/main" id="{EECA296F-E2FE-45CD-8953-590558781737}"/>
              </a:ext>
            </a:extLst>
          </p:cNvPr>
          <p:cNvSpPr>
            <a:spLocks xmlns:a="http://schemas.openxmlformats.org/drawingml/2006/main" noGrp="1"/>
          </p:cNvSpPr>
          <p:nvPr/>
        </p:nvSpPr>
        <p:spPr>
          <a:xfrm xmlns:a="http://schemas.openxmlformats.org/drawingml/2006/main">
            <a:off x="685800" y="33718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Thiên</a:t>
            </a:r>
          </a:p>
        </p:txBody>
      </p:sp>
      <p:sp>
        <p:nvSpPr>
          <p:cNvPr id="9" name="">
            <a:extLst xmlns:a="http://schemas.openxmlformats.org/drawingml/2006/main">
              <a:ext uri="{FF2B5EF4-FFF2-40B4-BE49-F238E27FC236}">
                <a16:creationId xmlns:a16="http://schemas.microsoft.com/office/drawing/2014/main" id="{5659283F-6B63-4A81-B3A2-975A6EFB7683}"/>
              </a:ext>
            </a:extLst>
          </p:cNvPr>
          <p:cNvSpPr>
            <a:spLocks xmlns:a="http://schemas.openxmlformats.org/drawingml/2006/main" noGrp="1"/>
          </p:cNvSpPr>
          <p:nvPr/>
        </p:nvSpPr>
        <p:spPr>
          <a:xfrm xmlns:a="http://schemas.openxmlformats.org/drawingml/2006/main">
            <a:off x="3181350" y="1962150"/>
            <a:ext cx="781050" cy="7810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BE3</a:t>
            </a:r>
          </a:p>
        </p:txBody>
      </p:sp>
      <p:sp>
        <p:nvSpPr>
          <p:cNvPr id="10" name="">
            <a:extLst xmlns:a="http://schemas.openxmlformats.org/drawingml/2006/main">
              <a:ext uri="{FF2B5EF4-FFF2-40B4-BE49-F238E27FC236}">
                <a16:creationId xmlns:a16="http://schemas.microsoft.com/office/drawing/2014/main" id="{7E4231CB-E3C8-41B8-8AA9-88377CD57488}"/>
              </a:ext>
            </a:extLst>
          </p:cNvPr>
          <p:cNvSpPr>
            <a:spLocks xmlns:a="http://schemas.openxmlformats.org/drawingml/2006/main" noGrp="1"/>
          </p:cNvSpPr>
          <p:nvPr/>
        </p:nvSpPr>
        <p:spPr>
          <a:xfrm xmlns:a="http://schemas.openxmlformats.org/drawingml/2006/main">
            <a:off x="2838450" y="29527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01A16"/>
                </a:solidFill>
              </a:defRPr>
            </a:pPr>
            <a:r>
              <a:rPr sz="1725" b="1">
                <a:solidFill>
                  <a:srgbClr val="201A16"/>
                </a:solidFill>
              </a:rPr>
              <a:t>Đăng nhập</a:t>
            </a:r>
          </a:p>
        </p:txBody>
      </p:sp>
      <p:sp>
        <p:nvSpPr>
          <p:cNvPr id="11" name="">
            <a:extLst xmlns:a="http://schemas.openxmlformats.org/drawingml/2006/main">
              <a:ext uri="{FF2B5EF4-FFF2-40B4-BE49-F238E27FC236}">
                <a16:creationId xmlns:a16="http://schemas.microsoft.com/office/drawing/2014/main" id="{FAEFA691-6C54-43DC-B6B0-CF14009644F1}"/>
              </a:ext>
            </a:extLst>
          </p:cNvPr>
          <p:cNvSpPr>
            <a:spLocks xmlns:a="http://schemas.openxmlformats.org/drawingml/2006/main" noGrp="1"/>
          </p:cNvSpPr>
          <p:nvPr/>
        </p:nvSpPr>
        <p:spPr>
          <a:xfrm xmlns:a="http://schemas.openxmlformats.org/drawingml/2006/main">
            <a:off x="2838450" y="33718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Minh</a:t>
            </a:r>
          </a:p>
        </p:txBody>
      </p:sp>
      <p:sp>
        <p:nvSpPr>
          <p:cNvPr id="12" name="">
            <a:extLst xmlns:a="http://schemas.openxmlformats.org/drawingml/2006/main">
              <a:ext uri="{FF2B5EF4-FFF2-40B4-BE49-F238E27FC236}">
                <a16:creationId xmlns:a16="http://schemas.microsoft.com/office/drawing/2014/main" id="{F14DE06B-C758-478F-871E-0A394E64F331}"/>
              </a:ext>
            </a:extLst>
          </p:cNvPr>
          <p:cNvSpPr>
            <a:spLocks xmlns:a="http://schemas.openxmlformats.org/drawingml/2006/main" noGrp="1"/>
          </p:cNvSpPr>
          <p:nvPr/>
        </p:nvSpPr>
        <p:spPr>
          <a:xfrm xmlns:a="http://schemas.openxmlformats.org/drawingml/2006/main">
            <a:off x="5334000" y="1962150"/>
            <a:ext cx="781050" cy="7810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FE1</a:t>
            </a:r>
          </a:p>
        </p:txBody>
      </p:sp>
      <p:sp>
        <p:nvSpPr>
          <p:cNvPr id="13" name="">
            <a:extLst xmlns:a="http://schemas.openxmlformats.org/drawingml/2006/main">
              <a:ext uri="{FF2B5EF4-FFF2-40B4-BE49-F238E27FC236}">
                <a16:creationId xmlns:a16="http://schemas.microsoft.com/office/drawing/2014/main" id="{BD4C5F2E-4809-4E7E-A6EE-A32A863D45B2}"/>
              </a:ext>
            </a:extLst>
          </p:cNvPr>
          <p:cNvSpPr>
            <a:spLocks xmlns:a="http://schemas.openxmlformats.org/drawingml/2006/main" noGrp="1"/>
          </p:cNvSpPr>
          <p:nvPr/>
        </p:nvSpPr>
        <p:spPr>
          <a:xfrm xmlns:a="http://schemas.openxmlformats.org/drawingml/2006/main">
            <a:off x="4991100" y="29527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01A16"/>
                </a:solidFill>
              </a:defRPr>
            </a:pPr>
            <a:r>
              <a:rPr sz="1725" b="1">
                <a:solidFill>
                  <a:srgbClr val="201A16"/>
                </a:solidFill>
              </a:rPr>
              <a:t>Router</a:t>
            </a:r>
          </a:p>
        </p:txBody>
      </p:sp>
      <p:sp>
        <p:nvSpPr>
          <p:cNvPr id="14" name="">
            <a:extLst xmlns:a="http://schemas.openxmlformats.org/drawingml/2006/main">
              <a:ext uri="{FF2B5EF4-FFF2-40B4-BE49-F238E27FC236}">
                <a16:creationId xmlns:a16="http://schemas.microsoft.com/office/drawing/2014/main" id="{DFF3EC45-2949-41AE-B47D-3A7131D7A718}"/>
              </a:ext>
            </a:extLst>
          </p:cNvPr>
          <p:cNvSpPr>
            <a:spLocks xmlns:a="http://schemas.openxmlformats.org/drawingml/2006/main" noGrp="1"/>
          </p:cNvSpPr>
          <p:nvPr/>
        </p:nvSpPr>
        <p:spPr>
          <a:xfrm xmlns:a="http://schemas.openxmlformats.org/drawingml/2006/main">
            <a:off x="4991100" y="33718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Huỳnh</a:t>
            </a:r>
          </a:p>
        </p:txBody>
      </p:sp>
      <p:sp>
        <p:nvSpPr>
          <p:cNvPr id="15" name="">
            <a:extLst xmlns:a="http://schemas.openxmlformats.org/drawingml/2006/main">
              <a:ext uri="{FF2B5EF4-FFF2-40B4-BE49-F238E27FC236}">
                <a16:creationId xmlns:a16="http://schemas.microsoft.com/office/drawing/2014/main" id="{29701221-EC21-4609-985C-7939B7FB2C4F}"/>
              </a:ext>
            </a:extLst>
          </p:cNvPr>
          <p:cNvSpPr>
            <a:spLocks xmlns:a="http://schemas.openxmlformats.org/drawingml/2006/main" noGrp="1"/>
          </p:cNvSpPr>
          <p:nvPr/>
        </p:nvSpPr>
        <p:spPr>
          <a:xfrm xmlns:a="http://schemas.openxmlformats.org/drawingml/2006/main">
            <a:off x="7486650" y="1962150"/>
            <a:ext cx="781050" cy="78105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IN1</a:t>
            </a:r>
          </a:p>
        </p:txBody>
      </p:sp>
      <p:sp>
        <p:nvSpPr>
          <p:cNvPr id="16" name="">
            <a:extLst xmlns:a="http://schemas.openxmlformats.org/drawingml/2006/main">
              <a:ext uri="{FF2B5EF4-FFF2-40B4-BE49-F238E27FC236}">
                <a16:creationId xmlns:a16="http://schemas.microsoft.com/office/drawing/2014/main" id="{D19F5B4D-F38C-4A00-963E-48D79213EFCB}"/>
              </a:ext>
            </a:extLst>
          </p:cNvPr>
          <p:cNvSpPr>
            <a:spLocks xmlns:a="http://schemas.openxmlformats.org/drawingml/2006/main" noGrp="1"/>
          </p:cNvSpPr>
          <p:nvPr/>
        </p:nvSpPr>
        <p:spPr>
          <a:xfrm xmlns:a="http://schemas.openxmlformats.org/drawingml/2006/main">
            <a:off x="7143750" y="29527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01A16"/>
                </a:solidFill>
              </a:defRPr>
            </a:pPr>
            <a:r>
              <a:rPr sz="1725" b="1">
                <a:solidFill>
                  <a:srgbClr val="201A16"/>
                </a:solidFill>
              </a:rPr>
              <a:t>CI</a:t>
            </a:r>
          </a:p>
        </p:txBody>
      </p:sp>
      <p:sp>
        <p:nvSpPr>
          <p:cNvPr id="17" name="">
            <a:extLst xmlns:a="http://schemas.openxmlformats.org/drawingml/2006/main">
              <a:ext uri="{FF2B5EF4-FFF2-40B4-BE49-F238E27FC236}">
                <a16:creationId xmlns:a16="http://schemas.microsoft.com/office/drawing/2014/main" id="{577030B1-9B07-4187-876B-4FA4B8AF5805}"/>
              </a:ext>
            </a:extLst>
          </p:cNvPr>
          <p:cNvSpPr>
            <a:spLocks xmlns:a="http://schemas.openxmlformats.org/drawingml/2006/main" noGrp="1"/>
          </p:cNvSpPr>
          <p:nvPr/>
        </p:nvSpPr>
        <p:spPr>
          <a:xfrm xmlns:a="http://schemas.openxmlformats.org/drawingml/2006/main">
            <a:off x="7143750" y="33718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An Khang</a:t>
            </a:r>
          </a:p>
        </p:txBody>
      </p:sp>
      <p:sp>
        <p:nvSpPr>
          <p:cNvPr id="18" name="">
            <a:extLst xmlns:a="http://schemas.openxmlformats.org/drawingml/2006/main">
              <a:ext uri="{FF2B5EF4-FFF2-40B4-BE49-F238E27FC236}">
                <a16:creationId xmlns:a16="http://schemas.microsoft.com/office/drawing/2014/main" id="{674C7F47-4206-4908-9203-7B4FAB036D9D}"/>
              </a:ext>
            </a:extLst>
          </p:cNvPr>
          <p:cNvSpPr>
            <a:spLocks xmlns:a="http://schemas.openxmlformats.org/drawingml/2006/main" noGrp="1"/>
          </p:cNvSpPr>
          <p:nvPr/>
        </p:nvSpPr>
        <p:spPr>
          <a:xfrm xmlns:a="http://schemas.openxmlformats.org/drawingml/2006/main">
            <a:off x="9639300" y="1962150"/>
            <a:ext cx="781050" cy="781050"/>
          </a:xfrm>
          <a:prstGeom xmlns:a="http://schemas.openxmlformats.org/drawingml/2006/main" prst="ellipse">
            <a:avLst/>
          </a:prstGeom>
          <a:solidFill xmlns:a="http://schemas.openxmlformats.org/drawingml/2006/main">
            <a:srgbClr val="0E9F6E"/>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CT1</a:t>
            </a:r>
          </a:p>
        </p:txBody>
      </p:sp>
      <p:sp>
        <p:nvSpPr>
          <p:cNvPr id="19" name="">
            <a:extLst xmlns:a="http://schemas.openxmlformats.org/drawingml/2006/main">
              <a:ext uri="{FF2B5EF4-FFF2-40B4-BE49-F238E27FC236}">
                <a16:creationId xmlns:a16="http://schemas.microsoft.com/office/drawing/2014/main" id="{161A1505-B78D-46FA-BFC2-3B0653749130}"/>
              </a:ext>
            </a:extLst>
          </p:cNvPr>
          <p:cNvSpPr>
            <a:spLocks xmlns:a="http://schemas.openxmlformats.org/drawingml/2006/main" noGrp="1"/>
          </p:cNvSpPr>
          <p:nvPr/>
        </p:nvSpPr>
        <p:spPr>
          <a:xfrm xmlns:a="http://schemas.openxmlformats.org/drawingml/2006/main">
            <a:off x="9296400" y="29527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01A16"/>
                </a:solidFill>
              </a:defRPr>
            </a:pPr>
            <a:r>
              <a:rPr sz="1725" b="1">
                <a:solidFill>
                  <a:srgbClr val="201A16"/>
                </a:solidFill>
              </a:rPr>
              <a:t>Duyệt UI</a:t>
            </a:r>
          </a:p>
        </p:txBody>
      </p:sp>
      <p:sp>
        <p:nvSpPr>
          <p:cNvPr id="20" name="">
            <a:extLst xmlns:a="http://schemas.openxmlformats.org/drawingml/2006/main">
              <a:ext uri="{FF2B5EF4-FFF2-40B4-BE49-F238E27FC236}">
                <a16:creationId xmlns:a16="http://schemas.microsoft.com/office/drawing/2014/main" id="{8F9DDBF4-4784-4409-8F5F-B4B2464BFEC5}"/>
              </a:ext>
            </a:extLst>
          </p:cNvPr>
          <p:cNvSpPr>
            <a:spLocks xmlns:a="http://schemas.openxmlformats.org/drawingml/2006/main" noGrp="1"/>
          </p:cNvSpPr>
          <p:nvPr/>
        </p:nvSpPr>
        <p:spPr>
          <a:xfrm xmlns:a="http://schemas.openxmlformats.org/drawingml/2006/main">
            <a:off x="9296400" y="33718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5F55"/>
                </a:solidFill>
              </a:defRPr>
            </a:pPr>
            <a:r>
              <a:rPr sz="1275" b="0">
                <a:solidFill>
                  <a:srgbClr val="6B5F55"/>
                </a:solidFill>
              </a:rPr>
              <a:t>APC</a:t>
            </a:r>
          </a:p>
        </p:txBody>
      </p:sp>
      <p:sp>
        <p:nvSpPr>
          <p:cNvPr id="21" name="">
            <a:extLst xmlns:a="http://schemas.openxmlformats.org/drawingml/2006/main">
              <a:ext uri="{FF2B5EF4-FFF2-40B4-BE49-F238E27FC236}">
                <a16:creationId xmlns:a16="http://schemas.microsoft.com/office/drawing/2014/main" id="{47018427-A31A-4719-86D1-43E3F9F1C3CA}"/>
              </a:ext>
            </a:extLst>
          </p:cNvPr>
          <p:cNvSpPr>
            <a:spLocks xmlns:a="http://schemas.openxmlformats.org/drawingml/2006/main" noGrp="1"/>
          </p:cNvSpPr>
          <p:nvPr/>
        </p:nvSpPr>
        <p:spPr>
          <a:xfrm xmlns:a="http://schemas.openxmlformats.org/drawingml/2006/main">
            <a:off x="685800" y="4210050"/>
            <a:ext cx="5048250" cy="1123950"/>
          </a:xfrm>
          <a:prstGeom xmlns:a="http://schemas.openxmlformats.org/drawingml/2006/main" prst="roundRect">
            <a:avLst>
              <a:gd name="adj" fmla="val 15254"/>
            </a:avLst>
          </a:prstGeom>
          <a:solidFill xmlns:a="http://schemas.openxmlformats.org/drawingml/2006/main">
            <a:srgbClr val="F1ECE5"/>
          </a:solidFill>
          <a:ln xmlns:a="http://schemas.openxmlformats.org/drawingml/2006/main" w="9525">
            <a:solidFill>
              <a:srgbClr val="F1ECE5"/>
            </a:solidFill>
            <a:prstDash val="solid"/>
          </a:ln>
        </p:spPr>
      </p:sp>
      <p:sp>
        <p:nvSpPr>
          <p:cNvPr id="22" name="">
            <a:extLst xmlns:a="http://schemas.openxmlformats.org/drawingml/2006/main">
              <a:ext uri="{FF2B5EF4-FFF2-40B4-BE49-F238E27FC236}">
                <a16:creationId xmlns:a16="http://schemas.microsoft.com/office/drawing/2014/main" id="{2702C325-9BB8-4068-9126-02DF418CC084}"/>
              </a:ext>
            </a:extLst>
          </p:cNvPr>
          <p:cNvSpPr>
            <a:spLocks xmlns:a="http://schemas.openxmlformats.org/drawingml/2006/main" noGrp="1"/>
          </p:cNvSpPr>
          <p:nvPr/>
        </p:nvSpPr>
        <p:spPr>
          <a:xfrm xmlns:a="http://schemas.openxmlformats.org/drawingml/2006/main">
            <a:off x="952500" y="4381500"/>
            <a:ext cx="4514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841F11"/>
                </a:solidFill>
              </a:defRPr>
            </a:pPr>
            <a:r>
              <a:rPr sz="1650" b="1">
                <a:solidFill>
                  <a:srgbClr val="841F11"/>
                </a:solidFill>
              </a:rPr>
              <a:t>BE3 bắt đầu sau khi BE1 đủ nền database.</a:t>
            </a:r>
          </a:p>
        </p:txBody>
      </p:sp>
      <p:sp>
        <p:nvSpPr>
          <p:cNvPr id="23" name="">
            <a:extLst xmlns:a="http://schemas.openxmlformats.org/drawingml/2006/main">
              <a:ext uri="{FF2B5EF4-FFF2-40B4-BE49-F238E27FC236}">
                <a16:creationId xmlns:a16="http://schemas.microsoft.com/office/drawing/2014/main" id="{CE092FF3-C639-4BA8-976A-A59F9B5F8460}"/>
              </a:ext>
            </a:extLst>
          </p:cNvPr>
          <p:cNvSpPr>
            <a:spLocks xmlns:a="http://schemas.openxmlformats.org/drawingml/2006/main" noGrp="1"/>
          </p:cNvSpPr>
          <p:nvPr/>
        </p:nvSpPr>
        <p:spPr>
          <a:xfrm xmlns:a="http://schemas.openxmlformats.org/drawingml/2006/main">
            <a:off x="6076950" y="4210050"/>
            <a:ext cx="5429250" cy="1123950"/>
          </a:xfrm>
          <a:prstGeom xmlns:a="http://schemas.openxmlformats.org/drawingml/2006/main" prst="roundRect">
            <a:avLst>
              <a:gd name="adj" fmla="val 15254"/>
            </a:avLst>
          </a:prstGeom>
          <a:solidFill xmlns:a="http://schemas.openxmlformats.org/drawingml/2006/main">
            <a:srgbClr val="DCEAFB"/>
          </a:solidFill>
          <a:ln xmlns:a="http://schemas.openxmlformats.org/drawingml/2006/main" w="9525">
            <a:solidFill>
              <a:srgbClr val="DCEAFB"/>
            </a:solidFill>
            <a:prstDash val="solid"/>
          </a:ln>
        </p:spPr>
      </p:sp>
      <p:sp>
        <p:nvSpPr>
          <p:cNvPr id="24" name="">
            <a:extLst xmlns:a="http://schemas.openxmlformats.org/drawingml/2006/main">
              <a:ext uri="{FF2B5EF4-FFF2-40B4-BE49-F238E27FC236}">
                <a16:creationId xmlns:a16="http://schemas.microsoft.com/office/drawing/2014/main" id="{D4BFBF15-69AF-4FB3-8C91-575D47221AFB}"/>
              </a:ext>
            </a:extLst>
          </p:cNvPr>
          <p:cNvSpPr>
            <a:spLocks xmlns:a="http://schemas.openxmlformats.org/drawingml/2006/main" noGrp="1"/>
          </p:cNvSpPr>
          <p:nvPr/>
        </p:nvSpPr>
        <p:spPr>
          <a:xfrm xmlns:a="http://schemas.openxmlformats.org/drawingml/2006/main">
            <a:off x="6343650" y="4381500"/>
            <a:ext cx="489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3E7A"/>
                </a:solidFill>
              </a:defRPr>
            </a:pPr>
            <a:r>
              <a:rPr sz="1650" b="1">
                <a:solidFill>
                  <a:srgbClr val="0B3E7A"/>
                </a:solidFill>
              </a:rPr>
              <a:t>Không bắt đầu task khi dependency chưa Xong.</a:t>
            </a:r>
          </a:p>
        </p:txBody>
      </p:sp>
    </p:spTree>
    <p:extLst>
      <p:ext uri="{BB962C8B-B14F-4D97-AF65-F5344CB8AC3E}">
        <p14:creationId xmlns:p14="http://schemas.microsoft.com/office/powerpoint/2010/main" val="1429885470"/>
      </p:ext>
    </p:extLst>
  </p:cSld>
</p:sld>
</file>

<file path=ppt/slides/slide3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E1B1251-D2C9-4168-B469-8F7561E62C08}"/>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19C20A89-3B3B-4392-82B1-14C1EEC2D96E}"/>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Sau nền tảng, đội chuyển sang nội dung và quản trị</a:t>
            </a:r>
          </a:p>
        </p:txBody>
      </p:sp>
      <p:sp>
        <p:nvSpPr>
          <p:cNvPr id="3" name="">
            <a:extLst xmlns:a="http://schemas.openxmlformats.org/drawingml/2006/main">
              <a:ext uri="{FF2B5EF4-FFF2-40B4-BE49-F238E27FC236}">
                <a16:creationId xmlns:a16="http://schemas.microsoft.com/office/drawing/2014/main" id="{97BF60F9-CEF1-449C-B134-837E2BF4498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42E22B08-27DE-4B07-A363-E0CB3F7F80C3}"/>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B8347045-C6BC-472C-A537-DB18BEDC08FE}"/>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34</a:t>
            </a:r>
          </a:p>
        </p:txBody>
      </p:sp>
      <p:sp>
        <p:nvSpPr>
          <p:cNvPr id="6" name="">
            <a:extLst xmlns:a="http://schemas.openxmlformats.org/drawingml/2006/main">
              <a:ext uri="{FF2B5EF4-FFF2-40B4-BE49-F238E27FC236}">
                <a16:creationId xmlns:a16="http://schemas.microsoft.com/office/drawing/2014/main" id="{85CBFC67-5C9D-44B6-B5B1-4DC27232BD24}"/>
              </a:ext>
            </a:extLst>
          </p:cNvPr>
          <p:cNvSpPr>
            <a:spLocks xmlns:a="http://schemas.openxmlformats.org/drawingml/2006/main" noGrp="1"/>
          </p:cNvSpPr>
          <p:nvPr/>
        </p:nvSpPr>
        <p:spPr>
          <a:xfrm xmlns:a="http://schemas.openxmlformats.org/drawingml/2006/main">
            <a:off x="685800" y="1695450"/>
            <a:ext cx="5143500" cy="3638550"/>
          </a:xfrm>
          <a:prstGeom xmlns:a="http://schemas.openxmlformats.org/drawingml/2006/main" prst="roundRect">
            <a:avLst>
              <a:gd name="adj" fmla="val 6283"/>
            </a:avLst>
          </a:prstGeom>
          <a:solidFill xmlns:a="http://schemas.openxmlformats.org/drawingml/2006/main">
            <a:srgbClr val="DCEAFB"/>
          </a:solidFill>
          <a:ln xmlns:a="http://schemas.openxmlformats.org/drawingml/2006/main" w="9525">
            <a:solidFill>
              <a:srgbClr val="DCEAFB"/>
            </a:solidFill>
            <a:prstDash val="solid"/>
          </a:ln>
        </p:spPr>
      </p:sp>
      <p:sp>
        <p:nvSpPr>
          <p:cNvPr id="7" name="">
            <a:extLst xmlns:a="http://schemas.openxmlformats.org/drawingml/2006/main">
              <a:ext uri="{FF2B5EF4-FFF2-40B4-BE49-F238E27FC236}">
                <a16:creationId xmlns:a16="http://schemas.microsoft.com/office/drawing/2014/main" id="{17A7D189-6AE2-4C25-A8A1-00E4B68F13A4}"/>
              </a:ext>
            </a:extLst>
          </p:cNvPr>
          <p:cNvSpPr>
            <a:spLocks xmlns:a="http://schemas.openxmlformats.org/drawingml/2006/main" noGrp="1"/>
          </p:cNvSpPr>
          <p:nvPr/>
        </p:nvSpPr>
        <p:spPr>
          <a:xfrm xmlns:a="http://schemas.openxmlformats.org/drawingml/2006/main">
            <a:off x="990600" y="1943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568C9"/>
                </a:solidFill>
              </a:defRPr>
            </a:pPr>
            <a:r>
              <a:rPr sz="1050" b="1">
                <a:solidFill>
                  <a:srgbClr val="1568C9"/>
                </a:solidFill>
              </a:rPr>
              <a:t>SPRINT 2 • 15–26/09</a:t>
            </a:r>
          </a:p>
        </p:txBody>
      </p:sp>
      <p:sp>
        <p:nvSpPr>
          <p:cNvPr id="8" name="">
            <a:extLst xmlns:a="http://schemas.openxmlformats.org/drawingml/2006/main">
              <a:ext uri="{FF2B5EF4-FFF2-40B4-BE49-F238E27FC236}">
                <a16:creationId xmlns:a16="http://schemas.microsoft.com/office/drawing/2014/main" id="{30D0460B-28BD-4F8F-BD40-36565920B55A}"/>
              </a:ext>
            </a:extLst>
          </p:cNvPr>
          <p:cNvSpPr>
            <a:spLocks xmlns:a="http://schemas.openxmlformats.org/drawingml/2006/main" noGrp="1"/>
          </p:cNvSpPr>
          <p:nvPr/>
        </p:nvSpPr>
        <p:spPr>
          <a:xfrm xmlns:a="http://schemas.openxmlformats.org/drawingml/2006/main">
            <a:off x="990600" y="238125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01A16"/>
                </a:solidFill>
              </a:defRPr>
            </a:pPr>
            <a:r>
              <a:rPr sz="2175" b="1">
                <a:solidFill>
                  <a:srgbClr val="201A16"/>
                </a:solidFill>
              </a:rPr>
              <a:t>API + trang public</a:t>
            </a:r>
          </a:p>
        </p:txBody>
      </p:sp>
      <p:sp>
        <p:nvSpPr>
          <p:cNvPr id="9" name="">
            <a:extLst xmlns:a="http://schemas.openxmlformats.org/drawingml/2006/main">
              <a:ext uri="{FF2B5EF4-FFF2-40B4-BE49-F238E27FC236}">
                <a16:creationId xmlns:a16="http://schemas.microsoft.com/office/drawing/2014/main" id="{8D2E6820-BDAD-4DD8-9039-9937F793CCB2}"/>
              </a:ext>
            </a:extLst>
          </p:cNvPr>
          <p:cNvSpPr>
            <a:spLocks xmlns:a="http://schemas.openxmlformats.org/drawingml/2006/main" noGrp="1"/>
          </p:cNvSpPr>
          <p:nvPr/>
        </p:nvSpPr>
        <p:spPr>
          <a:xfrm xmlns:a="http://schemas.openxmlformats.org/drawingml/2006/main">
            <a:off x="990600" y="30861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0" name="">
            <a:extLst xmlns:a="http://schemas.openxmlformats.org/drawingml/2006/main">
              <a:ext uri="{FF2B5EF4-FFF2-40B4-BE49-F238E27FC236}">
                <a16:creationId xmlns:a16="http://schemas.microsoft.com/office/drawing/2014/main" id="{2511D853-7363-4805-A67F-6DEC5B26C313}"/>
              </a:ext>
            </a:extLst>
          </p:cNvPr>
          <p:cNvSpPr>
            <a:spLocks xmlns:a="http://schemas.openxmlformats.org/drawingml/2006/main" noGrp="1"/>
          </p:cNvSpPr>
          <p:nvPr/>
        </p:nvSpPr>
        <p:spPr>
          <a:xfrm xmlns:a="http://schemas.openxmlformats.org/drawingml/2006/main">
            <a:off x="1428750" y="3067050"/>
            <a:ext cx="384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RBAC</a:t>
            </a:r>
          </a:p>
        </p:txBody>
      </p:sp>
      <p:sp>
        <p:nvSpPr>
          <p:cNvPr id="11" name="">
            <a:extLst xmlns:a="http://schemas.openxmlformats.org/drawingml/2006/main">
              <a:ext uri="{FF2B5EF4-FFF2-40B4-BE49-F238E27FC236}">
                <a16:creationId xmlns:a16="http://schemas.microsoft.com/office/drawing/2014/main" id="{01BEFD0B-8AE8-42A4-B81E-F938FD4620CE}"/>
              </a:ext>
            </a:extLst>
          </p:cNvPr>
          <p:cNvSpPr>
            <a:spLocks xmlns:a="http://schemas.openxmlformats.org/drawingml/2006/main" noGrp="1"/>
          </p:cNvSpPr>
          <p:nvPr/>
        </p:nvSpPr>
        <p:spPr>
          <a:xfrm xmlns:a="http://schemas.openxmlformats.org/drawingml/2006/main">
            <a:off x="990600" y="35814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
            <a:extLst xmlns:a="http://schemas.openxmlformats.org/drawingml/2006/main">
              <a:ext uri="{FF2B5EF4-FFF2-40B4-BE49-F238E27FC236}">
                <a16:creationId xmlns:a16="http://schemas.microsoft.com/office/drawing/2014/main" id="{F2D12E3E-08DD-4410-A850-499FB81356E8}"/>
              </a:ext>
            </a:extLst>
          </p:cNvPr>
          <p:cNvSpPr>
            <a:spLocks xmlns:a="http://schemas.openxmlformats.org/drawingml/2006/main" noGrp="1"/>
          </p:cNvSpPr>
          <p:nvPr/>
        </p:nvSpPr>
        <p:spPr>
          <a:xfrm xmlns:a="http://schemas.openxmlformats.org/drawingml/2006/main">
            <a:off x="1428750" y="3562350"/>
            <a:ext cx="384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News / Events / Projects API</a:t>
            </a:r>
          </a:p>
        </p:txBody>
      </p:sp>
      <p:sp>
        <p:nvSpPr>
          <p:cNvPr id="13" name="">
            <a:extLst xmlns:a="http://schemas.openxmlformats.org/drawingml/2006/main">
              <a:ext uri="{FF2B5EF4-FFF2-40B4-BE49-F238E27FC236}">
                <a16:creationId xmlns:a16="http://schemas.microsoft.com/office/drawing/2014/main" id="{B7F32A2B-24A6-4C95-AC2F-A5443C70EF05}"/>
              </a:ext>
            </a:extLst>
          </p:cNvPr>
          <p:cNvSpPr>
            <a:spLocks xmlns:a="http://schemas.openxmlformats.org/drawingml/2006/main" noGrp="1"/>
          </p:cNvSpPr>
          <p:nvPr/>
        </p:nvSpPr>
        <p:spPr>
          <a:xfrm xmlns:a="http://schemas.openxmlformats.org/drawingml/2006/main">
            <a:off x="990600" y="40767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4" name="">
            <a:extLst xmlns:a="http://schemas.openxmlformats.org/drawingml/2006/main">
              <a:ext uri="{FF2B5EF4-FFF2-40B4-BE49-F238E27FC236}">
                <a16:creationId xmlns:a16="http://schemas.microsoft.com/office/drawing/2014/main" id="{420F431F-016A-4B0C-87CE-6BCA3CA6260A}"/>
              </a:ext>
            </a:extLst>
          </p:cNvPr>
          <p:cNvSpPr>
            <a:spLocks xmlns:a="http://schemas.openxmlformats.org/drawingml/2006/main" noGrp="1"/>
          </p:cNvSpPr>
          <p:nvPr/>
        </p:nvSpPr>
        <p:spPr>
          <a:xfrm xmlns:a="http://schemas.openxmlformats.org/drawingml/2006/main">
            <a:off x="1428750" y="4057650"/>
            <a:ext cx="384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Upload và email</a:t>
            </a:r>
          </a:p>
        </p:txBody>
      </p:sp>
      <p:sp>
        <p:nvSpPr>
          <p:cNvPr id="15" name="">
            <a:extLst xmlns:a="http://schemas.openxmlformats.org/drawingml/2006/main">
              <a:ext uri="{FF2B5EF4-FFF2-40B4-BE49-F238E27FC236}">
                <a16:creationId xmlns:a16="http://schemas.microsoft.com/office/drawing/2014/main" id="{1E72E458-9496-4AF8-9174-CBEEF1B2011E}"/>
              </a:ext>
            </a:extLst>
          </p:cNvPr>
          <p:cNvSpPr>
            <a:spLocks xmlns:a="http://schemas.openxmlformats.org/drawingml/2006/main" noGrp="1"/>
          </p:cNvSpPr>
          <p:nvPr/>
        </p:nvSpPr>
        <p:spPr>
          <a:xfrm xmlns:a="http://schemas.openxmlformats.org/drawingml/2006/main">
            <a:off x="990600" y="4572000"/>
            <a:ext cx="285750" cy="28575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6" name="">
            <a:extLst xmlns:a="http://schemas.openxmlformats.org/drawingml/2006/main">
              <a:ext uri="{FF2B5EF4-FFF2-40B4-BE49-F238E27FC236}">
                <a16:creationId xmlns:a16="http://schemas.microsoft.com/office/drawing/2014/main" id="{67D8EFEE-F0D9-46EE-95FE-D1A2F0F5CD5A}"/>
              </a:ext>
            </a:extLst>
          </p:cNvPr>
          <p:cNvSpPr>
            <a:spLocks xmlns:a="http://schemas.openxmlformats.org/drawingml/2006/main" noGrp="1"/>
          </p:cNvSpPr>
          <p:nvPr/>
        </p:nvSpPr>
        <p:spPr>
          <a:xfrm xmlns:a="http://schemas.openxmlformats.org/drawingml/2006/main">
            <a:off x="1428750" y="4552950"/>
            <a:ext cx="384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Trang Tin tức và Sự kiện</a:t>
            </a:r>
          </a:p>
        </p:txBody>
      </p:sp>
      <p:sp>
        <p:nvSpPr>
          <p:cNvPr id="17" name="">
            <a:extLst xmlns:a="http://schemas.openxmlformats.org/drawingml/2006/main">
              <a:ext uri="{FF2B5EF4-FFF2-40B4-BE49-F238E27FC236}">
                <a16:creationId xmlns:a16="http://schemas.microsoft.com/office/drawing/2014/main" id="{07E5001A-FB5A-4832-BB74-74A5BF938B73}"/>
              </a:ext>
            </a:extLst>
          </p:cNvPr>
          <p:cNvSpPr>
            <a:spLocks xmlns:a="http://schemas.openxmlformats.org/drawingml/2006/main" noGrp="1"/>
          </p:cNvSpPr>
          <p:nvPr/>
        </p:nvSpPr>
        <p:spPr>
          <a:xfrm xmlns:a="http://schemas.openxmlformats.org/drawingml/2006/main">
            <a:off x="6172200" y="1695450"/>
            <a:ext cx="5334000" cy="3638550"/>
          </a:xfrm>
          <a:prstGeom xmlns:a="http://schemas.openxmlformats.org/drawingml/2006/main" prst="roundRect">
            <a:avLst>
              <a:gd name="adj" fmla="val 6283"/>
            </a:avLst>
          </a:prstGeom>
          <a:solidFill xmlns:a="http://schemas.openxmlformats.org/drawingml/2006/main">
            <a:srgbClr val="F6DED6"/>
          </a:solidFill>
          <a:ln xmlns:a="http://schemas.openxmlformats.org/drawingml/2006/main" w="9525">
            <a:solidFill>
              <a:srgbClr val="F6DED6"/>
            </a:solidFill>
            <a:prstDash val="solid"/>
          </a:ln>
        </p:spPr>
      </p:sp>
      <p:sp>
        <p:nvSpPr>
          <p:cNvPr id="18" name="">
            <a:extLst xmlns:a="http://schemas.openxmlformats.org/drawingml/2006/main">
              <a:ext uri="{FF2B5EF4-FFF2-40B4-BE49-F238E27FC236}">
                <a16:creationId xmlns:a16="http://schemas.microsoft.com/office/drawing/2014/main" id="{FAFF6EF8-EA41-4BD8-9FA6-8634292E19A4}"/>
              </a:ext>
            </a:extLst>
          </p:cNvPr>
          <p:cNvSpPr>
            <a:spLocks xmlns:a="http://schemas.openxmlformats.org/drawingml/2006/main" noGrp="1"/>
          </p:cNvSpPr>
          <p:nvPr/>
        </p:nvSpPr>
        <p:spPr>
          <a:xfrm xmlns:a="http://schemas.openxmlformats.org/drawingml/2006/main">
            <a:off x="6477000" y="19431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23B22"/>
                </a:solidFill>
              </a:defRPr>
            </a:pPr>
            <a:r>
              <a:rPr sz="1050" b="1">
                <a:solidFill>
                  <a:srgbClr val="C23B22"/>
                </a:solidFill>
              </a:rPr>
              <a:t>SPRINT 3 • 29/09–10/10</a:t>
            </a:r>
          </a:p>
        </p:txBody>
      </p:sp>
      <p:sp>
        <p:nvSpPr>
          <p:cNvPr id="19" name="">
            <a:extLst xmlns:a="http://schemas.openxmlformats.org/drawingml/2006/main">
              <a:ext uri="{FF2B5EF4-FFF2-40B4-BE49-F238E27FC236}">
                <a16:creationId xmlns:a16="http://schemas.microsoft.com/office/drawing/2014/main" id="{A8E447E3-9A6E-40DC-A6F2-342D969DE6E4}"/>
              </a:ext>
            </a:extLst>
          </p:cNvPr>
          <p:cNvSpPr>
            <a:spLocks xmlns:a="http://schemas.openxmlformats.org/drawingml/2006/main" noGrp="1"/>
          </p:cNvSpPr>
          <p:nvPr/>
        </p:nvSpPr>
        <p:spPr>
          <a:xfrm xmlns:a="http://schemas.openxmlformats.org/drawingml/2006/main">
            <a:off x="6477000" y="2381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01A16"/>
                </a:solidFill>
              </a:defRPr>
            </a:pPr>
            <a:r>
              <a:rPr sz="2175" b="1">
                <a:solidFill>
                  <a:srgbClr val="201A16"/>
                </a:solidFill>
              </a:rPr>
              <a:t>CMS + quy trình Gia nhập</a:t>
            </a:r>
          </a:p>
        </p:txBody>
      </p:sp>
      <p:sp>
        <p:nvSpPr>
          <p:cNvPr id="20" name="">
            <a:extLst xmlns:a="http://schemas.openxmlformats.org/drawingml/2006/main">
              <a:ext uri="{FF2B5EF4-FFF2-40B4-BE49-F238E27FC236}">
                <a16:creationId xmlns:a16="http://schemas.microsoft.com/office/drawing/2014/main" id="{1DEB78D7-563C-44EC-9782-EED649E7534E}"/>
              </a:ext>
            </a:extLst>
          </p:cNvPr>
          <p:cNvSpPr>
            <a:spLocks xmlns:a="http://schemas.openxmlformats.org/drawingml/2006/main" noGrp="1"/>
          </p:cNvSpPr>
          <p:nvPr/>
        </p:nvSpPr>
        <p:spPr>
          <a:xfrm xmlns:a="http://schemas.openxmlformats.org/drawingml/2006/main">
            <a:off x="6477000" y="30861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1" name="">
            <a:extLst xmlns:a="http://schemas.openxmlformats.org/drawingml/2006/main">
              <a:ext uri="{FF2B5EF4-FFF2-40B4-BE49-F238E27FC236}">
                <a16:creationId xmlns:a16="http://schemas.microsoft.com/office/drawing/2014/main" id="{B8D124CA-97E4-406D-BADE-886FF8E389E2}"/>
              </a:ext>
            </a:extLst>
          </p:cNvPr>
          <p:cNvSpPr>
            <a:spLocks xmlns:a="http://schemas.openxmlformats.org/drawingml/2006/main" noGrp="1"/>
          </p:cNvSpPr>
          <p:nvPr/>
        </p:nvSpPr>
        <p:spPr>
          <a:xfrm xmlns:a="http://schemas.openxmlformats.org/drawingml/2006/main">
            <a:off x="6915150" y="306705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Trang Dự án</a:t>
            </a:r>
          </a:p>
        </p:txBody>
      </p:sp>
      <p:sp>
        <p:nvSpPr>
          <p:cNvPr id="22" name="">
            <a:extLst xmlns:a="http://schemas.openxmlformats.org/drawingml/2006/main">
              <a:ext uri="{FF2B5EF4-FFF2-40B4-BE49-F238E27FC236}">
                <a16:creationId xmlns:a16="http://schemas.microsoft.com/office/drawing/2014/main" id="{BD15DA1F-0017-4D7C-A52E-E7C6296DD52D}"/>
              </a:ext>
            </a:extLst>
          </p:cNvPr>
          <p:cNvSpPr>
            <a:spLocks xmlns:a="http://schemas.openxmlformats.org/drawingml/2006/main" noGrp="1"/>
          </p:cNvSpPr>
          <p:nvPr/>
        </p:nvSpPr>
        <p:spPr>
          <a:xfrm xmlns:a="http://schemas.openxmlformats.org/drawingml/2006/main">
            <a:off x="6477000" y="35814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3" name="">
            <a:extLst xmlns:a="http://schemas.openxmlformats.org/drawingml/2006/main">
              <a:ext uri="{FF2B5EF4-FFF2-40B4-BE49-F238E27FC236}">
                <a16:creationId xmlns:a16="http://schemas.microsoft.com/office/drawing/2014/main" id="{9B5667A0-F414-4829-8B72-62C7AB8C8C11}"/>
              </a:ext>
            </a:extLst>
          </p:cNvPr>
          <p:cNvSpPr>
            <a:spLocks xmlns:a="http://schemas.openxmlformats.org/drawingml/2006/main" noGrp="1"/>
          </p:cNvSpPr>
          <p:nvPr/>
        </p:nvSpPr>
        <p:spPr>
          <a:xfrm xmlns:a="http://schemas.openxmlformats.org/drawingml/2006/main">
            <a:off x="6915150" y="356235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Form Gia nhập APC</a:t>
            </a:r>
          </a:p>
        </p:txBody>
      </p:sp>
      <p:sp>
        <p:nvSpPr>
          <p:cNvPr id="24" name="">
            <a:extLst xmlns:a="http://schemas.openxmlformats.org/drawingml/2006/main">
              <a:ext uri="{FF2B5EF4-FFF2-40B4-BE49-F238E27FC236}">
                <a16:creationId xmlns:a16="http://schemas.microsoft.com/office/drawing/2014/main" id="{BE48AC5A-4727-418F-AACB-428456DF2E8E}"/>
              </a:ext>
            </a:extLst>
          </p:cNvPr>
          <p:cNvSpPr>
            <a:spLocks xmlns:a="http://schemas.openxmlformats.org/drawingml/2006/main" noGrp="1"/>
          </p:cNvSpPr>
          <p:nvPr/>
        </p:nvSpPr>
        <p:spPr>
          <a:xfrm xmlns:a="http://schemas.openxmlformats.org/drawingml/2006/main">
            <a:off x="6477000" y="40767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5" name="">
            <a:extLst xmlns:a="http://schemas.openxmlformats.org/drawingml/2006/main">
              <a:ext uri="{FF2B5EF4-FFF2-40B4-BE49-F238E27FC236}">
                <a16:creationId xmlns:a16="http://schemas.microsoft.com/office/drawing/2014/main" id="{6602210C-1FA2-41D2-A4D9-79A479DBA93C}"/>
              </a:ext>
            </a:extLst>
          </p:cNvPr>
          <p:cNvSpPr>
            <a:spLocks xmlns:a="http://schemas.openxmlformats.org/drawingml/2006/main" noGrp="1"/>
          </p:cNvSpPr>
          <p:nvPr/>
        </p:nvSpPr>
        <p:spPr>
          <a:xfrm xmlns:a="http://schemas.openxmlformats.org/drawingml/2006/main">
            <a:off x="6915150" y="405765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CMS admin</a:t>
            </a:r>
          </a:p>
        </p:txBody>
      </p:sp>
      <p:sp>
        <p:nvSpPr>
          <p:cNvPr id="26" name="">
            <a:extLst xmlns:a="http://schemas.openxmlformats.org/drawingml/2006/main">
              <a:ext uri="{FF2B5EF4-FFF2-40B4-BE49-F238E27FC236}">
                <a16:creationId xmlns:a16="http://schemas.microsoft.com/office/drawing/2014/main" id="{BDFB5A8E-E7E9-42F3-8B8B-06F894C40237}"/>
              </a:ext>
            </a:extLst>
          </p:cNvPr>
          <p:cNvSpPr>
            <a:spLocks xmlns:a="http://schemas.openxmlformats.org/drawingml/2006/main" noGrp="1"/>
          </p:cNvSpPr>
          <p:nvPr/>
        </p:nvSpPr>
        <p:spPr>
          <a:xfrm xmlns:a="http://schemas.openxmlformats.org/drawingml/2006/main">
            <a:off x="6477000" y="4572000"/>
            <a:ext cx="285750" cy="28575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27" name="">
            <a:extLst xmlns:a="http://schemas.openxmlformats.org/drawingml/2006/main">
              <a:ext uri="{FF2B5EF4-FFF2-40B4-BE49-F238E27FC236}">
                <a16:creationId xmlns:a16="http://schemas.microsoft.com/office/drawing/2014/main" id="{CE2BC739-BFF9-4C04-A1C9-CDFE357B80FF}"/>
              </a:ext>
            </a:extLst>
          </p:cNvPr>
          <p:cNvSpPr>
            <a:spLocks xmlns:a="http://schemas.openxmlformats.org/drawingml/2006/main" noGrp="1"/>
          </p:cNvSpPr>
          <p:nvPr/>
        </p:nvSpPr>
        <p:spPr>
          <a:xfrm xmlns:a="http://schemas.openxmlformats.org/drawingml/2006/main">
            <a:off x="6915150" y="4552950"/>
            <a:ext cx="403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1A16"/>
                </a:solidFill>
              </a:defRPr>
            </a:pPr>
            <a:r>
              <a:rPr sz="1425" b="0">
                <a:solidFill>
                  <a:srgbClr val="201A16"/>
                </a:solidFill>
              </a:rPr>
              <a:t>Duyệt/từ chối đơn và nội dung thật</a:t>
            </a:r>
          </a:p>
        </p:txBody>
      </p:sp>
      <p:sp>
        <p:nvSpPr>
          <p:cNvPr id="28" name="">
            <a:extLst xmlns:a="http://schemas.openxmlformats.org/drawingml/2006/main">
              <a:ext uri="{FF2B5EF4-FFF2-40B4-BE49-F238E27FC236}">
                <a16:creationId xmlns:a16="http://schemas.microsoft.com/office/drawing/2014/main" id="{D98EC091-C5D3-4394-BB43-97389B0C4F19}"/>
              </a:ext>
            </a:extLst>
          </p:cNvPr>
          <p:cNvSpPr>
            <a:spLocks xmlns:a="http://schemas.openxmlformats.org/drawingml/2006/main" noGrp="1"/>
          </p:cNvSpPr>
          <p:nvPr/>
        </p:nvSpPr>
        <p:spPr>
          <a:xfrm xmlns:a="http://schemas.openxmlformats.org/drawingml/2006/main">
            <a:off x="685800" y="5619750"/>
            <a:ext cx="10820400" cy="533400"/>
          </a:xfrm>
          <a:prstGeom xmlns:a="http://schemas.openxmlformats.org/drawingml/2006/main" prst="roundRect">
            <a:avLst>
              <a:gd name="adj" fmla="val 25000"/>
            </a:avLst>
          </a:prstGeom>
          <a:solidFill xmlns:a="http://schemas.openxmlformats.org/drawingml/2006/main">
            <a:srgbClr val="081A33"/>
          </a:solidFill>
          <a:ln xmlns:a="http://schemas.openxmlformats.org/drawingml/2006/main" w="9525">
            <a:solidFill>
              <a:srgbClr val="081A33"/>
            </a:solidFill>
            <a:prstDash val="solid"/>
          </a:ln>
        </p:spPr>
      </p:sp>
      <p:sp>
        <p:nvSpPr>
          <p:cNvPr id="29" name="">
            <a:extLst xmlns:a="http://schemas.openxmlformats.org/drawingml/2006/main">
              <a:ext uri="{FF2B5EF4-FFF2-40B4-BE49-F238E27FC236}">
                <a16:creationId xmlns:a16="http://schemas.microsoft.com/office/drawing/2014/main" id="{BB022548-1180-4E08-B137-FFEB1B95F4C8}"/>
              </a:ext>
            </a:extLst>
          </p:cNvPr>
          <p:cNvSpPr>
            <a:spLocks xmlns:a="http://schemas.openxmlformats.org/drawingml/2006/main" noGrp="1"/>
          </p:cNvSpPr>
          <p:nvPr/>
        </p:nvSpPr>
        <p:spPr>
          <a:xfrm xmlns:a="http://schemas.openxmlformats.org/drawingml/2006/main">
            <a:off x="914400" y="5695950"/>
            <a:ext cx="1036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defRPr>
            </a:pPr>
            <a:r>
              <a:rPr sz="1425" b="1">
                <a:solidFill>
                  <a:srgbClr val="FFFFFF"/>
                </a:solidFill>
              </a:rPr>
              <a:t>13–15/10: staging • QA/E2E • backup/restore • bàn giao</a:t>
            </a:r>
          </a:p>
        </p:txBody>
      </p:sp>
    </p:spTree>
    <p:extLst>
      <p:ext uri="{BB962C8B-B14F-4D97-AF65-F5344CB8AC3E}">
        <p14:creationId xmlns:p14="http://schemas.microsoft.com/office/powerpoint/2010/main" val="297387487"/>
      </p:ext>
    </p:extLst>
  </p:cSld>
</p:sld>
</file>

<file path=ppt/slides/slide3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D44EF6C-A95F-48A2-8DA0-FA64FB4F263A}"/>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4EA600AB-6F73-4E14-88A4-94CEF8049D30}"/>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Quy trình làm một task trong repo</a:t>
            </a:r>
          </a:p>
        </p:txBody>
      </p:sp>
      <p:sp>
        <p:nvSpPr>
          <p:cNvPr id="3" name="">
            <a:extLst xmlns:a="http://schemas.openxmlformats.org/drawingml/2006/main">
              <a:ext uri="{FF2B5EF4-FFF2-40B4-BE49-F238E27FC236}">
                <a16:creationId xmlns:a16="http://schemas.microsoft.com/office/drawing/2014/main" id="{638E67DD-1509-457F-803C-D1709C9C2C08}"/>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37B5B6AC-FE73-46D2-8012-D7D984F0D4B5}"/>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334D7DFD-C7E1-42E5-B664-19D19EDD3AE8}"/>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35</a:t>
            </a:r>
          </a:p>
        </p:txBody>
      </p:sp>
      <p:sp>
        <p:nvSpPr>
          <p:cNvPr id="6" name="">
            <a:extLst xmlns:a="http://schemas.openxmlformats.org/drawingml/2006/main">
              <a:ext uri="{FF2B5EF4-FFF2-40B4-BE49-F238E27FC236}">
                <a16:creationId xmlns:a16="http://schemas.microsoft.com/office/drawing/2014/main" id="{23741551-DE36-4317-9206-645AEC52EDEB}"/>
              </a:ext>
            </a:extLst>
          </p:cNvPr>
          <p:cNvSpPr>
            <a:spLocks xmlns:a="http://schemas.openxmlformats.org/drawingml/2006/main" noGrp="1"/>
          </p:cNvSpPr>
          <p:nvPr/>
        </p:nvSpPr>
        <p:spPr>
          <a:xfrm xmlns:a="http://schemas.openxmlformats.org/drawingml/2006/main">
            <a:off x="685800" y="2095500"/>
            <a:ext cx="14478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5"/>
            </a:solidFill>
            <a:prstDash val="solid"/>
          </a:ln>
        </p:spPr>
      </p:sp>
      <p:sp>
        <p:nvSpPr>
          <p:cNvPr id="7" name="">
            <a:extLst xmlns:a="http://schemas.openxmlformats.org/drawingml/2006/main">
              <a:ext uri="{FF2B5EF4-FFF2-40B4-BE49-F238E27FC236}">
                <a16:creationId xmlns:a16="http://schemas.microsoft.com/office/drawing/2014/main" id="{630A3FFE-DAA9-4E11-85F7-92DDB9229024}"/>
              </a:ext>
            </a:extLst>
          </p:cNvPr>
          <p:cNvSpPr>
            <a:spLocks xmlns:a="http://schemas.openxmlformats.org/drawingml/2006/main" noGrp="1"/>
          </p:cNvSpPr>
          <p:nvPr/>
        </p:nvSpPr>
        <p:spPr>
          <a:xfrm xmlns:a="http://schemas.openxmlformats.org/drawingml/2006/main">
            <a:off x="1181100" y="2266950"/>
            <a:ext cx="457200" cy="4572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8" name="">
            <a:extLst xmlns:a="http://schemas.openxmlformats.org/drawingml/2006/main">
              <a:ext uri="{FF2B5EF4-FFF2-40B4-BE49-F238E27FC236}">
                <a16:creationId xmlns:a16="http://schemas.microsoft.com/office/drawing/2014/main" id="{F82B0423-E848-414E-B544-8C5CFEAB78E3}"/>
              </a:ext>
            </a:extLst>
          </p:cNvPr>
          <p:cNvSpPr>
            <a:spLocks xmlns:a="http://schemas.openxmlformats.org/drawingml/2006/main" noGrp="1"/>
          </p:cNvSpPr>
          <p:nvPr/>
        </p:nvSpPr>
        <p:spPr>
          <a:xfrm xmlns:a="http://schemas.openxmlformats.org/drawingml/2006/main">
            <a:off x="8001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Nhận task</a:t>
            </a:r>
          </a:p>
        </p:txBody>
      </p:sp>
      <p:sp>
        <p:nvSpPr>
          <p:cNvPr id="9" name="">
            <a:extLst xmlns:a="http://schemas.openxmlformats.org/drawingml/2006/main">
              <a:ext uri="{FF2B5EF4-FFF2-40B4-BE49-F238E27FC236}">
                <a16:creationId xmlns:a16="http://schemas.microsoft.com/office/drawing/2014/main" id="{AF96B92E-C473-4690-8B4F-4DDE2870A6DE}"/>
              </a:ext>
            </a:extLst>
          </p:cNvPr>
          <p:cNvSpPr>
            <a:spLocks xmlns:a="http://schemas.openxmlformats.org/drawingml/2006/main" noGrp="1"/>
          </p:cNvSpPr>
          <p:nvPr/>
        </p:nvSpPr>
        <p:spPr>
          <a:xfrm xmlns:a="http://schemas.openxmlformats.org/drawingml/2006/main">
            <a:off x="2438400" y="2095500"/>
            <a:ext cx="14478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664EDAD6-4F0B-404B-8E28-360C2656ACF9}"/>
              </a:ext>
            </a:extLst>
          </p:cNvPr>
          <p:cNvSpPr>
            <a:spLocks xmlns:a="http://schemas.openxmlformats.org/drawingml/2006/main" noGrp="1"/>
          </p:cNvSpPr>
          <p:nvPr/>
        </p:nvSpPr>
        <p:spPr>
          <a:xfrm xmlns:a="http://schemas.openxmlformats.org/drawingml/2006/main">
            <a:off x="2933700" y="2266950"/>
            <a:ext cx="457200" cy="4572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1" name="">
            <a:extLst xmlns:a="http://schemas.openxmlformats.org/drawingml/2006/main">
              <a:ext uri="{FF2B5EF4-FFF2-40B4-BE49-F238E27FC236}">
                <a16:creationId xmlns:a16="http://schemas.microsoft.com/office/drawing/2014/main" id="{86B97036-1FF2-49E5-8EB1-97485F7CA65A}"/>
              </a:ext>
            </a:extLst>
          </p:cNvPr>
          <p:cNvSpPr>
            <a:spLocks xmlns:a="http://schemas.openxmlformats.org/drawingml/2006/main" noGrp="1"/>
          </p:cNvSpPr>
          <p:nvPr/>
        </p:nvSpPr>
        <p:spPr>
          <a:xfrm xmlns:a="http://schemas.openxmlformats.org/drawingml/2006/main">
            <a:off x="25527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Tạo branch</a:t>
            </a:r>
          </a:p>
        </p:txBody>
      </p:sp>
      <p:sp>
        <p:nvSpPr>
          <p:cNvPr id="12" name="">
            <a:extLst xmlns:a="http://schemas.openxmlformats.org/drawingml/2006/main">
              <a:ext uri="{FF2B5EF4-FFF2-40B4-BE49-F238E27FC236}">
                <a16:creationId xmlns:a16="http://schemas.microsoft.com/office/drawing/2014/main" id="{5D1D6808-9251-4BAC-AE18-E6E110520373}"/>
              </a:ext>
            </a:extLst>
          </p:cNvPr>
          <p:cNvSpPr>
            <a:spLocks xmlns:a="http://schemas.openxmlformats.org/drawingml/2006/main" noGrp="1"/>
          </p:cNvSpPr>
          <p:nvPr/>
        </p:nvSpPr>
        <p:spPr>
          <a:xfrm xmlns:a="http://schemas.openxmlformats.org/drawingml/2006/main">
            <a:off x="4191000" y="2095500"/>
            <a:ext cx="14478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5"/>
            </a:solidFill>
            <a:prstDash val="solid"/>
          </a:ln>
        </p:spPr>
      </p:sp>
      <p:sp>
        <p:nvSpPr>
          <p:cNvPr id="13" name="">
            <a:extLst xmlns:a="http://schemas.openxmlformats.org/drawingml/2006/main">
              <a:ext uri="{FF2B5EF4-FFF2-40B4-BE49-F238E27FC236}">
                <a16:creationId xmlns:a16="http://schemas.microsoft.com/office/drawing/2014/main" id="{673019C0-ECD4-4287-BF51-403894AFA826}"/>
              </a:ext>
            </a:extLst>
          </p:cNvPr>
          <p:cNvSpPr>
            <a:spLocks xmlns:a="http://schemas.openxmlformats.org/drawingml/2006/main" noGrp="1"/>
          </p:cNvSpPr>
          <p:nvPr/>
        </p:nvSpPr>
        <p:spPr>
          <a:xfrm xmlns:a="http://schemas.openxmlformats.org/drawingml/2006/main">
            <a:off x="4686300" y="2266950"/>
            <a:ext cx="457200" cy="4572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4" name="">
            <a:extLst xmlns:a="http://schemas.openxmlformats.org/drawingml/2006/main">
              <a:ext uri="{FF2B5EF4-FFF2-40B4-BE49-F238E27FC236}">
                <a16:creationId xmlns:a16="http://schemas.microsoft.com/office/drawing/2014/main" id="{6EFE0FFB-B715-450D-B9A0-A2CA1DDF0A2E}"/>
              </a:ext>
            </a:extLst>
          </p:cNvPr>
          <p:cNvSpPr>
            <a:spLocks xmlns:a="http://schemas.openxmlformats.org/drawingml/2006/main" noGrp="1"/>
          </p:cNvSpPr>
          <p:nvPr/>
        </p:nvSpPr>
        <p:spPr>
          <a:xfrm xmlns:a="http://schemas.openxmlformats.org/drawingml/2006/main">
            <a:off x="43053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Code + tự test</a:t>
            </a:r>
          </a:p>
        </p:txBody>
      </p:sp>
      <p:sp>
        <p:nvSpPr>
          <p:cNvPr id="15" name="">
            <a:extLst xmlns:a="http://schemas.openxmlformats.org/drawingml/2006/main">
              <a:ext uri="{FF2B5EF4-FFF2-40B4-BE49-F238E27FC236}">
                <a16:creationId xmlns:a16="http://schemas.microsoft.com/office/drawing/2014/main" id="{574A7C63-0DE2-45FD-B3F6-EBCA457E6579}"/>
              </a:ext>
            </a:extLst>
          </p:cNvPr>
          <p:cNvSpPr>
            <a:spLocks xmlns:a="http://schemas.openxmlformats.org/drawingml/2006/main" noGrp="1"/>
          </p:cNvSpPr>
          <p:nvPr/>
        </p:nvSpPr>
        <p:spPr>
          <a:xfrm xmlns:a="http://schemas.openxmlformats.org/drawingml/2006/main">
            <a:off x="5943600" y="2095500"/>
            <a:ext cx="14478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5"/>
            </a:solidFill>
            <a:prstDash val="solid"/>
          </a:ln>
        </p:spPr>
      </p:sp>
      <p:sp>
        <p:nvSpPr>
          <p:cNvPr id="16" name="">
            <a:extLst xmlns:a="http://schemas.openxmlformats.org/drawingml/2006/main">
              <a:ext uri="{FF2B5EF4-FFF2-40B4-BE49-F238E27FC236}">
                <a16:creationId xmlns:a16="http://schemas.microsoft.com/office/drawing/2014/main" id="{06384F6B-8499-4103-9C80-B0F787F71A11}"/>
              </a:ext>
            </a:extLst>
          </p:cNvPr>
          <p:cNvSpPr>
            <a:spLocks xmlns:a="http://schemas.openxmlformats.org/drawingml/2006/main" noGrp="1"/>
          </p:cNvSpPr>
          <p:nvPr/>
        </p:nvSpPr>
        <p:spPr>
          <a:xfrm xmlns:a="http://schemas.openxmlformats.org/drawingml/2006/main">
            <a:off x="6438900" y="2266950"/>
            <a:ext cx="457200" cy="457200"/>
          </a:xfrm>
          <a:prstGeom xmlns:a="http://schemas.openxmlformats.org/drawingml/2006/main" prst="ellipse">
            <a:avLst/>
          </a:prstGeom>
          <a:solidFill xmlns:a="http://schemas.openxmlformats.org/drawingml/2006/main">
            <a:srgbClr val="1568C9"/>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17" name="">
            <a:extLst xmlns:a="http://schemas.openxmlformats.org/drawingml/2006/main">
              <a:ext uri="{FF2B5EF4-FFF2-40B4-BE49-F238E27FC236}">
                <a16:creationId xmlns:a16="http://schemas.microsoft.com/office/drawing/2014/main" id="{87ECC5AE-88F0-4A0F-939D-2E0502412048}"/>
              </a:ext>
            </a:extLst>
          </p:cNvPr>
          <p:cNvSpPr>
            <a:spLocks xmlns:a="http://schemas.openxmlformats.org/drawingml/2006/main" noGrp="1"/>
          </p:cNvSpPr>
          <p:nvPr/>
        </p:nvSpPr>
        <p:spPr>
          <a:xfrm xmlns:a="http://schemas.openxmlformats.org/drawingml/2006/main">
            <a:off x="60579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Mở PR</a:t>
            </a:r>
          </a:p>
        </p:txBody>
      </p:sp>
      <p:sp>
        <p:nvSpPr>
          <p:cNvPr id="18" name="">
            <a:extLst xmlns:a="http://schemas.openxmlformats.org/drawingml/2006/main">
              <a:ext uri="{FF2B5EF4-FFF2-40B4-BE49-F238E27FC236}">
                <a16:creationId xmlns:a16="http://schemas.microsoft.com/office/drawing/2014/main" id="{396BE760-73CE-4A50-9102-AB718F5F4922}"/>
              </a:ext>
            </a:extLst>
          </p:cNvPr>
          <p:cNvSpPr>
            <a:spLocks xmlns:a="http://schemas.openxmlformats.org/drawingml/2006/main" noGrp="1"/>
          </p:cNvSpPr>
          <p:nvPr/>
        </p:nvSpPr>
        <p:spPr>
          <a:xfrm xmlns:a="http://schemas.openxmlformats.org/drawingml/2006/main">
            <a:off x="7696200" y="2095500"/>
            <a:ext cx="1447800" cy="12001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5"/>
            </a:solidFill>
            <a:prstDash val="solid"/>
          </a:ln>
        </p:spPr>
      </p:sp>
      <p:sp>
        <p:nvSpPr>
          <p:cNvPr id="19" name="">
            <a:extLst xmlns:a="http://schemas.openxmlformats.org/drawingml/2006/main">
              <a:ext uri="{FF2B5EF4-FFF2-40B4-BE49-F238E27FC236}">
                <a16:creationId xmlns:a16="http://schemas.microsoft.com/office/drawing/2014/main" id="{9F0D88F6-1F53-49A6-9A13-303F3C04B344}"/>
              </a:ext>
            </a:extLst>
          </p:cNvPr>
          <p:cNvSpPr>
            <a:spLocks xmlns:a="http://schemas.openxmlformats.org/drawingml/2006/main" noGrp="1"/>
          </p:cNvSpPr>
          <p:nvPr/>
        </p:nvSpPr>
        <p:spPr>
          <a:xfrm xmlns:a="http://schemas.openxmlformats.org/drawingml/2006/main">
            <a:off x="8191500" y="2266950"/>
            <a:ext cx="457200" cy="4572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0" name="">
            <a:extLst xmlns:a="http://schemas.openxmlformats.org/drawingml/2006/main">
              <a:ext uri="{FF2B5EF4-FFF2-40B4-BE49-F238E27FC236}">
                <a16:creationId xmlns:a16="http://schemas.microsoft.com/office/drawing/2014/main" id="{F02054F1-EEA1-48F9-A449-447AE3C882A0}"/>
              </a:ext>
            </a:extLst>
          </p:cNvPr>
          <p:cNvSpPr>
            <a:spLocks xmlns:a="http://schemas.openxmlformats.org/drawingml/2006/main" noGrp="1"/>
          </p:cNvSpPr>
          <p:nvPr/>
        </p:nvSpPr>
        <p:spPr>
          <a:xfrm xmlns:a="http://schemas.openxmlformats.org/drawingml/2006/main">
            <a:off x="78105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01A16"/>
                </a:solidFill>
              </a:defRPr>
            </a:pPr>
            <a:r>
              <a:rPr sz="1200" b="1">
                <a:solidFill>
                  <a:srgbClr val="201A16"/>
                </a:solidFill>
              </a:rPr>
              <a:t>Review + CI</a:t>
            </a:r>
          </a:p>
        </p:txBody>
      </p:sp>
      <p:sp>
        <p:nvSpPr>
          <p:cNvPr id="21" name="">
            <a:extLst xmlns:a="http://schemas.openxmlformats.org/drawingml/2006/main">
              <a:ext uri="{FF2B5EF4-FFF2-40B4-BE49-F238E27FC236}">
                <a16:creationId xmlns:a16="http://schemas.microsoft.com/office/drawing/2014/main" id="{A3436F31-D9C5-46DA-9AF3-5DA9B3C0133D}"/>
              </a:ext>
            </a:extLst>
          </p:cNvPr>
          <p:cNvSpPr>
            <a:spLocks xmlns:a="http://schemas.openxmlformats.org/drawingml/2006/main" noGrp="1"/>
          </p:cNvSpPr>
          <p:nvPr/>
        </p:nvSpPr>
        <p:spPr>
          <a:xfrm xmlns:a="http://schemas.openxmlformats.org/drawingml/2006/main">
            <a:off x="9448800" y="2095500"/>
            <a:ext cx="1447800" cy="1200150"/>
          </a:xfrm>
          <a:prstGeom xmlns:a="http://schemas.openxmlformats.org/drawingml/2006/main" prst="roundRect">
            <a:avLst>
              <a:gd name="adj" fmla="val 14286"/>
            </a:avLst>
          </a:prstGeom>
          <a:solidFill xmlns:a="http://schemas.openxmlformats.org/drawingml/2006/main">
            <a:srgbClr val="0E9F6E"/>
          </a:solidFill>
          <a:ln xmlns:a="http://schemas.openxmlformats.org/drawingml/2006/main" w="9525">
            <a:solidFill>
              <a:srgbClr val="0E9F6E"/>
            </a:solidFill>
            <a:prstDash val="solid"/>
          </a:ln>
        </p:spPr>
      </p:sp>
      <p:sp>
        <p:nvSpPr>
          <p:cNvPr id="22" name="">
            <a:extLst xmlns:a="http://schemas.openxmlformats.org/drawingml/2006/main">
              <a:ext uri="{FF2B5EF4-FFF2-40B4-BE49-F238E27FC236}">
                <a16:creationId xmlns:a16="http://schemas.microsoft.com/office/drawing/2014/main" id="{59EEFDDF-847F-49A2-9E13-465B7A1A4470}"/>
              </a:ext>
            </a:extLst>
          </p:cNvPr>
          <p:cNvSpPr>
            <a:spLocks xmlns:a="http://schemas.openxmlformats.org/drawingml/2006/main" noGrp="1"/>
          </p:cNvSpPr>
          <p:nvPr/>
        </p:nvSpPr>
        <p:spPr>
          <a:xfrm xmlns:a="http://schemas.openxmlformats.org/drawingml/2006/main">
            <a:off x="9944100" y="2266950"/>
            <a:ext cx="457200" cy="4572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E9F6E"/>
                </a:solidFill>
              </a:defRPr>
            </a:pPr>
            <a:r>
              <a:rPr sz="1275" b="1">
                <a:solidFill>
                  <a:srgbClr val="0E9F6E"/>
                </a:solidFill>
              </a:rPr>
              <a:t>6</a:t>
            </a:r>
          </a:p>
        </p:txBody>
      </p:sp>
      <p:sp>
        <p:nvSpPr>
          <p:cNvPr id="23" name="">
            <a:extLst xmlns:a="http://schemas.openxmlformats.org/drawingml/2006/main">
              <a:ext uri="{FF2B5EF4-FFF2-40B4-BE49-F238E27FC236}">
                <a16:creationId xmlns:a16="http://schemas.microsoft.com/office/drawing/2014/main" id="{DB510EE2-BE3F-48D1-BFB9-DD47C71DB3FC}"/>
              </a:ext>
            </a:extLst>
          </p:cNvPr>
          <p:cNvSpPr>
            <a:spLocks xmlns:a="http://schemas.openxmlformats.org/drawingml/2006/main" noGrp="1"/>
          </p:cNvSpPr>
          <p:nvPr/>
        </p:nvSpPr>
        <p:spPr>
          <a:xfrm xmlns:a="http://schemas.openxmlformats.org/drawingml/2006/main">
            <a:off x="9563100" y="281940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Merge + cập nhật sheet</a:t>
            </a:r>
          </a:p>
        </p:txBody>
      </p:sp>
      <p:cxnSp>
        <p:nvCxnSpPr>
          <p:cNvPr id="54" name=""/>
          <p:cNvCxnSpPr>
            <a:stCxn xmlns:a="http://schemas.openxmlformats.org/drawingml/2006/main" id="6" idx="3"/>
            <a:endCxn xmlns:a="http://schemas.openxmlformats.org/drawingml/2006/main" id="9" idx="1"/>
          </p:cNvCxnSpPr>
          <p:nvPr/>
        </p:nvCxnSpPr>
        <p:spPr>
          <a:xfrm xmlns:a="http://schemas.openxmlformats.org/drawingml/2006/main">
            <a:off x="2133600" y="2695575"/>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5" name=""/>
          <p:cNvCxnSpPr>
            <a:stCxn xmlns:a="http://schemas.openxmlformats.org/drawingml/2006/main" id="9" idx="3"/>
            <a:endCxn xmlns:a="http://schemas.openxmlformats.org/drawingml/2006/main" id="12" idx="1"/>
          </p:cNvCxnSpPr>
          <p:nvPr/>
        </p:nvCxnSpPr>
        <p:spPr>
          <a:xfrm xmlns:a="http://schemas.openxmlformats.org/drawingml/2006/main">
            <a:off x="3886200" y="2695575"/>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6" name=""/>
          <p:cNvCxnSpPr>
            <a:stCxn xmlns:a="http://schemas.openxmlformats.org/drawingml/2006/main" id="12" idx="3"/>
            <a:endCxn xmlns:a="http://schemas.openxmlformats.org/drawingml/2006/main" id="15" idx="1"/>
          </p:cNvCxnSpPr>
          <p:nvPr/>
        </p:nvCxnSpPr>
        <p:spPr>
          <a:xfrm xmlns:a="http://schemas.openxmlformats.org/drawingml/2006/main">
            <a:off x="5638800" y="2695575"/>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7" name=""/>
          <p:cNvCxnSpPr>
            <a:stCxn xmlns:a="http://schemas.openxmlformats.org/drawingml/2006/main" id="15" idx="3"/>
            <a:endCxn xmlns:a="http://schemas.openxmlformats.org/drawingml/2006/main" id="18" idx="1"/>
          </p:cNvCxnSpPr>
          <p:nvPr/>
        </p:nvCxnSpPr>
        <p:spPr>
          <a:xfrm xmlns:a="http://schemas.openxmlformats.org/drawingml/2006/main">
            <a:off x="7391400" y="2695575"/>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cxnSp>
        <p:nvCxnSpPr>
          <p:cNvPr id="58" name=""/>
          <p:cNvCxnSpPr>
            <a:stCxn xmlns:a="http://schemas.openxmlformats.org/drawingml/2006/main" id="18" idx="3"/>
            <a:endCxn xmlns:a="http://schemas.openxmlformats.org/drawingml/2006/main" id="21" idx="1"/>
          </p:cNvCxnSpPr>
          <p:nvPr/>
        </p:nvCxnSpPr>
        <p:spPr>
          <a:xfrm xmlns:a="http://schemas.openxmlformats.org/drawingml/2006/main">
            <a:off x="9144000" y="2695575"/>
            <a:ext cx="304800" cy="0"/>
          </a:xfrm>
          <a:prstGeom xmlns:a="http://schemas.openxmlformats.org/drawingml/2006/main" prst="straightConnector1">
            <a:avLst/>
          </a:prstGeom>
          <a:ln xmlns:a="http://schemas.openxmlformats.org/drawingml/2006/main" w="19050">
            <a:solidFill>
              <a:srgbClr val="CBBFAF"/>
            </a:solidFill>
            <a:prstDash val="solid"/>
            <a:tailEnd type="triangle" w="sm" len="sm"/>
          </a:ln>
        </p:spPr>
      </p:cxnSp>
      <p:sp>
        <p:nvSpPr>
          <p:cNvPr id="29" name="">
            <a:extLst xmlns:a="http://schemas.openxmlformats.org/drawingml/2006/main">
              <a:ext uri="{FF2B5EF4-FFF2-40B4-BE49-F238E27FC236}">
                <a16:creationId xmlns:a16="http://schemas.microsoft.com/office/drawing/2014/main" id="{F94578E3-08F8-44C0-8328-47EC73652BA9}"/>
              </a:ext>
            </a:extLst>
          </p:cNvPr>
          <p:cNvSpPr>
            <a:spLocks xmlns:a="http://schemas.openxmlformats.org/drawingml/2006/main" noGrp="1"/>
          </p:cNvSpPr>
          <p:nvPr/>
        </p:nvSpPr>
        <p:spPr>
          <a:xfrm xmlns:a="http://schemas.openxmlformats.org/drawingml/2006/main">
            <a:off x="685800" y="4019550"/>
            <a:ext cx="10820400" cy="1314450"/>
          </a:xfrm>
          <a:prstGeom xmlns:a="http://schemas.openxmlformats.org/drawingml/2006/main" prst="roundRect">
            <a:avLst>
              <a:gd name="adj" fmla="val 14493"/>
            </a:avLst>
          </a:prstGeom>
          <a:solidFill xmlns:a="http://schemas.openxmlformats.org/drawingml/2006/main">
            <a:srgbClr val="081A33"/>
          </a:solidFill>
          <a:ln xmlns:a="http://schemas.openxmlformats.org/drawingml/2006/main" w="9525">
            <a:solidFill>
              <a:srgbClr val="081A33"/>
            </a:solidFill>
            <a:prstDash val="solid"/>
          </a:ln>
        </p:spPr>
      </p:sp>
      <p:sp>
        <p:nvSpPr>
          <p:cNvPr id="30" name="">
            <a:extLst xmlns:a="http://schemas.openxmlformats.org/drawingml/2006/main">
              <a:ext uri="{FF2B5EF4-FFF2-40B4-BE49-F238E27FC236}">
                <a16:creationId xmlns:a16="http://schemas.microsoft.com/office/drawing/2014/main" id="{FA17D4FB-CAED-465F-9C38-6E553D5FE3D7}"/>
              </a:ext>
            </a:extLst>
          </p:cNvPr>
          <p:cNvSpPr>
            <a:spLocks xmlns:a="http://schemas.openxmlformats.org/drawingml/2006/main" noGrp="1"/>
          </p:cNvSpPr>
          <p:nvPr/>
        </p:nvSpPr>
        <p:spPr>
          <a:xfrm xmlns:a="http://schemas.openxmlformats.org/drawingml/2006/main">
            <a:off x="990600" y="4267200"/>
            <a:ext cx="10210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XONG = code chạy  +  test tối thiểu  +  pnpm check xanh  +  1 review  +  sheet cập nhật</a:t>
            </a:r>
          </a:p>
        </p:txBody>
      </p:sp>
    </p:spTree>
    <p:extLst>
      <p:ext uri="{BB962C8B-B14F-4D97-AF65-F5344CB8AC3E}">
        <p14:creationId xmlns:p14="http://schemas.microsoft.com/office/powerpoint/2010/main" val="557216971"/>
      </p:ext>
    </p:extLst>
  </p:cSld>
</p:sld>
</file>

<file path=ppt/slides/slide3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278A1B4-6B11-47F8-973E-37AA0141BB29}"/>
              </a:ext>
            </a:extLst>
          </p:cNvPr>
          <p:cNvSpPr>
            <a:spLocks xmlns:a="http://schemas.openxmlformats.org/drawingml/2006/main" noGrp="1"/>
          </p:cNvSpPr>
          <p:nvPr/>
        </p:nvSpPr>
        <p:spPr>
          <a:xfrm xmlns:a="http://schemas.openxmlformats.org/drawingml/2006/main">
            <a:off x="68580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C23B22"/>
                </a:solidFill>
              </a:defRPr>
            </a:pPr>
            <a:r>
              <a:rPr sz="900" b="1">
                <a:solidFill>
                  <a:srgbClr val="C23B22"/>
                </a:solidFill>
              </a:rPr>
              <a:t>APC PORTAL • TEAM KICKOFF</a:t>
            </a:r>
          </a:p>
        </p:txBody>
      </p:sp>
      <p:sp>
        <p:nvSpPr>
          <p:cNvPr id="2" name="slide-title">
            <a:extLst xmlns:a="http://schemas.openxmlformats.org/drawingml/2006/main">
              <a:ext uri="{FF2B5EF4-FFF2-40B4-BE49-F238E27FC236}">
                <a16:creationId xmlns:a16="http://schemas.microsoft.com/office/drawing/2014/main" id="{0F82F702-5270-43DB-8492-4E70A768556E}"/>
              </a:ext>
            </a:extLst>
          </p:cNvPr>
          <p:cNvSpPr>
            <a:spLocks xmlns:a="http://schemas.openxmlformats.org/drawingml/2006/main" noGrp="1"/>
          </p:cNvSpPr>
          <p:nvPr/>
        </p:nvSpPr>
        <p:spPr>
          <a:xfrm xmlns:a="http://schemas.openxmlformats.org/drawingml/2006/main">
            <a:off x="685800" y="647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01A16"/>
                </a:solidFill>
              </a:defRPr>
            </a:pPr>
            <a:r>
              <a:rPr sz="2700" b="1">
                <a:solidFill>
                  <a:srgbClr val="201A16"/>
                </a:solidFill>
              </a:rPr>
              <a:t>Quy ước phối hợp và xử lý blocker</a:t>
            </a:r>
          </a:p>
        </p:txBody>
      </p:sp>
      <p:sp>
        <p:nvSpPr>
          <p:cNvPr id="3" name="">
            <a:extLst xmlns:a="http://schemas.openxmlformats.org/drawingml/2006/main">
              <a:ext uri="{FF2B5EF4-FFF2-40B4-BE49-F238E27FC236}">
                <a16:creationId xmlns:a16="http://schemas.microsoft.com/office/drawing/2014/main" id="{68934754-E15B-4699-87D3-8AC2399407B6}"/>
              </a:ext>
            </a:extLst>
          </p:cNvPr>
          <p:cNvSpPr>
            <a:spLocks xmlns:a="http://schemas.openxmlformats.org/drawingml/2006/main" noGrp="1"/>
          </p:cNvSpPr>
          <p:nvPr/>
        </p:nvSpPr>
        <p:spPr>
          <a:xfrm xmlns:a="http://schemas.openxmlformats.org/drawingml/2006/main">
            <a:off x="685800" y="1257300"/>
            <a:ext cx="1082040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4" name="">
            <a:extLst xmlns:a="http://schemas.openxmlformats.org/drawingml/2006/main">
              <a:ext uri="{FF2B5EF4-FFF2-40B4-BE49-F238E27FC236}">
                <a16:creationId xmlns:a16="http://schemas.microsoft.com/office/drawing/2014/main" id="{9ADA4F60-771C-4CE7-B403-64CA499D6BC6}"/>
              </a:ext>
            </a:extLst>
          </p:cNvPr>
          <p:cNvSpPr>
            <a:spLocks xmlns:a="http://schemas.openxmlformats.org/drawingml/2006/main" noGrp="1"/>
          </p:cNvSpPr>
          <p:nvPr/>
        </p:nvSpPr>
        <p:spPr>
          <a:xfrm xmlns:a="http://schemas.openxmlformats.org/drawingml/2006/main">
            <a:off x="685800" y="65151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B5F55"/>
                </a:solidFill>
              </a:defRPr>
            </a:pPr>
            <a:r>
              <a:rPr sz="825" b="1">
                <a:solidFill>
                  <a:srgbClr val="6B5F55"/>
                </a:solidFill>
              </a:rPr>
              <a:t>APC PORTAL</a:t>
            </a:r>
          </a:p>
        </p:txBody>
      </p:sp>
      <p:sp>
        <p:nvSpPr>
          <p:cNvPr id="5" name="">
            <a:extLst xmlns:a="http://schemas.openxmlformats.org/drawingml/2006/main">
              <a:ext uri="{FF2B5EF4-FFF2-40B4-BE49-F238E27FC236}">
                <a16:creationId xmlns:a16="http://schemas.microsoft.com/office/drawing/2014/main" id="{A4CF682C-89C3-4218-A51A-A057D360FF01}"/>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6B5F55"/>
                </a:solidFill>
              </a:defRPr>
            </a:pPr>
            <a:r>
              <a:rPr sz="825" b="1">
                <a:solidFill>
                  <a:srgbClr val="6B5F55"/>
                </a:solidFill>
              </a:rPr>
              <a:t>36</a:t>
            </a:r>
          </a:p>
        </p:txBody>
      </p:sp>
      <p:sp>
        <p:nvSpPr>
          <p:cNvPr id="6" name="">
            <a:extLst xmlns:a="http://schemas.openxmlformats.org/drawingml/2006/main">
              <a:ext uri="{FF2B5EF4-FFF2-40B4-BE49-F238E27FC236}">
                <a16:creationId xmlns:a16="http://schemas.microsoft.com/office/drawing/2014/main" id="{E4CED992-5F85-4CFF-84A7-8AD02C6444E1}"/>
              </a:ext>
            </a:extLst>
          </p:cNvPr>
          <p:cNvSpPr>
            <a:spLocks xmlns:a="http://schemas.openxmlformats.org/drawingml/2006/main" noGrp="1"/>
          </p:cNvSpPr>
          <p:nvPr/>
        </p:nvSpPr>
        <p:spPr>
          <a:xfrm xmlns:a="http://schemas.openxmlformats.org/drawingml/2006/main">
            <a:off x="800100" y="1657350"/>
            <a:ext cx="72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C23B22"/>
                </a:solidFill>
              </a:defRPr>
            </a:pPr>
            <a:r>
              <a:rPr sz="2550" b="1">
                <a:solidFill>
                  <a:srgbClr val="C23B22"/>
                </a:solidFill>
              </a:rPr>
              <a:t>01</a:t>
            </a:r>
          </a:p>
        </p:txBody>
      </p:sp>
      <p:sp>
        <p:nvSpPr>
          <p:cNvPr id="7" name="">
            <a:extLst xmlns:a="http://schemas.openxmlformats.org/drawingml/2006/main">
              <a:ext uri="{FF2B5EF4-FFF2-40B4-BE49-F238E27FC236}">
                <a16:creationId xmlns:a16="http://schemas.microsoft.com/office/drawing/2014/main" id="{88B79429-2248-4262-9AA1-F557EC4006CB}"/>
              </a:ext>
            </a:extLst>
          </p:cNvPr>
          <p:cNvSpPr>
            <a:spLocks xmlns:a="http://schemas.openxmlformats.org/drawingml/2006/main" noGrp="1"/>
          </p:cNvSpPr>
          <p:nvPr/>
        </p:nvSpPr>
        <p:spPr>
          <a:xfrm xmlns:a="http://schemas.openxmlformats.org/drawingml/2006/main">
            <a:off x="1809750" y="1657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Kẹt quá nửa ngày</a:t>
            </a:r>
          </a:p>
        </p:txBody>
      </p:sp>
      <p:sp>
        <p:nvSpPr>
          <p:cNvPr id="8" name="">
            <a:extLst xmlns:a="http://schemas.openxmlformats.org/drawingml/2006/main">
              <a:ext uri="{FF2B5EF4-FFF2-40B4-BE49-F238E27FC236}">
                <a16:creationId xmlns:a16="http://schemas.microsoft.com/office/drawing/2014/main" id="{F1AC4664-0AD7-4419-BDF7-4CC86C0B6F3F}"/>
              </a:ext>
            </a:extLst>
          </p:cNvPr>
          <p:cNvSpPr>
            <a:spLocks xmlns:a="http://schemas.openxmlformats.org/drawingml/2006/main" noGrp="1"/>
          </p:cNvSpPr>
          <p:nvPr/>
        </p:nvSpPr>
        <p:spPr>
          <a:xfrm xmlns:a="http://schemas.openxmlformats.org/drawingml/2006/main">
            <a:off x="5429250" y="1657350"/>
            <a:ext cx="561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Chuyển trạng thái Blocked và ghi lý do.</a:t>
            </a:r>
          </a:p>
        </p:txBody>
      </p:sp>
      <p:sp>
        <p:nvSpPr>
          <p:cNvPr id="9" name="">
            <a:extLst xmlns:a="http://schemas.openxmlformats.org/drawingml/2006/main">
              <a:ext uri="{FF2B5EF4-FFF2-40B4-BE49-F238E27FC236}">
                <a16:creationId xmlns:a16="http://schemas.microsoft.com/office/drawing/2014/main" id="{B5686C31-8B84-48E3-9476-C8D580411A44}"/>
              </a:ext>
            </a:extLst>
          </p:cNvPr>
          <p:cNvSpPr>
            <a:spLocks xmlns:a="http://schemas.openxmlformats.org/drawingml/2006/main" noGrp="1"/>
          </p:cNvSpPr>
          <p:nvPr/>
        </p:nvSpPr>
        <p:spPr>
          <a:xfrm xmlns:a="http://schemas.openxmlformats.org/drawingml/2006/main">
            <a:off x="1809750" y="2343150"/>
            <a:ext cx="9239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0" name="">
            <a:extLst xmlns:a="http://schemas.openxmlformats.org/drawingml/2006/main">
              <a:ext uri="{FF2B5EF4-FFF2-40B4-BE49-F238E27FC236}">
                <a16:creationId xmlns:a16="http://schemas.microsoft.com/office/drawing/2014/main" id="{CFD9A436-38D2-4A54-9C3A-C1E95CA4D774}"/>
              </a:ext>
            </a:extLst>
          </p:cNvPr>
          <p:cNvSpPr>
            <a:spLocks xmlns:a="http://schemas.openxmlformats.org/drawingml/2006/main" noGrp="1"/>
          </p:cNvSpPr>
          <p:nvPr/>
        </p:nvSpPr>
        <p:spPr>
          <a:xfrm xmlns:a="http://schemas.openxmlformats.org/drawingml/2006/main">
            <a:off x="800100" y="2647950"/>
            <a:ext cx="72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568C9"/>
                </a:solidFill>
              </a:defRPr>
            </a:pPr>
            <a:r>
              <a:rPr sz="2550" b="1">
                <a:solidFill>
                  <a:srgbClr val="1568C9"/>
                </a:solidFill>
              </a:rPr>
              <a:t>02</a:t>
            </a:r>
          </a:p>
        </p:txBody>
      </p:sp>
      <p:sp>
        <p:nvSpPr>
          <p:cNvPr id="11" name="">
            <a:extLst xmlns:a="http://schemas.openxmlformats.org/drawingml/2006/main">
              <a:ext uri="{FF2B5EF4-FFF2-40B4-BE49-F238E27FC236}">
                <a16:creationId xmlns:a16="http://schemas.microsoft.com/office/drawing/2014/main" id="{F87B85A9-19B8-4A82-910D-FCA9A8ECEDA8}"/>
              </a:ext>
            </a:extLst>
          </p:cNvPr>
          <p:cNvSpPr>
            <a:spLocks xmlns:a="http://schemas.openxmlformats.org/drawingml/2006/main" noGrp="1"/>
          </p:cNvSpPr>
          <p:nvPr/>
        </p:nvSpPr>
        <p:spPr>
          <a:xfrm xmlns:a="http://schemas.openxmlformats.org/drawingml/2006/main">
            <a:off x="1809750" y="26479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Check-in hai lần/tuần</a:t>
            </a:r>
          </a:p>
        </p:txBody>
      </p:sp>
      <p:sp>
        <p:nvSpPr>
          <p:cNvPr id="12" name="">
            <a:extLst xmlns:a="http://schemas.openxmlformats.org/drawingml/2006/main">
              <a:ext uri="{FF2B5EF4-FFF2-40B4-BE49-F238E27FC236}">
                <a16:creationId xmlns:a16="http://schemas.microsoft.com/office/drawing/2014/main" id="{DEF071B5-98D7-44A5-909C-648E07E61A77}"/>
              </a:ext>
            </a:extLst>
          </p:cNvPr>
          <p:cNvSpPr>
            <a:spLocks xmlns:a="http://schemas.openxmlformats.org/drawingml/2006/main" noGrp="1"/>
          </p:cNvSpPr>
          <p:nvPr/>
        </p:nvSpPr>
        <p:spPr>
          <a:xfrm xmlns:a="http://schemas.openxmlformats.org/drawingml/2006/main">
            <a:off x="5429250" y="2647950"/>
            <a:ext cx="561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Cập nhật trạng thái trước buổi họp.</a:t>
            </a:r>
          </a:p>
        </p:txBody>
      </p:sp>
      <p:sp>
        <p:nvSpPr>
          <p:cNvPr id="13" name="">
            <a:extLst xmlns:a="http://schemas.openxmlformats.org/drawingml/2006/main">
              <a:ext uri="{FF2B5EF4-FFF2-40B4-BE49-F238E27FC236}">
                <a16:creationId xmlns:a16="http://schemas.microsoft.com/office/drawing/2014/main" id="{EC210FA4-9F0D-4A4B-982D-90CE527AEC83}"/>
              </a:ext>
            </a:extLst>
          </p:cNvPr>
          <p:cNvSpPr>
            <a:spLocks xmlns:a="http://schemas.openxmlformats.org/drawingml/2006/main" noGrp="1"/>
          </p:cNvSpPr>
          <p:nvPr/>
        </p:nvSpPr>
        <p:spPr>
          <a:xfrm xmlns:a="http://schemas.openxmlformats.org/drawingml/2006/main">
            <a:off x="1809750" y="3333750"/>
            <a:ext cx="9239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4" name="">
            <a:extLst xmlns:a="http://schemas.openxmlformats.org/drawingml/2006/main">
              <a:ext uri="{FF2B5EF4-FFF2-40B4-BE49-F238E27FC236}">
                <a16:creationId xmlns:a16="http://schemas.microsoft.com/office/drawing/2014/main" id="{794E822F-FA77-4186-B3FF-EF4D620E36FB}"/>
              </a:ext>
            </a:extLst>
          </p:cNvPr>
          <p:cNvSpPr>
            <a:spLocks xmlns:a="http://schemas.openxmlformats.org/drawingml/2006/main" noGrp="1"/>
          </p:cNvSpPr>
          <p:nvPr/>
        </p:nvSpPr>
        <p:spPr>
          <a:xfrm xmlns:a="http://schemas.openxmlformats.org/drawingml/2006/main">
            <a:off x="800100" y="3638550"/>
            <a:ext cx="72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F0A202"/>
                </a:solidFill>
              </a:defRPr>
            </a:pPr>
            <a:r>
              <a:rPr sz="2550" b="1">
                <a:solidFill>
                  <a:srgbClr val="F0A202"/>
                </a:solidFill>
              </a:rPr>
              <a:t>03</a:t>
            </a:r>
          </a:p>
        </p:txBody>
      </p:sp>
      <p:sp>
        <p:nvSpPr>
          <p:cNvPr id="15" name="">
            <a:extLst xmlns:a="http://schemas.openxmlformats.org/drawingml/2006/main">
              <a:ext uri="{FF2B5EF4-FFF2-40B4-BE49-F238E27FC236}">
                <a16:creationId xmlns:a16="http://schemas.microsoft.com/office/drawing/2014/main" id="{5F2D37C6-9965-42B1-91BE-9597C30A758E}"/>
              </a:ext>
            </a:extLst>
          </p:cNvPr>
          <p:cNvSpPr>
            <a:spLocks xmlns:a="http://schemas.openxmlformats.org/drawingml/2006/main" noGrp="1"/>
          </p:cNvSpPr>
          <p:nvPr/>
        </p:nvSpPr>
        <p:spPr>
          <a:xfrm xmlns:a="http://schemas.openxmlformats.org/drawingml/2006/main">
            <a:off x="1809750" y="3638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P0 trước P1</a:t>
            </a:r>
          </a:p>
        </p:txBody>
      </p:sp>
      <p:sp>
        <p:nvSpPr>
          <p:cNvPr id="16" name="">
            <a:extLst xmlns:a="http://schemas.openxmlformats.org/drawingml/2006/main">
              <a:ext uri="{FF2B5EF4-FFF2-40B4-BE49-F238E27FC236}">
                <a16:creationId xmlns:a16="http://schemas.microsoft.com/office/drawing/2014/main" id="{C4E09890-49DA-4C9F-869F-1B37C756FDF1}"/>
              </a:ext>
            </a:extLst>
          </p:cNvPr>
          <p:cNvSpPr>
            <a:spLocks xmlns:a="http://schemas.openxmlformats.org/drawingml/2006/main" noGrp="1"/>
          </p:cNvSpPr>
          <p:nvPr/>
        </p:nvSpPr>
        <p:spPr>
          <a:xfrm xmlns:a="http://schemas.openxmlformats.org/drawingml/2006/main">
            <a:off x="5429250" y="3638550"/>
            <a:ext cx="561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Không mở thêm việc khi nút chặn chưa xong.</a:t>
            </a:r>
          </a:p>
        </p:txBody>
      </p:sp>
      <p:sp>
        <p:nvSpPr>
          <p:cNvPr id="17" name="">
            <a:extLst xmlns:a="http://schemas.openxmlformats.org/drawingml/2006/main">
              <a:ext uri="{FF2B5EF4-FFF2-40B4-BE49-F238E27FC236}">
                <a16:creationId xmlns:a16="http://schemas.microsoft.com/office/drawing/2014/main" id="{2E8ADF56-7AE5-40DF-B01A-369D6AC30B85}"/>
              </a:ext>
            </a:extLst>
          </p:cNvPr>
          <p:cNvSpPr>
            <a:spLocks xmlns:a="http://schemas.openxmlformats.org/drawingml/2006/main" noGrp="1"/>
          </p:cNvSpPr>
          <p:nvPr/>
        </p:nvSpPr>
        <p:spPr>
          <a:xfrm xmlns:a="http://schemas.openxmlformats.org/drawingml/2006/main">
            <a:off x="1809750" y="4324350"/>
            <a:ext cx="9239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
        <p:nvSpPr>
          <p:cNvPr id="18" name="">
            <a:extLst xmlns:a="http://schemas.openxmlformats.org/drawingml/2006/main">
              <a:ext uri="{FF2B5EF4-FFF2-40B4-BE49-F238E27FC236}">
                <a16:creationId xmlns:a16="http://schemas.microsoft.com/office/drawing/2014/main" id="{99CCF125-CED8-448B-A73D-7BE9C3356B79}"/>
              </a:ext>
            </a:extLst>
          </p:cNvPr>
          <p:cNvSpPr>
            <a:spLocks xmlns:a="http://schemas.openxmlformats.org/drawingml/2006/main" noGrp="1"/>
          </p:cNvSpPr>
          <p:nvPr/>
        </p:nvSpPr>
        <p:spPr>
          <a:xfrm xmlns:a="http://schemas.openxmlformats.org/drawingml/2006/main">
            <a:off x="800100" y="4629150"/>
            <a:ext cx="72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E9F6E"/>
                </a:solidFill>
              </a:defRPr>
            </a:pPr>
            <a:r>
              <a:rPr sz="2550" b="1">
                <a:solidFill>
                  <a:srgbClr val="0E9F6E"/>
                </a:solidFill>
              </a:rPr>
              <a:t>04</a:t>
            </a:r>
          </a:p>
        </p:txBody>
      </p:sp>
      <p:sp>
        <p:nvSpPr>
          <p:cNvPr id="19" name="">
            <a:extLst xmlns:a="http://schemas.openxmlformats.org/drawingml/2006/main">
              <a:ext uri="{FF2B5EF4-FFF2-40B4-BE49-F238E27FC236}">
                <a16:creationId xmlns:a16="http://schemas.microsoft.com/office/drawing/2014/main" id="{A4C95DCF-B938-495E-8995-FE115BB9F071}"/>
              </a:ext>
            </a:extLst>
          </p:cNvPr>
          <p:cNvSpPr>
            <a:spLocks xmlns:a="http://schemas.openxmlformats.org/drawingml/2006/main" noGrp="1"/>
          </p:cNvSpPr>
          <p:nvPr/>
        </p:nvSpPr>
        <p:spPr>
          <a:xfrm xmlns:a="http://schemas.openxmlformats.org/drawingml/2006/main">
            <a:off x="1809750" y="46291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01A16"/>
                </a:solidFill>
              </a:defRPr>
            </a:pPr>
            <a:r>
              <a:rPr sz="1875" b="1">
                <a:solidFill>
                  <a:srgbClr val="201A16"/>
                </a:solidFill>
              </a:rPr>
              <a:t>Không push thẳng main</a:t>
            </a:r>
          </a:p>
        </p:txBody>
      </p:sp>
      <p:sp>
        <p:nvSpPr>
          <p:cNvPr id="20" name="">
            <a:extLst xmlns:a="http://schemas.openxmlformats.org/drawingml/2006/main">
              <a:ext uri="{FF2B5EF4-FFF2-40B4-BE49-F238E27FC236}">
                <a16:creationId xmlns:a16="http://schemas.microsoft.com/office/drawing/2014/main" id="{EB1FC824-CC02-49A7-BCC2-083376FCB7EF}"/>
              </a:ext>
            </a:extLst>
          </p:cNvPr>
          <p:cNvSpPr>
            <a:spLocks xmlns:a="http://schemas.openxmlformats.org/drawingml/2006/main" noGrp="1"/>
          </p:cNvSpPr>
          <p:nvPr/>
        </p:nvSpPr>
        <p:spPr>
          <a:xfrm xmlns:a="http://schemas.openxmlformats.org/drawingml/2006/main">
            <a:off x="5429250" y="4629150"/>
            <a:ext cx="561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B5F55"/>
                </a:solidFill>
              </a:defRPr>
            </a:pPr>
            <a:r>
              <a:rPr sz="1500" b="0">
                <a:solidFill>
                  <a:srgbClr val="6B5F55"/>
                </a:solidFill>
              </a:rPr>
              <a:t>Mỗi thay đổi đi qua PR, review và CI.</a:t>
            </a:r>
          </a:p>
        </p:txBody>
      </p:sp>
      <p:sp>
        <p:nvSpPr>
          <p:cNvPr id="21" name="">
            <a:extLst xmlns:a="http://schemas.openxmlformats.org/drawingml/2006/main">
              <a:ext uri="{FF2B5EF4-FFF2-40B4-BE49-F238E27FC236}">
                <a16:creationId xmlns:a16="http://schemas.microsoft.com/office/drawing/2014/main" id="{57F08904-0E10-4EF9-ABFD-E75347054B01}"/>
              </a:ext>
            </a:extLst>
          </p:cNvPr>
          <p:cNvSpPr>
            <a:spLocks xmlns:a="http://schemas.openxmlformats.org/drawingml/2006/main" noGrp="1"/>
          </p:cNvSpPr>
          <p:nvPr/>
        </p:nvSpPr>
        <p:spPr>
          <a:xfrm xmlns:a="http://schemas.openxmlformats.org/drawingml/2006/main">
            <a:off x="1809750" y="5314950"/>
            <a:ext cx="9239250" cy="0"/>
          </a:xfrm>
          <a:prstGeom xmlns:a="http://schemas.openxmlformats.org/drawingml/2006/main" prst="line">
            <a:avLst/>
          </a:prstGeom>
          <a:noFill xmlns:a="http://schemas.openxmlformats.org/drawingml/2006/main"/>
          <a:ln xmlns:a="http://schemas.openxmlformats.org/drawingml/2006/main" w="9525">
            <a:solidFill>
              <a:srgbClr val="E7DFD5"/>
            </a:solidFill>
            <a:prstDash val="solid"/>
          </a:ln>
        </p:spPr>
      </p:sp>
    </p:spTree>
    <p:extLst>
      <p:ext uri="{BB962C8B-B14F-4D97-AF65-F5344CB8AC3E}">
        <p14:creationId xmlns:p14="http://schemas.microsoft.com/office/powerpoint/2010/main" val="1350315201"/>
      </p:ext>
    </p:extLst>
  </p:cSld>
</p:sld>
</file>

<file path=ppt/slides/slide37.xml><?xml version="1.0" encoding="utf-8"?>
<p:sld xmlns:p="http://schemas.openxmlformats.org/presentationml/2006/main">
  <p:cSld>
    <p:bg>
      <p:bgPr>
        <a:solidFill xmlns:a="http://schemas.openxmlformats.org/drawingml/2006/main">
          <a:srgbClr val="081A3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E9F7240-E015-4238-BE14-EBEBE3544423}"/>
              </a:ext>
            </a:extLst>
          </p:cNvPr>
          <p:cNvSpPr>
            <a:spLocks xmlns:a="http://schemas.openxmlformats.org/drawingml/2006/main" noGrp="1"/>
          </p:cNvSpPr>
          <p:nvPr/>
        </p:nvSpPr>
        <p:spPr>
          <a:xfrm xmlns:a="http://schemas.openxmlformats.org/drawingml/2006/main">
            <a:off x="685800" y="666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0A202"/>
                </a:solidFill>
              </a:defRPr>
            </a:pPr>
            <a:r>
              <a:rPr sz="1050" b="1">
                <a:solidFill>
                  <a:srgbClr val="F0A202"/>
                </a:solidFill>
              </a:rPr>
              <a:t>BẮT ĐẦU NGAY</a:t>
            </a:r>
          </a:p>
        </p:txBody>
      </p:sp>
      <p:sp>
        <p:nvSpPr>
          <p:cNvPr id="2" name="">
            <a:extLst xmlns:a="http://schemas.openxmlformats.org/drawingml/2006/main">
              <a:ext uri="{FF2B5EF4-FFF2-40B4-BE49-F238E27FC236}">
                <a16:creationId xmlns:a16="http://schemas.microsoft.com/office/drawing/2014/main" id="{EA9913FB-DAD3-497C-91A7-44E8FE248D98}"/>
              </a:ext>
            </a:extLst>
          </p:cNvPr>
          <p:cNvSpPr>
            <a:spLocks xmlns:a="http://schemas.openxmlformats.org/drawingml/2006/main" noGrp="1"/>
          </p:cNvSpPr>
          <p:nvPr/>
        </p:nvSpPr>
        <p:spPr>
          <a:xfrm xmlns:a="http://schemas.openxmlformats.org/drawingml/2006/main">
            <a:off x="685800" y="1123950"/>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225" b="1">
                <a:solidFill>
                  <a:srgbClr val="FFFFFF"/>
                </a:solidFill>
              </a:defRPr>
            </a:pPr>
            <a:r>
              <a:rPr sz="3225" b="1">
                <a:solidFill>
                  <a:srgbClr val="FFFFFF"/>
                </a:solidFill>
              </a:rPr>
              <a:t>Bốn việc sau buổi kickoff</a:t>
            </a:r>
          </a:p>
        </p:txBody>
      </p:sp>
      <p:sp>
        <p:nvSpPr>
          <p:cNvPr id="3" name="">
            <a:extLst xmlns:a="http://schemas.openxmlformats.org/drawingml/2006/main">
              <a:ext uri="{FF2B5EF4-FFF2-40B4-BE49-F238E27FC236}">
                <a16:creationId xmlns:a16="http://schemas.microsoft.com/office/drawing/2014/main" id="{70E61CBA-FD66-4EF1-A5CD-DF297E80A391}"/>
              </a:ext>
            </a:extLst>
          </p:cNvPr>
          <p:cNvSpPr>
            <a:spLocks xmlns:a="http://schemas.openxmlformats.org/drawingml/2006/main" noGrp="1"/>
          </p:cNvSpPr>
          <p:nvPr/>
        </p:nvSpPr>
        <p:spPr>
          <a:xfrm xmlns:a="http://schemas.openxmlformats.org/drawingml/2006/main">
            <a:off x="685800" y="2171700"/>
            <a:ext cx="495300" cy="4953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01</a:t>
            </a:r>
          </a:p>
        </p:txBody>
      </p:sp>
      <p:sp>
        <p:nvSpPr>
          <p:cNvPr id="4" name="">
            <a:extLst xmlns:a="http://schemas.openxmlformats.org/drawingml/2006/main">
              <a:ext uri="{FF2B5EF4-FFF2-40B4-BE49-F238E27FC236}">
                <a16:creationId xmlns:a16="http://schemas.microsoft.com/office/drawing/2014/main" id="{10F643C2-666E-47A2-A0FD-0FD475978E03}"/>
              </a:ext>
            </a:extLst>
          </p:cNvPr>
          <p:cNvSpPr>
            <a:spLocks xmlns:a="http://schemas.openxmlformats.org/drawingml/2006/main" noGrp="1"/>
          </p:cNvSpPr>
          <p:nvPr/>
        </p:nvSpPr>
        <p:spPr>
          <a:xfrm xmlns:a="http://schemas.openxmlformats.org/drawingml/2006/main">
            <a:off x="1428750" y="21717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Mỗi người chạy được dự án local</a:t>
            </a:r>
          </a:p>
        </p:txBody>
      </p:sp>
      <p:sp>
        <p:nvSpPr>
          <p:cNvPr id="5" name="">
            <a:extLst xmlns:a="http://schemas.openxmlformats.org/drawingml/2006/main">
              <a:ext uri="{FF2B5EF4-FFF2-40B4-BE49-F238E27FC236}">
                <a16:creationId xmlns:a16="http://schemas.microsoft.com/office/drawing/2014/main" id="{F7447C54-1B14-4105-ABEF-D034C90C62BB}"/>
              </a:ext>
            </a:extLst>
          </p:cNvPr>
          <p:cNvSpPr>
            <a:spLocks xmlns:a="http://schemas.openxmlformats.org/drawingml/2006/main" noGrp="1"/>
          </p:cNvSpPr>
          <p:nvPr/>
        </p:nvSpPr>
        <p:spPr>
          <a:xfrm xmlns:a="http://schemas.openxmlformats.org/drawingml/2006/main">
            <a:off x="8877300" y="21717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425" b="1">
                <a:solidFill>
                  <a:srgbClr val="B8C9E2"/>
                </a:solidFill>
              </a:defRPr>
            </a:pPr>
            <a:r>
              <a:rPr sz="1425" b="1">
                <a:solidFill>
                  <a:srgbClr val="B8C9E2"/>
                </a:solidFill>
              </a:rPr>
              <a:t>Ngày mai</a:t>
            </a:r>
          </a:p>
        </p:txBody>
      </p:sp>
      <p:sp>
        <p:nvSpPr>
          <p:cNvPr id="6" name="">
            <a:extLst xmlns:a="http://schemas.openxmlformats.org/drawingml/2006/main">
              <a:ext uri="{FF2B5EF4-FFF2-40B4-BE49-F238E27FC236}">
                <a16:creationId xmlns:a16="http://schemas.microsoft.com/office/drawing/2014/main" id="{12D2EF8F-7EB8-4BF9-A9CF-D5E8CD290DB2}"/>
              </a:ext>
            </a:extLst>
          </p:cNvPr>
          <p:cNvSpPr>
            <a:spLocks xmlns:a="http://schemas.openxmlformats.org/drawingml/2006/main" noGrp="1"/>
          </p:cNvSpPr>
          <p:nvPr/>
        </p:nvSpPr>
        <p:spPr>
          <a:xfrm xmlns:a="http://schemas.openxmlformats.org/drawingml/2006/main">
            <a:off x="1428750" y="2781300"/>
            <a:ext cx="9925050" cy="0"/>
          </a:xfrm>
          <a:prstGeom xmlns:a="http://schemas.openxmlformats.org/drawingml/2006/main" prst="line">
            <a:avLst/>
          </a:prstGeom>
          <a:noFill xmlns:a="http://schemas.openxmlformats.org/drawingml/2006/main"/>
          <a:ln xmlns:a="http://schemas.openxmlformats.org/drawingml/2006/main" w="9525">
            <a:solidFill>
              <a:srgbClr val="233A59"/>
            </a:solidFill>
            <a:prstDash val="solid"/>
          </a:ln>
        </p:spPr>
      </p:sp>
      <p:sp>
        <p:nvSpPr>
          <p:cNvPr id="7" name="">
            <a:extLst xmlns:a="http://schemas.openxmlformats.org/drawingml/2006/main">
              <a:ext uri="{FF2B5EF4-FFF2-40B4-BE49-F238E27FC236}">
                <a16:creationId xmlns:a16="http://schemas.microsoft.com/office/drawing/2014/main" id="{3ED56B82-61DC-4ACA-B468-698569BE9F87}"/>
              </a:ext>
            </a:extLst>
          </p:cNvPr>
          <p:cNvSpPr>
            <a:spLocks xmlns:a="http://schemas.openxmlformats.org/drawingml/2006/main" noGrp="1"/>
          </p:cNvSpPr>
          <p:nvPr/>
        </p:nvSpPr>
        <p:spPr>
          <a:xfrm xmlns:a="http://schemas.openxmlformats.org/drawingml/2006/main">
            <a:off x="685800" y="3048000"/>
            <a:ext cx="495300" cy="4953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02</a:t>
            </a:r>
          </a:p>
        </p:txBody>
      </p:sp>
      <p:sp>
        <p:nvSpPr>
          <p:cNvPr id="8" name="">
            <a:extLst xmlns:a="http://schemas.openxmlformats.org/drawingml/2006/main">
              <a:ext uri="{FF2B5EF4-FFF2-40B4-BE49-F238E27FC236}">
                <a16:creationId xmlns:a16="http://schemas.microsoft.com/office/drawing/2014/main" id="{89A0D17D-6E31-4508-B330-063500DB12E1}"/>
              </a:ext>
            </a:extLst>
          </p:cNvPr>
          <p:cNvSpPr>
            <a:spLocks xmlns:a="http://schemas.openxmlformats.org/drawingml/2006/main" noGrp="1"/>
          </p:cNvSpPr>
          <p:nvPr/>
        </p:nvSpPr>
        <p:spPr>
          <a:xfrm xmlns:a="http://schemas.openxmlformats.org/drawingml/2006/main">
            <a:off x="1428750" y="30480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Chốt reviewer cho task Sprint 1</a:t>
            </a:r>
          </a:p>
        </p:txBody>
      </p:sp>
      <p:sp>
        <p:nvSpPr>
          <p:cNvPr id="9" name="">
            <a:extLst xmlns:a="http://schemas.openxmlformats.org/drawingml/2006/main">
              <a:ext uri="{FF2B5EF4-FFF2-40B4-BE49-F238E27FC236}">
                <a16:creationId xmlns:a16="http://schemas.microsoft.com/office/drawing/2014/main" id="{6250A9EB-8577-43D8-B523-67FE6B991BB0}"/>
              </a:ext>
            </a:extLst>
          </p:cNvPr>
          <p:cNvSpPr>
            <a:spLocks xmlns:a="http://schemas.openxmlformats.org/drawingml/2006/main" noGrp="1"/>
          </p:cNvSpPr>
          <p:nvPr/>
        </p:nvSpPr>
        <p:spPr>
          <a:xfrm xmlns:a="http://schemas.openxmlformats.org/drawingml/2006/main">
            <a:off x="8877300" y="30480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425" b="1">
                <a:solidFill>
                  <a:srgbClr val="B8C9E2"/>
                </a:solidFill>
              </a:defRPr>
            </a:pPr>
            <a:r>
              <a:rPr sz="1425" b="1">
                <a:solidFill>
                  <a:srgbClr val="B8C9E2"/>
                </a:solidFill>
              </a:rPr>
              <a:t>Hôm nay</a:t>
            </a:r>
          </a:p>
        </p:txBody>
      </p:sp>
      <p:sp>
        <p:nvSpPr>
          <p:cNvPr id="10" name="">
            <a:extLst xmlns:a="http://schemas.openxmlformats.org/drawingml/2006/main">
              <a:ext uri="{FF2B5EF4-FFF2-40B4-BE49-F238E27FC236}">
                <a16:creationId xmlns:a16="http://schemas.microsoft.com/office/drawing/2014/main" id="{914D7388-3472-46CA-9403-01AF95C62351}"/>
              </a:ext>
            </a:extLst>
          </p:cNvPr>
          <p:cNvSpPr>
            <a:spLocks xmlns:a="http://schemas.openxmlformats.org/drawingml/2006/main" noGrp="1"/>
          </p:cNvSpPr>
          <p:nvPr/>
        </p:nvSpPr>
        <p:spPr>
          <a:xfrm xmlns:a="http://schemas.openxmlformats.org/drawingml/2006/main">
            <a:off x="1428750" y="3657600"/>
            <a:ext cx="9925050" cy="0"/>
          </a:xfrm>
          <a:prstGeom xmlns:a="http://schemas.openxmlformats.org/drawingml/2006/main" prst="line">
            <a:avLst/>
          </a:prstGeom>
          <a:noFill xmlns:a="http://schemas.openxmlformats.org/drawingml/2006/main"/>
          <a:ln xmlns:a="http://schemas.openxmlformats.org/drawingml/2006/main" w="9525">
            <a:solidFill>
              <a:srgbClr val="233A59"/>
            </a:solidFill>
            <a:prstDash val="solid"/>
          </a:ln>
        </p:spPr>
      </p:sp>
      <p:sp>
        <p:nvSpPr>
          <p:cNvPr id="11" name="">
            <a:extLst xmlns:a="http://schemas.openxmlformats.org/drawingml/2006/main">
              <a:ext uri="{FF2B5EF4-FFF2-40B4-BE49-F238E27FC236}">
                <a16:creationId xmlns:a16="http://schemas.microsoft.com/office/drawing/2014/main" id="{4BE830D3-4E47-41F4-B26F-AAFC862A51D5}"/>
              </a:ext>
            </a:extLst>
          </p:cNvPr>
          <p:cNvSpPr>
            <a:spLocks xmlns:a="http://schemas.openxmlformats.org/drawingml/2006/main" noGrp="1"/>
          </p:cNvSpPr>
          <p:nvPr/>
        </p:nvSpPr>
        <p:spPr>
          <a:xfrm xmlns:a="http://schemas.openxmlformats.org/drawingml/2006/main">
            <a:off x="685800" y="3924300"/>
            <a:ext cx="495300" cy="495300"/>
          </a:xfrm>
          <a:prstGeom xmlns:a="http://schemas.openxmlformats.org/drawingml/2006/main" prst="ellipse">
            <a:avLst/>
          </a:prstGeom>
          <a:solidFill xmlns:a="http://schemas.openxmlformats.org/drawingml/2006/main">
            <a:srgbClr val="C23B2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a:t>
            </a:r>
          </a:p>
        </p:txBody>
      </p:sp>
      <p:sp>
        <p:nvSpPr>
          <p:cNvPr id="12" name="">
            <a:extLst xmlns:a="http://schemas.openxmlformats.org/drawingml/2006/main">
              <a:ext uri="{FF2B5EF4-FFF2-40B4-BE49-F238E27FC236}">
                <a16:creationId xmlns:a16="http://schemas.microsoft.com/office/drawing/2014/main" id="{C3F1832E-950B-45A0-876E-EC8E4855535F}"/>
              </a:ext>
            </a:extLst>
          </p:cNvPr>
          <p:cNvSpPr>
            <a:spLocks xmlns:a="http://schemas.openxmlformats.org/drawingml/2006/main" noGrp="1"/>
          </p:cNvSpPr>
          <p:nvPr/>
        </p:nvSpPr>
        <p:spPr>
          <a:xfrm xmlns:a="http://schemas.openxmlformats.org/drawingml/2006/main">
            <a:off x="1428750" y="39243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BE1 • FE1 • IN1 mở branch/PR đầu tiên</a:t>
            </a:r>
          </a:p>
        </p:txBody>
      </p:sp>
      <p:sp>
        <p:nvSpPr>
          <p:cNvPr id="13" name="">
            <a:extLst xmlns:a="http://schemas.openxmlformats.org/drawingml/2006/main">
              <a:ext uri="{FF2B5EF4-FFF2-40B4-BE49-F238E27FC236}">
                <a16:creationId xmlns:a16="http://schemas.microsoft.com/office/drawing/2014/main" id="{AB240F7D-4E7F-4CA7-B71D-F61F978FBD3C}"/>
              </a:ext>
            </a:extLst>
          </p:cNvPr>
          <p:cNvSpPr>
            <a:spLocks xmlns:a="http://schemas.openxmlformats.org/drawingml/2006/main" noGrp="1"/>
          </p:cNvSpPr>
          <p:nvPr/>
        </p:nvSpPr>
        <p:spPr>
          <a:xfrm xmlns:a="http://schemas.openxmlformats.org/drawingml/2006/main">
            <a:off x="8877300" y="39243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425" b="1">
                <a:solidFill>
                  <a:srgbClr val="B8C9E2"/>
                </a:solidFill>
              </a:defRPr>
            </a:pPr>
            <a:r>
              <a:rPr sz="1425" b="1">
                <a:solidFill>
                  <a:srgbClr val="B8C9E2"/>
                </a:solidFill>
              </a:rPr>
              <a:t>Trước 05/09</a:t>
            </a:r>
          </a:p>
        </p:txBody>
      </p:sp>
      <p:sp>
        <p:nvSpPr>
          <p:cNvPr id="14" name="">
            <a:extLst xmlns:a="http://schemas.openxmlformats.org/drawingml/2006/main">
              <a:ext uri="{FF2B5EF4-FFF2-40B4-BE49-F238E27FC236}">
                <a16:creationId xmlns:a16="http://schemas.microsoft.com/office/drawing/2014/main" id="{73309B53-27ED-4582-8062-9EABBCBD1813}"/>
              </a:ext>
            </a:extLst>
          </p:cNvPr>
          <p:cNvSpPr>
            <a:spLocks xmlns:a="http://schemas.openxmlformats.org/drawingml/2006/main" noGrp="1"/>
          </p:cNvSpPr>
          <p:nvPr/>
        </p:nvSpPr>
        <p:spPr>
          <a:xfrm xmlns:a="http://schemas.openxmlformats.org/drawingml/2006/main">
            <a:off x="1428750" y="4533900"/>
            <a:ext cx="9925050" cy="0"/>
          </a:xfrm>
          <a:prstGeom xmlns:a="http://schemas.openxmlformats.org/drawingml/2006/main" prst="line">
            <a:avLst/>
          </a:prstGeom>
          <a:noFill xmlns:a="http://schemas.openxmlformats.org/drawingml/2006/main"/>
          <a:ln xmlns:a="http://schemas.openxmlformats.org/drawingml/2006/main" w="9525">
            <a:solidFill>
              <a:srgbClr val="233A59"/>
            </a:solidFill>
            <a:prstDash val="solid"/>
          </a:ln>
        </p:spPr>
      </p:sp>
      <p:sp>
        <p:nvSpPr>
          <p:cNvPr id="15" name="">
            <a:extLst xmlns:a="http://schemas.openxmlformats.org/drawingml/2006/main">
              <a:ext uri="{FF2B5EF4-FFF2-40B4-BE49-F238E27FC236}">
                <a16:creationId xmlns:a16="http://schemas.microsoft.com/office/drawing/2014/main" id="{14412A2A-1F23-4AF4-9CB5-BD51269F0ACD}"/>
              </a:ext>
            </a:extLst>
          </p:cNvPr>
          <p:cNvSpPr>
            <a:spLocks xmlns:a="http://schemas.openxmlformats.org/drawingml/2006/main" noGrp="1"/>
          </p:cNvSpPr>
          <p:nvPr/>
        </p:nvSpPr>
        <p:spPr>
          <a:xfrm xmlns:a="http://schemas.openxmlformats.org/drawingml/2006/main">
            <a:off x="685800" y="4800600"/>
            <a:ext cx="495300" cy="495300"/>
          </a:xfrm>
          <a:prstGeom xmlns:a="http://schemas.openxmlformats.org/drawingml/2006/main" prst="ellipse">
            <a:avLst/>
          </a:prstGeom>
          <a:solidFill xmlns:a="http://schemas.openxmlformats.org/drawingml/2006/main">
            <a:srgbClr val="F0A20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01A16"/>
                </a:solidFill>
              </a:defRPr>
            </a:pPr>
            <a:r>
              <a:rPr sz="1125" b="1">
                <a:solidFill>
                  <a:srgbClr val="201A16"/>
                </a:solidFill>
              </a:rPr>
              <a:t>04</a:t>
            </a:r>
          </a:p>
        </p:txBody>
      </p:sp>
      <p:sp>
        <p:nvSpPr>
          <p:cNvPr id="16" name="">
            <a:extLst xmlns:a="http://schemas.openxmlformats.org/drawingml/2006/main">
              <a:ext uri="{FF2B5EF4-FFF2-40B4-BE49-F238E27FC236}">
                <a16:creationId xmlns:a16="http://schemas.microsoft.com/office/drawing/2014/main" id="{71FE8B5A-4E6B-40A6-873B-7C1FF996D1C0}"/>
              </a:ext>
            </a:extLst>
          </p:cNvPr>
          <p:cNvSpPr>
            <a:spLocks xmlns:a="http://schemas.openxmlformats.org/drawingml/2006/main" noGrp="1"/>
          </p:cNvSpPr>
          <p:nvPr/>
        </p:nvSpPr>
        <p:spPr>
          <a:xfrm xmlns:a="http://schemas.openxmlformats.org/drawingml/2006/main">
            <a:off x="1428750" y="48006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APC chốt nội dung và giao diện trang chủ</a:t>
            </a:r>
          </a:p>
        </p:txBody>
      </p:sp>
      <p:sp>
        <p:nvSpPr>
          <p:cNvPr id="17" name="">
            <a:extLst xmlns:a="http://schemas.openxmlformats.org/drawingml/2006/main">
              <a:ext uri="{FF2B5EF4-FFF2-40B4-BE49-F238E27FC236}">
                <a16:creationId xmlns:a16="http://schemas.microsoft.com/office/drawing/2014/main" id="{B137E52D-C0B9-42CE-888E-55DFC075FB7D}"/>
              </a:ext>
            </a:extLst>
          </p:cNvPr>
          <p:cNvSpPr>
            <a:spLocks xmlns:a="http://schemas.openxmlformats.org/drawingml/2006/main" noGrp="1"/>
          </p:cNvSpPr>
          <p:nvPr/>
        </p:nvSpPr>
        <p:spPr>
          <a:xfrm xmlns:a="http://schemas.openxmlformats.org/drawingml/2006/main">
            <a:off x="8877300" y="48006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425" b="1">
                <a:solidFill>
                  <a:srgbClr val="B8C9E2"/>
                </a:solidFill>
              </a:defRPr>
            </a:pPr>
            <a:r>
              <a:rPr sz="1425" b="1">
                <a:solidFill>
                  <a:srgbClr val="B8C9E2"/>
                </a:solidFill>
              </a:rPr>
              <a:t>05/09</a:t>
            </a:r>
          </a:p>
        </p:txBody>
      </p:sp>
      <p:sp>
        <p:nvSpPr>
          <p:cNvPr id="18" name="">
            <a:extLst xmlns:a="http://schemas.openxmlformats.org/drawingml/2006/main">
              <a:ext uri="{FF2B5EF4-FFF2-40B4-BE49-F238E27FC236}">
                <a16:creationId xmlns:a16="http://schemas.microsoft.com/office/drawing/2014/main" id="{2BCBEB7B-ACDB-430E-8953-5211DBD361EB}"/>
              </a:ext>
            </a:extLst>
          </p:cNvPr>
          <p:cNvSpPr>
            <a:spLocks xmlns:a="http://schemas.openxmlformats.org/drawingml/2006/main" noGrp="1"/>
          </p:cNvSpPr>
          <p:nvPr/>
        </p:nvSpPr>
        <p:spPr>
          <a:xfrm xmlns:a="http://schemas.openxmlformats.org/drawingml/2006/main">
            <a:off x="1428750" y="5410200"/>
            <a:ext cx="9925050" cy="0"/>
          </a:xfrm>
          <a:prstGeom xmlns:a="http://schemas.openxmlformats.org/drawingml/2006/main" prst="line">
            <a:avLst/>
          </a:prstGeom>
          <a:noFill xmlns:a="http://schemas.openxmlformats.org/drawingml/2006/main"/>
          <a:ln xmlns:a="http://schemas.openxmlformats.org/drawingml/2006/main" w="9525">
            <a:solidFill>
              <a:srgbClr val="233A59"/>
            </a:solidFill>
            <a:prstDash val="solid"/>
          </a:ln>
        </p:spPr>
      </p:sp>
      <p:sp>
        <p:nvSpPr>
          <p:cNvPr id="19" name="">
            <a:extLst xmlns:a="http://schemas.openxmlformats.org/drawingml/2006/main">
              <a:ext uri="{FF2B5EF4-FFF2-40B4-BE49-F238E27FC236}">
                <a16:creationId xmlns:a16="http://schemas.microsoft.com/office/drawing/2014/main" id="{A6106C1A-9B81-4FE3-A4CA-2850BADCCD49}"/>
              </a:ext>
            </a:extLst>
          </p:cNvPr>
          <p:cNvSpPr>
            <a:spLocks xmlns:a="http://schemas.openxmlformats.org/drawingml/2006/main" noGrp="1"/>
          </p:cNvSpPr>
          <p:nvPr/>
        </p:nvSpPr>
        <p:spPr>
          <a:xfrm xmlns:a="http://schemas.openxmlformats.org/drawingml/2006/main">
            <a:off x="685800" y="5962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DCEAFB"/>
                </a:solidFill>
              </a:defRPr>
            </a:pPr>
            <a:r>
              <a:rPr sz="1500" b="0">
                <a:solidFill>
                  <a:srgbClr val="DCEAFB"/>
                </a:solidFill>
              </a:rPr>
              <a:t>Mục tiêu sau cùng: mỗi người biết đầu ra của mình và người đang chờ đầu ra đó.</a:t>
            </a:r>
          </a:p>
        </p:txBody>
      </p:sp>
    </p:spTree>
    <p:extLst>
      <p:ext uri="{BB962C8B-B14F-4D97-AF65-F5344CB8AC3E}">
        <p14:creationId xmlns:p14="http://schemas.microsoft.com/office/powerpoint/2010/main" val="2123984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2026-09-02T07:50:24.7680000Z</dcterms:created>
  <dcterms:modified xsi:type="dcterms:W3CDTF">2026-09-02T07:50:24.7680000Z</dcterms:modified>
</coreProperties>
</file>